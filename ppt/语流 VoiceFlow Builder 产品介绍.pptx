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notesSlide+xml" PartName="/ppt/notesSlides/notesSlide4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47.xml"/>
  <Override ContentType="application/vnd.openxmlformats-officedocument.presentationml.notesSlide+xml" PartName="/ppt/notesSlides/notesSlide48.xml"/>
  <Override ContentType="application/vnd.openxmlformats-officedocument.presentationml.notesSlide+xml" PartName="/ppt/notesSlides/notesSlide49.xml"/>
  <Override ContentType="application/vnd.openxmlformats-officedocument.presentationml.notesSlide+xml" PartName="/ppt/notesSlides/notesSlide50.xml"/>
  <Override ContentType="application/vnd.openxmlformats-officedocument.presentationml.notesSlide+xml" PartName="/ppt/notesSlides/notesSlide51.xml"/>
  <Override ContentType="application/vnd.openxmlformats-officedocument.presentationml.notesSlide+xml" PartName="/ppt/notesSlides/notesSlide52.xml"/>
  <Override ContentType="application/vnd.openxmlformats-officedocument.presentationml.notesSlide+xml" PartName="/ppt/notesSlides/notesSlide53.xml"/>
  <Override ContentType="application/vnd.openxmlformats-officedocument.presentationml.notesSlide+xml" PartName="/ppt/notesSlides/notesSlide54.xml"/>
  <Override ContentType="application/vnd.openxmlformats-officedocument.presentationml.notesSlide+xml" PartName="/ppt/notesSlides/notesSlide55.xml"/>
  <Override ContentType="application/vnd.openxmlformats-officedocument.presentationml.notesSlide+xml" PartName="/ppt/notesSlides/notesSlide56.xml"/>
  <Override ContentType="application/vnd.openxmlformats-officedocument.presentationml.notesSlide+xml" PartName="/ppt/notesSlides/notesSlide57.xml"/>
  <Override ContentType="application/vnd.openxmlformats-officedocument.presentationml.notesSlide+xml" PartName="/ppt/notesSlides/notesSlide58.xml"/>
  <Override ContentType="application/vnd.openxmlformats-officedocument.presentationml.notesSlide+xml" PartName="/ppt/notesSlides/notesSlide59.xml"/>
  <Override ContentType="application/vnd.openxmlformats-officedocument.presentationml.notesSlide+xml" PartName="/ppt/notesSlides/notesSlide6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00" Target="notesSlides/notesSlide32.xml" Type="http://schemas.openxmlformats.org/officeDocument/2006/relationships/notesSlide"/><Relationship Id="rId101" Target="notesSlides/notesSlide33.xml" Type="http://schemas.openxmlformats.org/officeDocument/2006/relationships/notesSlide"/><Relationship Id="rId102" Target="notesSlides/notesSlide34.xml" Type="http://schemas.openxmlformats.org/officeDocument/2006/relationships/notesSlide"/><Relationship Id="rId103" Target="notesSlides/notesSlide35.xml" Type="http://schemas.openxmlformats.org/officeDocument/2006/relationships/notesSlide"/><Relationship Id="rId104" Target="notesSlides/notesSlide36.xml" Type="http://schemas.openxmlformats.org/officeDocument/2006/relationships/notesSlide"/><Relationship Id="rId105" Target="notesSlides/notesSlide37.xml" Type="http://schemas.openxmlformats.org/officeDocument/2006/relationships/notesSlide"/><Relationship Id="rId106" Target="notesSlides/notesSlide38.xml" Type="http://schemas.openxmlformats.org/officeDocument/2006/relationships/notesSlide"/><Relationship Id="rId107" Target="notesSlides/notesSlide39.xml" Type="http://schemas.openxmlformats.org/officeDocument/2006/relationships/notesSlide"/><Relationship Id="rId108" Target="notesSlides/notesSlide40.xml" Type="http://schemas.openxmlformats.org/officeDocument/2006/relationships/notesSlide"/><Relationship Id="rId109" Target="notesSlides/notesSlide41.xml" Type="http://schemas.openxmlformats.org/officeDocument/2006/relationships/notesSlide"/><Relationship Id="rId11" Target="slides/slide3.xml" Type="http://schemas.openxmlformats.org/officeDocument/2006/relationships/slide"/><Relationship Id="rId110" Target="notesSlides/notesSlide42.xml" Type="http://schemas.openxmlformats.org/officeDocument/2006/relationships/notesSlide"/><Relationship Id="rId111" Target="notesSlides/notesSlide43.xml" Type="http://schemas.openxmlformats.org/officeDocument/2006/relationships/notesSlide"/><Relationship Id="rId112" Target="notesSlides/notesSlide44.xml" Type="http://schemas.openxmlformats.org/officeDocument/2006/relationships/notesSlide"/><Relationship Id="rId113" Target="notesSlides/notesSlide45.xml" Type="http://schemas.openxmlformats.org/officeDocument/2006/relationships/notesSlide"/><Relationship Id="rId114" Target="notesSlides/notesSlide46.xml" Type="http://schemas.openxmlformats.org/officeDocument/2006/relationships/notesSlide"/><Relationship Id="rId115" Target="notesSlides/notesSlide47.xml" Type="http://schemas.openxmlformats.org/officeDocument/2006/relationships/notesSlide"/><Relationship Id="rId116" Target="notesSlides/notesSlide48.xml" Type="http://schemas.openxmlformats.org/officeDocument/2006/relationships/notesSlide"/><Relationship Id="rId117" Target="notesSlides/notesSlide49.xml" Type="http://schemas.openxmlformats.org/officeDocument/2006/relationships/notesSlide"/><Relationship Id="rId118" Target="notesSlides/notesSlide50.xml" Type="http://schemas.openxmlformats.org/officeDocument/2006/relationships/notesSlide"/><Relationship Id="rId119" Target="notesSlides/notesSlide51.xml" Type="http://schemas.openxmlformats.org/officeDocument/2006/relationships/notesSlide"/><Relationship Id="rId12" Target="slides/slide4.xml" Type="http://schemas.openxmlformats.org/officeDocument/2006/relationships/slide"/><Relationship Id="rId120" Target="notesSlides/notesSlide52.xml" Type="http://schemas.openxmlformats.org/officeDocument/2006/relationships/notesSlide"/><Relationship Id="rId121" Target="notesSlides/notesSlide53.xml" Type="http://schemas.openxmlformats.org/officeDocument/2006/relationships/notesSlide"/><Relationship Id="rId122" Target="notesSlides/notesSlide54.xml" Type="http://schemas.openxmlformats.org/officeDocument/2006/relationships/notesSlide"/><Relationship Id="rId123" Target="notesSlides/notesSlide55.xml" Type="http://schemas.openxmlformats.org/officeDocument/2006/relationships/notesSlide"/><Relationship Id="rId124" Target="notesSlides/notesSlide56.xml" Type="http://schemas.openxmlformats.org/officeDocument/2006/relationships/notesSlide"/><Relationship Id="rId125" Target="notesSlides/notesSlide57.xml" Type="http://schemas.openxmlformats.org/officeDocument/2006/relationships/notesSlide"/><Relationship Id="rId126" Target="notesSlides/notesSlide58.xml" Type="http://schemas.openxmlformats.org/officeDocument/2006/relationships/notesSlide"/><Relationship Id="rId127" Target="notesSlides/notesSlide59.xml" Type="http://schemas.openxmlformats.org/officeDocument/2006/relationships/notesSlide"/><Relationship Id="rId128" Target="notesSlides/notesSlide60.xml" Type="http://schemas.openxmlformats.org/officeDocument/2006/relationships/note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slides/slide27.xml" Type="http://schemas.openxmlformats.org/officeDocument/2006/relationships/slide"/><Relationship Id="rId36" Target="slides/slide28.xml" Type="http://schemas.openxmlformats.org/officeDocument/2006/relationships/slide"/><Relationship Id="rId37" Target="slides/slide29.xml" Type="http://schemas.openxmlformats.org/officeDocument/2006/relationships/slide"/><Relationship Id="rId38" Target="slides/slide30.xml" Type="http://schemas.openxmlformats.org/officeDocument/2006/relationships/slide"/><Relationship Id="rId39" Target="slides/slide31.xml" Type="http://schemas.openxmlformats.org/officeDocument/2006/relationships/slide"/><Relationship Id="rId4" Target="slideMasters/slideMaster1.xml" Type="http://schemas.openxmlformats.org/officeDocument/2006/relationships/slideMaster"/><Relationship Id="rId40" Target="slides/slide32.xml" Type="http://schemas.openxmlformats.org/officeDocument/2006/relationships/slide"/><Relationship Id="rId41" Target="slides/slide33.xml" Type="http://schemas.openxmlformats.org/officeDocument/2006/relationships/slide"/><Relationship Id="rId42" Target="slides/slide34.xml" Type="http://schemas.openxmlformats.org/officeDocument/2006/relationships/slide"/><Relationship Id="rId43" Target="slides/slide35.xml" Type="http://schemas.openxmlformats.org/officeDocument/2006/relationships/slide"/><Relationship Id="rId44" Target="slides/slide36.xml" Type="http://schemas.openxmlformats.org/officeDocument/2006/relationships/slide"/><Relationship Id="rId45" Target="slides/slide37.xml" Type="http://schemas.openxmlformats.org/officeDocument/2006/relationships/slide"/><Relationship Id="rId46" Target="slides/slide38.xml" Type="http://schemas.openxmlformats.org/officeDocument/2006/relationships/slide"/><Relationship Id="rId47" Target="slides/slide39.xml" Type="http://schemas.openxmlformats.org/officeDocument/2006/relationships/slide"/><Relationship Id="rId48" Target="slides/slide40.xml" Type="http://schemas.openxmlformats.org/officeDocument/2006/relationships/slide"/><Relationship Id="rId49" Target="slides/slide41.xml" Type="http://schemas.openxmlformats.org/officeDocument/2006/relationships/slide"/><Relationship Id="rId50" Target="slides/slide42.xml" Type="http://schemas.openxmlformats.org/officeDocument/2006/relationships/slide"/><Relationship Id="rId51" Target="slides/slide43.xml" Type="http://schemas.openxmlformats.org/officeDocument/2006/relationships/slide"/><Relationship Id="rId52" Target="slides/slide44.xml" Type="http://schemas.openxmlformats.org/officeDocument/2006/relationships/slide"/><Relationship Id="rId53" Target="slides/slide45.xml" Type="http://schemas.openxmlformats.org/officeDocument/2006/relationships/slide"/><Relationship Id="rId54" Target="slides/slide46.xml" Type="http://schemas.openxmlformats.org/officeDocument/2006/relationships/slide"/><Relationship Id="rId55" Target="slides/slide47.xml" Type="http://schemas.openxmlformats.org/officeDocument/2006/relationships/slide"/><Relationship Id="rId56" Target="slides/slide48.xml" Type="http://schemas.openxmlformats.org/officeDocument/2006/relationships/slide"/><Relationship Id="rId57" Target="slides/slide49.xml" Type="http://schemas.openxmlformats.org/officeDocument/2006/relationships/slide"/><Relationship Id="rId58" Target="slides/slide50.xml" Type="http://schemas.openxmlformats.org/officeDocument/2006/relationships/slide"/><Relationship Id="rId59" Target="slides/slide51.xml" Type="http://schemas.openxmlformats.org/officeDocument/2006/relationships/slide"/><Relationship Id="rId6" Target="notesMasters/notesMaster1.xml" Type="http://schemas.openxmlformats.org/officeDocument/2006/relationships/notesMaster"/><Relationship Id="rId60" Target="slides/slide52.xml" Type="http://schemas.openxmlformats.org/officeDocument/2006/relationships/slide"/><Relationship Id="rId61" Target="slides/slide53.xml" Type="http://schemas.openxmlformats.org/officeDocument/2006/relationships/slide"/><Relationship Id="rId62" Target="slides/slide54.xml" Type="http://schemas.openxmlformats.org/officeDocument/2006/relationships/slide"/><Relationship Id="rId63" Target="slides/slide55.xml" Type="http://schemas.openxmlformats.org/officeDocument/2006/relationships/slide"/><Relationship Id="rId64" Target="slides/slide56.xml" Type="http://schemas.openxmlformats.org/officeDocument/2006/relationships/slide"/><Relationship Id="rId65" Target="slides/slide57.xml" Type="http://schemas.openxmlformats.org/officeDocument/2006/relationships/slide"/><Relationship Id="rId66" Target="slides/slide58.xml" Type="http://schemas.openxmlformats.org/officeDocument/2006/relationships/slide"/><Relationship Id="rId67" Target="slides/slide59.xml" Type="http://schemas.openxmlformats.org/officeDocument/2006/relationships/slide"/><Relationship Id="rId68" Target="slides/slide60.xml" Type="http://schemas.openxmlformats.org/officeDocument/2006/relationships/slide"/><Relationship Id="rId69" Target="notesSlides/notesSlide1.xml" Type="http://schemas.openxmlformats.org/officeDocument/2006/relationships/notesSlide"/><Relationship Id="rId7" Target="theme/theme2.xml" Type="http://schemas.openxmlformats.org/officeDocument/2006/relationships/theme"/><Relationship Id="rId70" Target="notesSlides/notesSlide2.xml" Type="http://schemas.openxmlformats.org/officeDocument/2006/relationships/notesSlide"/><Relationship Id="rId71" Target="notesSlides/notesSlide3.xml" Type="http://schemas.openxmlformats.org/officeDocument/2006/relationships/notesSlide"/><Relationship Id="rId72" Target="notesSlides/notesSlide4.xml" Type="http://schemas.openxmlformats.org/officeDocument/2006/relationships/notesSlide"/><Relationship Id="rId73" Target="notesSlides/notesSlide5.xml" Type="http://schemas.openxmlformats.org/officeDocument/2006/relationships/notesSlide"/><Relationship Id="rId74" Target="notesSlides/notesSlide6.xml" Type="http://schemas.openxmlformats.org/officeDocument/2006/relationships/notesSlide"/><Relationship Id="rId75" Target="notesSlides/notesSlide7.xml" Type="http://schemas.openxmlformats.org/officeDocument/2006/relationships/notesSlide"/><Relationship Id="rId76" Target="notesSlides/notesSlide8.xml" Type="http://schemas.openxmlformats.org/officeDocument/2006/relationships/notesSlide"/><Relationship Id="rId77" Target="notesSlides/notesSlide9.xml" Type="http://schemas.openxmlformats.org/officeDocument/2006/relationships/notesSlide"/><Relationship Id="rId78" Target="notesSlides/notesSlide10.xml" Type="http://schemas.openxmlformats.org/officeDocument/2006/relationships/notesSlide"/><Relationship Id="rId79" Target="notesSlides/notesSlide11.xml" Type="http://schemas.openxmlformats.org/officeDocument/2006/relationships/notesSlide"/><Relationship Id="rId8" Target="slideMasters/slideMaster2.xml" Type="http://schemas.openxmlformats.org/officeDocument/2006/relationships/slideMaster"/><Relationship Id="rId80" Target="notesSlides/notesSlide12.xml" Type="http://schemas.openxmlformats.org/officeDocument/2006/relationships/notesSlide"/><Relationship Id="rId81" Target="notesSlides/notesSlide13.xml" Type="http://schemas.openxmlformats.org/officeDocument/2006/relationships/notesSlide"/><Relationship Id="rId82" Target="notesSlides/notesSlide14.xml" Type="http://schemas.openxmlformats.org/officeDocument/2006/relationships/notesSlide"/><Relationship Id="rId83" Target="notesSlides/notesSlide15.xml" Type="http://schemas.openxmlformats.org/officeDocument/2006/relationships/notesSlide"/><Relationship Id="rId84" Target="notesSlides/notesSlide16.xml" Type="http://schemas.openxmlformats.org/officeDocument/2006/relationships/notesSlide"/><Relationship Id="rId85" Target="notesSlides/notesSlide17.xml" Type="http://schemas.openxmlformats.org/officeDocument/2006/relationships/notesSlide"/><Relationship Id="rId86" Target="notesSlides/notesSlide18.xml" Type="http://schemas.openxmlformats.org/officeDocument/2006/relationships/notesSlide"/><Relationship Id="rId87" Target="notesSlides/notesSlide19.xml" Type="http://schemas.openxmlformats.org/officeDocument/2006/relationships/notesSlide"/><Relationship Id="rId88" Target="notesSlides/notesSlide20.xml" Type="http://schemas.openxmlformats.org/officeDocument/2006/relationships/notesSlide"/><Relationship Id="rId89" Target="notesSlides/notesSlide21.xml" Type="http://schemas.openxmlformats.org/officeDocument/2006/relationships/notesSlide"/><Relationship Id="rId9" Target="slides/slide1.xml" Type="http://schemas.openxmlformats.org/officeDocument/2006/relationships/slide"/><Relationship Id="rId90" Target="notesSlides/notesSlide22.xml" Type="http://schemas.openxmlformats.org/officeDocument/2006/relationships/notesSlide"/><Relationship Id="rId91" Target="notesSlides/notesSlide23.xml" Type="http://schemas.openxmlformats.org/officeDocument/2006/relationships/notesSlide"/><Relationship Id="rId92" Target="notesSlides/notesSlide24.xml" Type="http://schemas.openxmlformats.org/officeDocument/2006/relationships/notesSlide"/><Relationship Id="rId93" Target="notesSlides/notesSlide25.xml" Type="http://schemas.openxmlformats.org/officeDocument/2006/relationships/notesSlide"/><Relationship Id="rId94" Target="notesSlides/notesSlide26.xml" Type="http://schemas.openxmlformats.org/officeDocument/2006/relationships/notesSlide"/><Relationship Id="rId95" Target="notesSlides/notesSlide27.xml" Type="http://schemas.openxmlformats.org/officeDocument/2006/relationships/notesSlide"/><Relationship Id="rId96" Target="notesSlides/notesSlide28.xml" Type="http://schemas.openxmlformats.org/officeDocument/2006/relationships/notesSlide"/><Relationship Id="rId97" Target="notesSlides/notesSlide29.xml" Type="http://schemas.openxmlformats.org/officeDocument/2006/relationships/notesSlide"/><Relationship Id="rId98" Target="notesSlides/notesSlide30.xml" Type="http://schemas.openxmlformats.org/officeDocument/2006/relationships/notesSlide"/><Relationship Id="rId99" Target="notesSlides/notesSlide31.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4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_rels/notesSlide4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_rels/notesSlide4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6.xml" Type="http://schemas.openxmlformats.org/officeDocument/2006/relationships/slide"/></Relationships>
</file>

<file path=ppt/notesSlides/_rels/notesSlide4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7.xml" Type="http://schemas.openxmlformats.org/officeDocument/2006/relationships/slide"/></Relationships>
</file>

<file path=ppt/notesSlides/_rels/notesSlide4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8.xml" Type="http://schemas.openxmlformats.org/officeDocument/2006/relationships/slide"/></Relationships>
</file>

<file path=ppt/notesSlides/_rels/notesSlide4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9.xml" Type="http://schemas.openxmlformats.org/officeDocument/2006/relationships/slide"/></Relationships>
</file>

<file path=ppt/notesSlides/_rels/notesSlide5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0.xml" Type="http://schemas.openxmlformats.org/officeDocument/2006/relationships/slide"/></Relationships>
</file>

<file path=ppt/notesSlides/_rels/notesSlide5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1.xml" Type="http://schemas.openxmlformats.org/officeDocument/2006/relationships/slide"/></Relationships>
</file>

<file path=ppt/notesSlides/_rels/notesSlide5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2.xml" Type="http://schemas.openxmlformats.org/officeDocument/2006/relationships/slide"/></Relationships>
</file>

<file path=ppt/notesSlides/_rels/notesSlide5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3.xml" Type="http://schemas.openxmlformats.org/officeDocument/2006/relationships/slide"/></Relationships>
</file>

<file path=ppt/notesSlides/_rels/notesSlide5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4.xml" Type="http://schemas.openxmlformats.org/officeDocument/2006/relationships/slide"/></Relationships>
</file>

<file path=ppt/notesSlides/_rels/notesSlide5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5.xml" Type="http://schemas.openxmlformats.org/officeDocument/2006/relationships/slide"/></Relationships>
</file>

<file path=ppt/notesSlides/_rels/notesSlide5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6.xml" Type="http://schemas.openxmlformats.org/officeDocument/2006/relationships/slide"/></Relationships>
</file>

<file path=ppt/notesSlides/_rels/notesSlide5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7.xml" Type="http://schemas.openxmlformats.org/officeDocument/2006/relationships/slide"/></Relationships>
</file>

<file path=ppt/notesSlides/_rels/notesSlide5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8.xml" Type="http://schemas.openxmlformats.org/officeDocument/2006/relationships/slide"/></Relationships>
</file>

<file path=ppt/notesSlides/_rels/notesSlide5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9.xml" Type="http://schemas.openxmlformats.org/officeDocument/2006/relationships/slide"/></Relationships>
</file>

<file path=ppt/notesSlides/_rels/notesSlide6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大家好，今天我将向大家介绍一款革命性的产品——语流 VoiceFlow Builder。它旨在解决中小企业在语音接待方面的普遍痛点，让任何企业都能在10分钟内，零代码搭建一个专业的、7x24小时在线的智能语音接待员。这不仅是一个工具，更是一个能显著提升客户服务效率和转化率的智能运营平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当前，中小企业在语音接待方面面临着严峻的挑战。一方面，超过78%的企业仍依赖纯人工接听，导致成本高昂且错失商机。另一方面，现有的解决方案要么太贵，像专业的呼叫中心；要么体验太差，像传统的录音电话。更重要的是，新兴的AI工具技术门槛太高，让普通业务人员难以触及。因此，市场迫切需要一个既简单又强大的解决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解决这些痛点，语流应运而生。我们的核心能力体现在三个方面：首先，一个完全可视化的工作流构建器，让任何人都能轻松上手。其次，我们创新的“规则优先，AI增强”策略，在保证稳定性和低成本的同时，精准地在关键节点引入AI，实现效果最大化。最后，我们提供深入到每个节点的运营洞察，帮助企业从数据中发现问题，持续优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那么，谁是语流的核心用户呢？我们主要面向三类人群：第一类是1到20人的小企业主，他们需要一个简单易用的系统来解决基本的来电问题。第二类是20到200人的中型企业团队管理者，他们需要自动化工具来提升团队效率。第三类是在线业务运营者，他们希望通过嵌入语音功能来增强用户互动和转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深入了解一下工作流的运作原理。整个过程就像一个精密的流水线：从来电触发开始，系统会按照您设计的流程图，一步步执行每个节点的指令，包括条件判断和具体动作，直到通话结束。我们最核心的保障是“确定性执行”，这意味着您的流程行为是完全可预测的。更重要的是，我们为所有AI节点都设计了降级方案，确保在任何情况下服务都不会中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构建一个语音接待员非常简单，只需三步。第一步，从节点库中拖拽您需要的功能节点到画布。第二步，用连线把它们串起来，形成逻辑流程，并配置每个节点的详细参数。第三步，也是我们的杀手级功能，使用“文字模拟”功能进行即时测试，确认无误后，一键发布，您的智能接待员就正式上岗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画布交互设计完全为效率而生。所有操作都直观易懂，就像画画一样。系统会实时帮您检查流程是否有误，避免出错。您还可以随时试听话术效果，所见即所得。对于复杂的大型流程，我们提供了专业的画布工具，让管理和查看变得轻而易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提供了一个包含19个节点的强大节点库，分为四层递进的体系。核心层构建基础流程，逻辑层实现智能控制，集成层连接外部系统，而AI增强层则在关键节点带来质的飞跃。这个体系确保了您可以从简单的需求开始，逐步构建出满足复杂业务场景的智能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核心层是构建一切流程的基础。从来电触发到结束通话，这些节点构成了通话的基本骨架。特别是我们的“提问节点”和“转接呼叫”节点，设计得非常强大和灵活，支持多种输入模式和转接策略。我们的设计哲学是，让每个节点的配置都清晰明了，让用户一看就知道该如何设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逻辑层是流程的智能大脑。通过条件分支、If/Else判断等节点，您可以轻松实现复杂的业务逻辑。比如，根据不同的时间、不同的来电用户类型，执行完全不同的流程。这让您的语音接待员变得非常“聪明”，能够应对各种复杂情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谈到AI，我们的策略是“规则优先，AI增强”。我们坚信，AI不是越多越好。我们的17个规则节点已经能处理80%的场景，并且是免费的。我们精准地在三个能带来最大回报的点引入AI：意图检测、知识库问答和通话摘要。这样做，既保证了效果，又严格控制了成本和延迟，是现阶段最务实的AI策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三个AI节点是真正的“质变点”。AI意图检测让客户告别繁琐的按键，体验一步到位的便捷。知识库问答能自动回答大量重复问题，将人工转接率降低68%。而通话摘要功能，则能将团队从繁琐的记录工作中解放出来，效率提升数倍。每一个AI功能都带来了实实在在的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对成本和延迟有着精确的考量。这张表格清晰地展示了不同策略下的成本、延迟和回报。纯规则引擎是零成本、低延迟的。每增加一个AI节点，都会带来明确的成本和延迟增加，但同时也带来了可量化的回报。我们的策略赋予用户灵活的成本控制能力，让他们可以根据自己的业务需求，选择最具性价比的组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通信接入方面，我们提供了业界最灵活的三种模式。您可以直接使用我们提供的平台托管号码，开箱即用；也可以保留您现有的企业号码；最独特的是，我们支持WebRTC浏览器通话，让您可以在网站或App内实现无电话号码的语音沟通。这种灵活性是市场上独一无二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深知“测试”的重要性。为此，我们提供了两种模拟测试模式。“文字模拟”功能让您在画布上就能即时验证流程逻辑，将测试周期缩短到秒级。而“真实通话模拟”则让您可以用真实的手机拨打测试号码，体验最真实的通话效果。这两种模式结合，让您在发布前对自己的工作流有百分之百的信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对于业务系统来说，稳定性至关重要。我们的版本管理功能旨在让您“安全迭代，恐惧归零”。系统会自动保存版本快照，您可以随时对比版本差异，甚至一键回滚到任意稳定版本。草稿和发布版本分离的机制，确保了线上业务的绝对稳定，让您可以大胆尝试新的流程优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运营看板提供了深入到每个节点的精细化洞察。除了常规的KPI，我们独创的“节点热力图”和“转化漏斗”功能，能让您清晰地看到客户在哪个环节流失，从而精准定位问题，进行优化。同时，异常告警机制能让您及时发现并处理问题，确保服务质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让我们来看一个实际的例子：标准客服分流。这个流程首先判断是否在营业时间，然后利用AI意图检测，将来电者引导到不同的服务分支。对于非营业时间的来电，则提供留言或FAQ服务。整个流程清晰、高效，并且配置了降级方案，确保了服务的稳定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再来看一个更复杂的例子：医疗诊所的高级自动化。这个流程不仅能识别新老患者，还能查询CRM信息。对于紧急情况，会立即转接。对于预约请求，能自动匹配医生日历并推荐时段。同时，知识库回答了大量常见问题。这展示了语流处理复杂业务场景的强大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总结一下我们的竞争力。语流在三个方面是全市场独一无二的：我们是唯一同时提供三模通信和双模测试的平台；我们是唯一提供“规则优先AI增强”分层节点体系的平台；我们也是唯一提供节点级运营洞察看板的平台。相比其他竞品，我们更注重易用性和实用性，真正让非技术用户也能享受到AI带来的便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对未来有清晰的规划。目前我们的MVP版本已经具备了核心功能。V1.0将重点完善AI和集成能力，并增加版本管理和深度运营看板。展望V2.0，我们将引入WebRTC、更高级的AI功能以及企业级的权限管理和开放平台，持续扩展产品的边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非常关注用户体验。从注册到迭代，我们为用户的每一步操作都设计了关键的情绪引导。我们通过模板消除用户面对空白画布的畏惧感；通过强大的测试功能消除用户的焦虑感；通过可靠的版本管理消除用户的迭代恐惧感。我们希望用户在使用语流的过程中，始终感到轻松和自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这是我们的技术架构全景。我们采用了分层架构，前端使用React Flow构建了流畅的画布体验。后端引擎是我们自研的流程解释器，保证了高性能和稳定性。通信层支持多种接入方式。AI层整合了业界领先的多模型能力。数据层则选用了合适的数据库和存储方案。整个架构设计保证了系统的可扩展性和可靠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功能开发遵循严格的优先级矩阵。Q1是高价值、低复杂度的核心功能，是我们的MVP基础。Q2是高价值、高复杂度的功能，是我们V1.0的重点。Q3和Q4的功能我们会根据市场反馈和资源情况，在后续版本中逐步实现。这个矩阵确保了我们始终聚焦于为用户创造最大价值的功能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已经制作了可交互的原型，涵盖了工作流画布、模拟测试、运营看板和通信接入等核心页面。通过原型，您可以直观地感受语流的核心交互和设计理念。我们相信，眼见为实，亲身体验是了解产品最好的方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张竞品对比矩阵清晰地展示了语流的独特优势。无论是在通信接入和测试的灵活性上，还是在运营洞察的深度上，亦或是在WebRTC的原生支持上，语流都处于市场领先地位。我们不是简单地模仿，而是通过深刻的用户洞察，创造了真正差异化的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商业模式是灵活且透明的混合计费模型。我们提供不同层级的套餐，以满足不同规模企业的需求。基础套餐非常实惠，包含了核心功能。超出部分按量计费，AI调用也单独计费，让您清楚地知道每一分钱花在了哪里。我们预计，套餐费将是主要收入来源，同时通话超额和AI调用也将贡献可观的收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回顾整个产品设计，我们有五个核心收获。首先，AI不是越多越好，精准赋能才是关键。其次，文字模拟功能是我们的杀手级应用，它极大地提升了用户效率。第三，节点级的运营洞察具有巨大的商业价值。第四，WebRTC为我们开辟了新的市场。最后，版本管理是保障业务稳定的核心机制。这些洞察将指导我们未来的产品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的行动计划非常明确。首先，立即启动MVP的开发工作，确保核心功能的快速落地。同时，我们将开始招募种子用户，通过50家中小企业的真实场景内测，收集最有价值的反馈。第三，我们将重点验证意图检测、知识库问答和通话摘要这三个关键AI节点的实际效果和成本。最后，我们将扩展通信接入方式，开发SIP接入和真实通话模拟功能，以提升产品的兼容性和真实感。我们将以最快的速度将产品推向市场，确保产品力和市场竞争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我的介绍到此结束。感谢大家的聆听。我们相信，语流 VoiceFlow Builder 将重新定义中小企业的语音交互方式，为他们带来前所未有的效率和增长机会。谢谢！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Hello everyone, today I will introduce a revolutionary product - VoiceFlow Builder. It aims to solve the common pain points of small and medium-sized enterprises (SMBs) in voice reception, allowing any business to build a professional, 7x24 intelligent voice receptionist in 10 minutes with zero code. This is not just a tool, but an intelligent operations platform that can significantly improve customer service efficiency and conversion rates.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Currently, SMBs face severe challenges in voice reception. On one hand, over 78% still rely on manual answering, leading to high costs and missed opportunities. On the other hand, existing solutions are either too expensive, like professional call centers, or offer a poor experience, like traditional voicemail. More importantly, emerging AI tools have too high a technical barrier for ordinary business personnel. Therefore, the market desperately needs a solution that is both simple and powerful.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To solve these pain points, VoiceFlow was born. Our core capabilities are reflected in three aspects: First, a fully visual workflow builder that allows anyone to get started easily. Second, our innovative "Rules-First, AI-Enhanced" strategy, which precisely introduces AI at key nodes while ensuring stability and low cost, maximizing results. Finally, we provide operational insights down to each node, helping businesses discover problems from data and continuously optimize.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So, who are the core users of VoiceFlow? We mainly target three groups: The first is small business owners with 1 to 20 employees, who need a simple system to solve basic call problems. The second is team managers in mid-sized companies with 20 to 200 employees, who need automation tools to improve team efficiency. The third is online business operators who want to enhance user interaction and conversion by embedding voice features.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Next, let's take a closer look at how the workflow operates. The entire process is like a precise assembly line: starting from the call trigger, the system executes the instructions of each node step by step according to the flowchart you designed, including conditional judgments and specific actions, until the call ends.</a:t>
            </a:r>
          </a:p>
          <a:p>
            <a:pPr algn="l" indent="0">
              <a:lnSpc>
                <a:spcPct val="100000"/>
              </a:lnSpc>
            </a:pPr>
            <a:r>
              <a:rPr lang="en-US" b="false" i="false" strike="noStrike" u="none" sz="1400">
                <a:solidFill>
                  <a:srgbClr val="000000"/>
                </a:solidFill>
              </a:rPr>
              <a:t>Our core guarantee is "deterministic execution," meaning the behavior of your flow is completely predictable. More importantly, we have designed fallback mechanisms for all AI nodes to ensure that service is never interrupted under any circumstances.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Building a voice receptionist is very simple and takes just three steps. First, drag the functional nodes you need from the node library onto the canvas. Second, connect them with lines to form a logical flow and configure the detailed parameters of each node. Third, and our killer feature, use the "Text Simulation" function for instant testing, and once confirmed, click to publish, and your intelligent receptionist is officially on duty.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Our canvas interaction design is built entirely for efficiency. All operations are intuitive and easy to understand, just like drawing. The system will help you check for errors in the flow in real-time to avoid mistakes. You can also listen to the script effect at any time, what you see is what you get. For complex large-scale flows, we provide professional canvas tools to make management and viewing easy.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We offer a powerful node library containing 19 nodes, divided into a four-layer progressive system. The Core Layer builds the basic flow, the Logic Layer enables intelligent control, the Integration Layer connects external systems, and the AI Enhanced Layer brings a qualitative leap at key nodes. This system ensures that you can start with simple needs and gradually build intelligent flows that meet complex business scenarios.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The Core Layer is the foundation for building all flows. From call trigger to call end, these nodes form the basic skeleton of a call. Especially our "Ask Question" and "Transfer Call" nodes are designed to be very powerful and flexible, supporting multiple input modes and transfer strategies. Our design philosophy is to make the configuration of each node clear and easy to understand, so that users know exactly how to set it up at a glance.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The Logic Layer is the intelligent brain of the flow. Through nodes like Conditional Branch and If/Else, you can easily implement complex business logic. For example, according to different times and different caller types, completely different flows can be executed. This makes your voice receptionist very "smart" and able to handle various complex situations.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When it comes to AI, our strategy is "Rules-First, AI-Enhanced." We firmly believe that more AI is not always better. Our 17 rule-based nodes can already handle 80% of scenarios for free. We precisely introduce AI at three points that bring the greatest returns: Intent Detection, Knowledge Q&amp;A, and Call Summary. This approach ensures effectiveness while strictly controlling cost and latency, making it the most pragmatic AI strategy at this stage.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These three AI nodes are true "inflection points." AI Intent Detection allows customers to say goodbye to tedious button pressing and experience the convenience of one-step access. Knowledge Q&amp;A can automatically answer a large number of repetitive questions, reducing the human transfer rate by 68%. And the Call Summary feature can free the team from tedious recording work, increasing efficiency several times over. Each AI feature brings tangible value.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We have precise considerations for cost and latency. This table clearly shows the cost, latency, and return under different strategies. The pure rules engine is zero-cost and low-latency. Adding each AI node brings a clear increase in cost and latency, but also a quantifiable return. Our strategy gives users flexible cost control, allowing them to choose the most cost-effective combination based on their business needs.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In terms of telephony access, we offer the most flexible three modes in the industry. You can directly use the platform-managed numbers we provide, out of the box; or you can keep your existing business number; most uniquely, we support WebRTC browser calling, allowing you to implement phone-number-free voice communication within your website or app. This flexibility is unique in the market.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We understand the importance of "testing." To this end, we provide two simulation test modes.</a:t>
            </a:r>
          </a:p>
          <a:p>
            <a:pPr algn="l" indent="0">
              <a:lnSpc>
                <a:spcPct val="100000"/>
              </a:lnSpc>
            </a:pPr>
            <a:r>
              <a:rPr lang="en-US" b="false" i="false" strike="noStrike" u="none" sz="1400">
                <a:solidFill>
                  <a:srgbClr val="000000"/>
                </a:solidFill>
              </a:rPr>
              <a:t>The "Text Simulation" function allows you to instantly verify the flow logic right on the canvas, reducing the test cycle from minutes to seconds. It’s like chatting with your workflow.</a:t>
            </a:r>
          </a:p>
          <a:p>
            <a:pPr algn="l" indent="0">
              <a:lnSpc>
                <a:spcPct val="100000"/>
              </a:lnSpc>
            </a:pPr>
            <a:r>
              <a:rPr lang="en-US" b="false" i="false" strike="noStrike" u="none" sz="1400">
                <a:solidFill>
                  <a:srgbClr val="000000"/>
                </a:solidFill>
              </a:rPr>
              <a:t>The "Live Call Test" goes a step further by providing a temporary phone number. You can call it from your real phone to experience the actual voice interaction and recognition, just as your end-user would.</a:t>
            </a:r>
          </a:p>
          <a:p>
            <a:pPr algn="l" indent="0">
              <a:lnSpc>
                <a:spcPct val="100000"/>
              </a:lnSpc>
            </a:pPr>
            <a:r>
              <a:rPr lang="en-US" b="false" i="false" strike="noStrike" u="none" sz="1400">
                <a:solidFill>
                  <a:srgbClr val="000000"/>
                </a:solidFill>
              </a:rPr>
              <a:t>By combining these two modes, we aim to give you 100% confidence in your workflow before you publish it, completely eliminating the uncertainty of "will this actually work?"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For business systems, stability is paramount. Our version management feature is designed to allow you to "iterate safely, with zero fear." The system automatically saves version snapshots, and you can compare version differences at any time or even roll back to any stable version with one click. The separation mechanism between draft and published versions ensures absolute stability of online business, allowing you to boldly try new process optimizations.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Our operations dashboard provides granular insights down to each node. In addition to conventional KPIs, our unique "Node Heatmap" and "Conversion Funnel" features allow you to clearly see where customers drop off, enabling you to pinpoint problems and optimize. Meanwhile, the exception alert mechanism allows you to detect and handle problems in a timely manner to ensure service quality.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Let's look at a practical example: Standard Customer Service Routing. This flow first determines if it is business hours, then uses AI Intent Detection to guide callers to different service branches. For calls outside business hours, it provides voicemail or FAQ services. The entire flow is clear and efficient, and a fallback plan is configured to ensure service stability.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Let's look at a more complex example: Advanced Automation for a Medical Clinic. This flow can not only identify new and returning patients but also query CRM information. For emergencies, it will transfer immediately. For appointment requests, it can automatically match the doctor's calendar and recommend time slots. Meanwhile, the knowledge base answers a large number of common questions. This demonstrates VoiceFlow's powerful ability to handle complex business scenarios.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To summarize our competitiveness. VoiceFlow is unique in the market in three aspects: we are the only platform offering both triple-mode telephony and dual-mode testing; we are the only platform offering a "Rules-First, AI-Enhanced" layered node system; and we are also the only platform offering a node-level operational insights dashboard. Compared to other competitors, we focus more on ease of use and practicality, truly allowing non-technical users to enjoy the convenience brought by AI.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We have a clear plan for the future. Our MVP version currently has core features. V1.0 will focus on improving AI and integration capabilities, and add version management and a deep operations dashboard. Looking ahead to V2.0, we will introduce WebRTC, more advanced AI features, and enterprise-level permission management and an open platform to continuously expand the product's boundaries.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We pay close attention to user experience. From signup to iteration, we have designed key emotional guidance for each step of the user's operation. We eliminate the user's fear of facing a blank canvas through templates; we eliminate the user's anxiety through powerful testing functions; we eliminate the user's fear of iteration through reliable version management. We hope that users always feel relaxed and confident when using VoiceFlow.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This is our technology architecture overview. We have adopted a layered architecture, with the frontend using React Flow to build a smooth canvas experience. The backend engine is our self-developed flow interpreter, ensuring high performance and stability. The communication layer supports multiple access methods. The AI layer integrates leading multi-model capabilities in the industry. The data layer uses appropriate databases and storage solutions. The entire architecture design ensures the scalability and reliability of the system.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Our feature development follows a strict priority matrix. Q1 is high-value, low-complexity core functionality, which is the foundation of our MVP. Q2 is high-value, high-complexity functionality, which is the focus of our V1.0. Features in Q3 and Q4 will be implemented in subsequent versions based on market feedback and resource availability. This matrix ensures that we always focus on features that create the most value for users.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We have created an interactive prototype covering core pages such as the workflow canvas, simulation testing, operations dashboard, and telephony access. Through the prototype, you can intuitively feel the core interaction and design philosophy of VoiceFlow. We believe that seeing is believing, and hands-on experience is the best way to understand the product.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This competitor comparison matrix clearly shows VoiceFlow's unique advantages. Whether in the flexibility of telephony access and testing, the depth of operational insights, or the native support for WebRTC, VoiceFlow is in a leading position in the market. We are not simply imitating, but creating truly differentiated value through profound user insights.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Our business model is a flexible and transparent hybrid pricing model. We offer different tiers of packages to meet the needs of businesses of different sizes. The base plan is very affordable and includes core features. Overage is billed pay-as-you-go, and AI usage is also billed separately, so you know exactly where every penny is spent. We expect subscription fees to be the main source of revenue, while call overage and AI usage will also contribute significant income.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Looking back at the entire product design, we have five key takeaways. First, more AI is not better; precise empowerment is the key. Second, the text simulation feature is our killer application, which greatly improves user efficiency. Third, node-level operational insights have enormous commercial value. Fourth, WebRTC opens up a new market for us. Finally, version management is a core mechanism to ensure business stability. These insights will guide our future product development.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Next, our action plan is very clear. First, immediately start the development of the MVP, covering the Core and Logic layers, Canvas, and essential features like platform-managed numbers and text simulation.</a:t>
            </a:r>
          </a:p>
          <a:p>
            <a:pPr algn="l" indent="0">
              <a:lnSpc>
                <a:spcPct val="100000"/>
              </a:lnSpc>
            </a:pPr>
            <a:r>
              <a:rPr lang="en-US" b="false" i="false" strike="noStrike" u="none" sz="1400">
                <a:solidFill>
                  <a:srgbClr val="000000"/>
                </a:solidFill>
              </a:rPr>
              <a:t>Simultaneously, we will begin recruiting 50 SMBs as seed users for a closed beta to gather valuable feedback.</a:t>
            </a:r>
          </a:p>
          <a:p>
            <a:pPr algn="l" indent="0">
              <a:lnSpc>
                <a:spcPct val="100000"/>
              </a:lnSpc>
            </a:pPr>
            <a:r>
              <a:rPr lang="en-US" b="false" i="false" strike="noStrike" u="none" sz="1400">
                <a:solidFill>
                  <a:srgbClr val="000000"/>
                </a:solidFill>
              </a:rPr>
              <a:t>We will also rigorously validate the actual effectiveness and cost efficiency of our three key AI nodes: Intent Detection, Knowledge Q&amp;A, and Call Summary.</a:t>
            </a:r>
          </a:p>
          <a:p>
            <a:pPr algn="l" indent="0">
              <a:lnSpc>
                <a:spcPct val="100000"/>
              </a:lnSpc>
            </a:pPr>
            <a:r>
              <a:rPr lang="en-US" b="false" i="false" strike="noStrike" u="none" sz="1400">
                <a:solidFill>
                  <a:srgbClr val="000000"/>
                </a:solidFill>
              </a:rPr>
              <a:t>Finally, we will expand telephony access by adding support for SIP numbers and developing live call simulation capabilities, to ensure our product is robust and ready for market.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That concludes my presentation. Thank you all for listening. We believe that VoiceFlow Builder will redefine the way SMBs interact via voice, bringing them unprecedented efficiency and growth opportunities. Thank you!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 Id="rId4" Target="../media/image4.jpeg" Type="http://schemas.openxmlformats.org/officeDocument/2006/relationships/image"/><Relationship Id="rId5" Target="../media/image5.jpe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4.jpeg" Type="http://schemas.openxmlformats.org/officeDocument/2006/relationships/image"/><Relationship Id="rId4" Target="../media/image15.jpeg" Type="http://schemas.openxmlformats.org/officeDocument/2006/relationships/image"/><Relationship Id="rId5" Target="../media/image16.jpeg" Type="http://schemas.openxmlformats.org/officeDocument/2006/relationships/image"/><Relationship Id="rId6"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4.svg" Type="http://schemas.openxmlformats.org/officeDocument/2006/relationships/image"/><Relationship Id="rId11" Target="../media/image25.png" Type="http://schemas.openxmlformats.org/officeDocument/2006/relationships/image"/><Relationship Id="rId12" Target="../media/image26.svg" Type="http://schemas.openxmlformats.org/officeDocument/2006/relationships/image"/><Relationship Id="rId13" Target="../media/image27.png" Type="http://schemas.openxmlformats.org/officeDocument/2006/relationships/image"/><Relationship Id="rId14" Target="../media/image28.svg" Type="http://schemas.openxmlformats.org/officeDocument/2006/relationships/image"/><Relationship Id="rId15" Target="../notesSlides/notesSlide5.xml" Type="http://schemas.openxmlformats.org/officeDocument/2006/relationships/notesSlide"/><Relationship Id="rId2" Target="../media/image2.jpe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media/image2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31.png" Type="http://schemas.openxmlformats.org/officeDocument/2006/relationships/image"/><Relationship Id="rId8" Target="../media/image32.svg" Type="http://schemas.openxmlformats.org/officeDocument/2006/relationships/image"/><Relationship Id="rId9"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8.svg" Type="http://schemas.openxmlformats.org/officeDocument/2006/relationships/image"/><Relationship Id="rId11" Target="../notesSlides/notesSlide7.xml" Type="http://schemas.openxmlformats.org/officeDocument/2006/relationships/notesSlide"/><Relationship Id="rId2" Target="../media/image2.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33.png" Type="http://schemas.openxmlformats.org/officeDocument/2006/relationships/image"/><Relationship Id="rId6" Target="../media/image34.svg" Type="http://schemas.openxmlformats.org/officeDocument/2006/relationships/image"/><Relationship Id="rId7" Target="../media/image35.png" Type="http://schemas.openxmlformats.org/officeDocument/2006/relationships/image"/><Relationship Id="rId8" Target="../media/image36.svg" Type="http://schemas.openxmlformats.org/officeDocument/2006/relationships/image"/><Relationship Id="rId9" Target="../media/image3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2.svg" Type="http://schemas.openxmlformats.org/officeDocument/2006/relationships/image"/><Relationship Id="rId11" Target="../notesSlides/notesSlide8.xml" Type="http://schemas.openxmlformats.org/officeDocument/2006/relationships/notesSlide"/><Relationship Id="rId2" Target="../media/image2.jpeg" Type="http://schemas.openxmlformats.org/officeDocument/2006/relationships/image"/><Relationship Id="rId3" Target="../media/image39.png" Type="http://schemas.openxmlformats.org/officeDocument/2006/relationships/image"/><Relationship Id="rId4" Target="../media/image40.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4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2.svg" Type="http://schemas.openxmlformats.org/officeDocument/2006/relationships/image"/><Relationship Id="rId11" Target="../notesSlides/notesSlide9.xml" Type="http://schemas.openxmlformats.org/officeDocument/2006/relationships/notesSlide"/><Relationship Id="rId2" Target="../media/image2.jpeg" Type="http://schemas.openxmlformats.org/officeDocument/2006/relationships/image"/><Relationship Id="rId3" Target="../media/image43.png" Type="http://schemas.openxmlformats.org/officeDocument/2006/relationships/image"/><Relationship Id="rId4" Target="../media/image44.sv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47.png" Type="http://schemas.openxmlformats.org/officeDocument/2006/relationships/image"/><Relationship Id="rId8" Target="../media/image48.svg" Type="http://schemas.openxmlformats.org/officeDocument/2006/relationships/image"/><Relationship Id="rId9" Target="../media/image2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4.svg" Type="http://schemas.openxmlformats.org/officeDocument/2006/relationships/image"/><Relationship Id="rId11" Target="../notesSlides/notesSlide10.xml" Type="http://schemas.openxmlformats.org/officeDocument/2006/relationships/notesSlide"/><Relationship Id="rId2" Target="../media/image2.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49.png" Type="http://schemas.openxmlformats.org/officeDocument/2006/relationships/image"/><Relationship Id="rId6" Target="../media/image50.svg" Type="http://schemas.openxmlformats.org/officeDocument/2006/relationships/image"/><Relationship Id="rId7" Target="../media/image51.png" Type="http://schemas.openxmlformats.org/officeDocument/2006/relationships/image"/><Relationship Id="rId8" Target="../media/image52.svg" Type="http://schemas.openxmlformats.org/officeDocument/2006/relationships/image"/><Relationship Id="rId9" Target="../media/image5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62.svg" Type="http://schemas.openxmlformats.org/officeDocument/2006/relationships/image"/><Relationship Id="rId11" Target="../notesSlides/notesSlide11.xml" Type="http://schemas.openxmlformats.org/officeDocument/2006/relationships/notesSlide"/><Relationship Id="rId2" Target="../media/image2.jpeg" Type="http://schemas.openxmlformats.org/officeDocument/2006/relationships/image"/><Relationship Id="rId3" Target="../media/image55.png" Type="http://schemas.openxmlformats.org/officeDocument/2006/relationships/image"/><Relationship Id="rId4" Target="../media/image56.svg" Type="http://schemas.openxmlformats.org/officeDocument/2006/relationships/image"/><Relationship Id="rId5" Target="../media/image57.png" Type="http://schemas.openxmlformats.org/officeDocument/2006/relationships/image"/><Relationship Id="rId6" Target="../media/image58.svg" Type="http://schemas.openxmlformats.org/officeDocument/2006/relationships/image"/><Relationship Id="rId7" Target="../media/image59.png" Type="http://schemas.openxmlformats.org/officeDocument/2006/relationships/image"/><Relationship Id="rId8" Target="../media/image60.svg" Type="http://schemas.openxmlformats.org/officeDocument/2006/relationships/image"/><Relationship Id="rId9" Target="../media/image6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57.png" Type="http://schemas.openxmlformats.org/officeDocument/2006/relationships/image"/><Relationship Id="rId4" Target="../media/image58.svg" Type="http://schemas.openxmlformats.org/officeDocument/2006/relationships/image"/><Relationship Id="rId5" Target="../media/image63.png" Type="http://schemas.openxmlformats.org/officeDocument/2006/relationships/image"/><Relationship Id="rId6" Target="../media/image64.svg" Type="http://schemas.openxmlformats.org/officeDocument/2006/relationships/image"/><Relationship Id="rId7" Target="../media/image65.png" Type="http://schemas.openxmlformats.org/officeDocument/2006/relationships/image"/><Relationship Id="rId8" Target="../media/image66.svg" Type="http://schemas.openxmlformats.org/officeDocument/2006/relationships/image"/><Relationship Id="rId9"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0.svg" Type="http://schemas.openxmlformats.org/officeDocument/2006/relationships/image"/><Relationship Id="rId11" Target="../notesSlides/notesSlide13.xml" Type="http://schemas.openxmlformats.org/officeDocument/2006/relationships/notesSlide"/><Relationship Id="rId2" Target="../media/image2.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67.png" Type="http://schemas.openxmlformats.org/officeDocument/2006/relationships/image"/><Relationship Id="rId6" Target="../media/image68.svg" Type="http://schemas.openxmlformats.org/officeDocument/2006/relationships/image"/><Relationship Id="rId7" Target="../media/image63.png" Type="http://schemas.openxmlformats.org/officeDocument/2006/relationships/image"/><Relationship Id="rId8" Target="../media/image64.svg" Type="http://schemas.openxmlformats.org/officeDocument/2006/relationships/image"/><Relationship Id="rId9" Target="../media/image6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8.svg" Type="http://schemas.openxmlformats.org/officeDocument/2006/relationships/image"/><Relationship Id="rId11" Target="../notesSlides/notesSlide14.xml" Type="http://schemas.openxmlformats.org/officeDocument/2006/relationships/notesSlide"/><Relationship Id="rId2" Target="../media/image2.jpeg" Type="http://schemas.openxmlformats.org/officeDocument/2006/relationships/image"/><Relationship Id="rId3" Target="../media/image71.png" Type="http://schemas.openxmlformats.org/officeDocument/2006/relationships/image"/><Relationship Id="rId4" Target="../media/image72.svg" Type="http://schemas.openxmlformats.org/officeDocument/2006/relationships/image"/><Relationship Id="rId5" Target="../media/image73.png" Type="http://schemas.openxmlformats.org/officeDocument/2006/relationships/image"/><Relationship Id="rId6" Target="../media/image74.svg" Type="http://schemas.openxmlformats.org/officeDocument/2006/relationships/image"/><Relationship Id="rId7" Target="../media/image75.png" Type="http://schemas.openxmlformats.org/officeDocument/2006/relationships/image"/><Relationship Id="rId8" Target="../media/image76.svg" Type="http://schemas.openxmlformats.org/officeDocument/2006/relationships/image"/><Relationship Id="rId9" Target="../media/image7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79.png" Type="http://schemas.openxmlformats.org/officeDocument/2006/relationships/image"/><Relationship Id="rId4" Target="../media/image80.svg" Type="http://schemas.openxmlformats.org/officeDocument/2006/relationships/image"/><Relationship Id="rId5" Target="../media/image81.png" Type="http://schemas.openxmlformats.org/officeDocument/2006/relationships/image"/><Relationship Id="rId6" Target="../media/image82.svg" Type="http://schemas.openxmlformats.org/officeDocument/2006/relationships/image"/><Relationship Id="rId7" Target="../media/image83.png" Type="http://schemas.openxmlformats.org/officeDocument/2006/relationships/image"/><Relationship Id="rId8" Target="../media/image84.svg" Type="http://schemas.openxmlformats.org/officeDocument/2006/relationships/image"/><Relationship Id="rId9"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2.svg" Type="http://schemas.openxmlformats.org/officeDocument/2006/relationships/image"/><Relationship Id="rId11" Target="../notesSlides/notesSlide16.xml" Type="http://schemas.openxmlformats.org/officeDocument/2006/relationships/notesSlide"/><Relationship Id="rId2" Target="../media/image2.jpeg" Type="http://schemas.openxmlformats.org/officeDocument/2006/relationships/image"/><Relationship Id="rId3" Target="../media/image85.png" Type="http://schemas.openxmlformats.org/officeDocument/2006/relationships/image"/><Relationship Id="rId4" Target="../media/image86.svg" Type="http://schemas.openxmlformats.org/officeDocument/2006/relationships/image"/><Relationship Id="rId5" Target="../media/image87.png" Type="http://schemas.openxmlformats.org/officeDocument/2006/relationships/image"/><Relationship Id="rId6" Target="../media/image88.svg" Type="http://schemas.openxmlformats.org/officeDocument/2006/relationships/image"/><Relationship Id="rId7" Target="../media/image89.png" Type="http://schemas.openxmlformats.org/officeDocument/2006/relationships/image"/><Relationship Id="rId8" Target="../media/image90.svg" Type="http://schemas.openxmlformats.org/officeDocument/2006/relationships/image"/><Relationship Id="rId9" Target="../media/image9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8.svg" Type="http://schemas.openxmlformats.org/officeDocument/2006/relationships/image"/><Relationship Id="rId11" Target="../notesSlides/notesSlide17.xml" Type="http://schemas.openxmlformats.org/officeDocument/2006/relationships/notesSlide"/><Relationship Id="rId2" Target="../media/image2.jpeg" Type="http://schemas.openxmlformats.org/officeDocument/2006/relationships/image"/><Relationship Id="rId3" Target="../media/image93.png" Type="http://schemas.openxmlformats.org/officeDocument/2006/relationships/image"/><Relationship Id="rId4" Target="../media/image94.svg" Type="http://schemas.openxmlformats.org/officeDocument/2006/relationships/image"/><Relationship Id="rId5" Target="../media/image55.png" Type="http://schemas.openxmlformats.org/officeDocument/2006/relationships/image"/><Relationship Id="rId6" Target="../media/image56.svg" Type="http://schemas.openxmlformats.org/officeDocument/2006/relationships/image"/><Relationship Id="rId7" Target="../media/image95.png" Type="http://schemas.openxmlformats.org/officeDocument/2006/relationships/image"/><Relationship Id="rId8" Target="../media/image96.svg" Type="http://schemas.openxmlformats.org/officeDocument/2006/relationships/image"/><Relationship Id="rId9" Target="../media/image9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8.xml" Type="http://schemas.openxmlformats.org/officeDocument/2006/relationships/notesSlide"/><Relationship Id="rId2" Target="../media/image2.jpeg" Type="http://schemas.openxmlformats.org/officeDocument/2006/relationships/image"/><Relationship Id="rId3" Target="../media/image71.png" Type="http://schemas.openxmlformats.org/officeDocument/2006/relationships/image"/><Relationship Id="rId4" Target="../media/image72.svg" Type="http://schemas.openxmlformats.org/officeDocument/2006/relationships/image"/><Relationship Id="rId5" Target="../media/image99.png" Type="http://schemas.openxmlformats.org/officeDocument/2006/relationships/image"/><Relationship Id="rId6" Target="../media/image100.svg" Type="http://schemas.openxmlformats.org/officeDocument/2006/relationships/image"/><Relationship Id="rId7" Target="../media/image101.jpeg" Type="http://schemas.openxmlformats.org/officeDocument/2006/relationships/image"/><Relationship Id="rId8" Target="../media/image102.png" Type="http://schemas.openxmlformats.org/officeDocument/2006/relationships/image"/><Relationship Id="rId9" Target="../media/image103.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9.png" Type="http://schemas.openxmlformats.org/officeDocument/2006/relationships/image"/><Relationship Id="rId11" Target="../media/image110.svg" Type="http://schemas.openxmlformats.org/officeDocument/2006/relationships/image"/><Relationship Id="rId12" Target="../notesSlides/notesSlide19.xml" Type="http://schemas.openxmlformats.org/officeDocument/2006/relationships/notesSlide"/><Relationship Id="rId2" Target="../media/image2.jpeg" Type="http://schemas.openxmlformats.org/officeDocument/2006/relationships/image"/><Relationship Id="rId3" Target="../media/image104.jpe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105.png" Type="http://schemas.openxmlformats.org/officeDocument/2006/relationships/image"/><Relationship Id="rId7" Target="../media/image106.svg" Type="http://schemas.openxmlformats.org/officeDocument/2006/relationships/image"/><Relationship Id="rId8" Target="../media/image107.png" Type="http://schemas.openxmlformats.org/officeDocument/2006/relationships/image"/><Relationship Id="rId9" Target="../media/image108.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73.png" Type="http://schemas.openxmlformats.org/officeDocument/2006/relationships/image"/><Relationship Id="rId4" Target="../media/image74.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11.png" Type="http://schemas.openxmlformats.org/officeDocument/2006/relationships/image"/><Relationship Id="rId4" Target="../media/image112.svg" Type="http://schemas.openxmlformats.org/officeDocument/2006/relationships/image"/><Relationship Id="rId5" Target="../media/image113.png" Type="http://schemas.openxmlformats.org/officeDocument/2006/relationships/image"/><Relationship Id="rId6" Target="../media/image114.svg" Type="http://schemas.openxmlformats.org/officeDocument/2006/relationships/image"/><Relationship Id="rId7" Target="../media/image115.png" Type="http://schemas.openxmlformats.org/officeDocument/2006/relationships/image"/><Relationship Id="rId8" Target="../media/image116.svg" Type="http://schemas.openxmlformats.org/officeDocument/2006/relationships/image"/><Relationship Id="rId9"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17.png" Type="http://schemas.openxmlformats.org/officeDocument/2006/relationships/image"/><Relationship Id="rId4" Target="../media/image118.svg" Type="http://schemas.openxmlformats.org/officeDocument/2006/relationships/image"/><Relationship Id="rId5" Target="../media/image67.png" Type="http://schemas.openxmlformats.org/officeDocument/2006/relationships/image"/><Relationship Id="rId6" Target="../media/image68.svg" Type="http://schemas.openxmlformats.org/officeDocument/2006/relationships/image"/><Relationship Id="rId7" Target="../media/image119.png" Type="http://schemas.openxmlformats.org/officeDocument/2006/relationships/image"/><Relationship Id="rId8" Target="../media/image120.svg" Type="http://schemas.openxmlformats.org/officeDocument/2006/relationships/image"/><Relationship Id="rId9"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26.svg" Type="http://schemas.openxmlformats.org/officeDocument/2006/relationships/image"/><Relationship Id="rId11" Target="../media/image127.png" Type="http://schemas.openxmlformats.org/officeDocument/2006/relationships/image"/><Relationship Id="rId12" Target="../media/image128.svg" Type="http://schemas.openxmlformats.org/officeDocument/2006/relationships/image"/><Relationship Id="rId13" Target="../notesSlides/notesSlide23.xml" Type="http://schemas.openxmlformats.org/officeDocument/2006/relationships/notesSlide"/><Relationship Id="rId2" Target="../media/image2.jpeg" Type="http://schemas.openxmlformats.org/officeDocument/2006/relationships/image"/><Relationship Id="rId3" Target="../media/image121.png" Type="http://schemas.openxmlformats.org/officeDocument/2006/relationships/image"/><Relationship Id="rId4" Target="../media/image122.svg" Type="http://schemas.openxmlformats.org/officeDocument/2006/relationships/image"/><Relationship Id="rId5" Target="../media/image123.png" Type="http://schemas.openxmlformats.org/officeDocument/2006/relationships/image"/><Relationship Id="rId6" Target="../media/image124.svg" Type="http://schemas.openxmlformats.org/officeDocument/2006/relationships/image"/><Relationship Id="rId7" Target="../media/image73.png" Type="http://schemas.openxmlformats.org/officeDocument/2006/relationships/image"/><Relationship Id="rId8" Target="../media/image74.svg" Type="http://schemas.openxmlformats.org/officeDocument/2006/relationships/image"/><Relationship Id="rId9" Target="../media/image12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36.svg" Type="http://schemas.openxmlformats.org/officeDocument/2006/relationships/image"/><Relationship Id="rId11" Target="../notesSlides/notesSlide24.xml" Type="http://schemas.openxmlformats.org/officeDocument/2006/relationships/notesSlide"/><Relationship Id="rId2" Target="../media/image2.jpeg" Type="http://schemas.openxmlformats.org/officeDocument/2006/relationships/image"/><Relationship Id="rId3" Target="../media/image129.png" Type="http://schemas.openxmlformats.org/officeDocument/2006/relationships/image"/><Relationship Id="rId4" Target="../media/image130.svg" Type="http://schemas.openxmlformats.org/officeDocument/2006/relationships/image"/><Relationship Id="rId5" Target="../media/image131.png" Type="http://schemas.openxmlformats.org/officeDocument/2006/relationships/image"/><Relationship Id="rId6" Target="../media/image132.svg" Type="http://schemas.openxmlformats.org/officeDocument/2006/relationships/image"/><Relationship Id="rId7" Target="../media/image133.png" Type="http://schemas.openxmlformats.org/officeDocument/2006/relationships/image"/><Relationship Id="rId8" Target="../media/image134.svg" Type="http://schemas.openxmlformats.org/officeDocument/2006/relationships/image"/><Relationship Id="rId9" Target="../media/image135.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44.svg" Type="http://schemas.openxmlformats.org/officeDocument/2006/relationships/image"/><Relationship Id="rId11" Target="../notesSlides/notesSlide25.xml" Type="http://schemas.openxmlformats.org/officeDocument/2006/relationships/notesSlide"/><Relationship Id="rId2" Target="../media/image2.jpeg" Type="http://schemas.openxmlformats.org/officeDocument/2006/relationships/image"/><Relationship Id="rId3" Target="../media/image137.png" Type="http://schemas.openxmlformats.org/officeDocument/2006/relationships/image"/><Relationship Id="rId4" Target="../media/image138.svg" Type="http://schemas.openxmlformats.org/officeDocument/2006/relationships/image"/><Relationship Id="rId5" Target="../media/image139.png" Type="http://schemas.openxmlformats.org/officeDocument/2006/relationships/image"/><Relationship Id="rId6" Target="../media/image140.svg" Type="http://schemas.openxmlformats.org/officeDocument/2006/relationships/image"/><Relationship Id="rId7" Target="../media/image141.png" Type="http://schemas.openxmlformats.org/officeDocument/2006/relationships/image"/><Relationship Id="rId8" Target="../media/image142.svg" Type="http://schemas.openxmlformats.org/officeDocument/2006/relationships/image"/><Relationship Id="rId9" Target="../media/image14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52.png" Type="http://schemas.openxmlformats.org/officeDocument/2006/relationships/image"/><Relationship Id="rId11" Target="../media/image153.svg" Type="http://schemas.openxmlformats.org/officeDocument/2006/relationships/image"/><Relationship Id="rId12" Target="../media/image154.png" Type="http://schemas.openxmlformats.org/officeDocument/2006/relationships/image"/><Relationship Id="rId13" Target="../media/image155.svg" Type="http://schemas.openxmlformats.org/officeDocument/2006/relationships/image"/><Relationship Id="rId14" Target="../notesSlides/notesSlide26.xml" Type="http://schemas.openxmlformats.org/officeDocument/2006/relationships/notesSlide"/><Relationship Id="rId2" Target="../media/image2.jpeg" Type="http://schemas.openxmlformats.org/officeDocument/2006/relationships/image"/><Relationship Id="rId3" Target="../media/image145.jpeg" Type="http://schemas.openxmlformats.org/officeDocument/2006/relationships/image"/><Relationship Id="rId4" Target="../media/image146.jpeg" Type="http://schemas.openxmlformats.org/officeDocument/2006/relationships/image"/><Relationship Id="rId5" Target="../media/image147.jpeg" Type="http://schemas.openxmlformats.org/officeDocument/2006/relationships/image"/><Relationship Id="rId6" Target="../media/image148.jpeg" Type="http://schemas.openxmlformats.org/officeDocument/2006/relationships/image"/><Relationship Id="rId7" Target="../media/image149.jpeg" Type="http://schemas.openxmlformats.org/officeDocument/2006/relationships/image"/><Relationship Id="rId8" Target="../media/image150.png" Type="http://schemas.openxmlformats.org/officeDocument/2006/relationships/image"/><Relationship Id="rId9" Target="../media/image151.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56.png" Type="http://schemas.openxmlformats.org/officeDocument/2006/relationships/image"/><Relationship Id="rId4" Target="../media/image157.svg" Type="http://schemas.openxmlformats.org/officeDocument/2006/relationships/image"/><Relationship Id="rId5" Target="../media/image158.png" Type="http://schemas.openxmlformats.org/officeDocument/2006/relationships/image"/><Relationship Id="rId6" Target="../media/image159.svg" Type="http://schemas.openxmlformats.org/officeDocument/2006/relationships/image"/><Relationship Id="rId7" Target="../media/image160.png" Type="http://schemas.openxmlformats.org/officeDocument/2006/relationships/image"/><Relationship Id="rId8" Target="../media/image161.svg" Type="http://schemas.openxmlformats.org/officeDocument/2006/relationships/image"/><Relationship Id="rId9" Target="../notesSlides/notesSlide27.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82.svg" Type="http://schemas.openxmlformats.org/officeDocument/2006/relationships/image"/><Relationship Id="rId11" Target="../media/image21.png" Type="http://schemas.openxmlformats.org/officeDocument/2006/relationships/image"/><Relationship Id="rId12" Target="../media/image22.svg" Type="http://schemas.openxmlformats.org/officeDocument/2006/relationships/image"/><Relationship Id="rId13" Target="../notesSlides/notesSlide28.xml" Type="http://schemas.openxmlformats.org/officeDocument/2006/relationships/notesSlide"/><Relationship Id="rId2" Target="../media/image2.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62.png" Type="http://schemas.openxmlformats.org/officeDocument/2006/relationships/image"/><Relationship Id="rId6" Target="../media/image163.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81.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71.svg" Type="http://schemas.openxmlformats.org/officeDocument/2006/relationships/image"/><Relationship Id="rId11" Target="../notesSlides/notesSlide29.xml" Type="http://schemas.openxmlformats.org/officeDocument/2006/relationships/notesSlide"/><Relationship Id="rId2" Target="../media/image2.jpeg" Type="http://schemas.openxmlformats.org/officeDocument/2006/relationships/image"/><Relationship Id="rId3" Target="../media/image164.png" Type="http://schemas.openxmlformats.org/officeDocument/2006/relationships/image"/><Relationship Id="rId4" Target="../media/image165.svg" Type="http://schemas.openxmlformats.org/officeDocument/2006/relationships/image"/><Relationship Id="rId5" Target="../media/image166.png" Type="http://schemas.openxmlformats.org/officeDocument/2006/relationships/image"/><Relationship Id="rId6" Target="../media/image167.svg" Type="http://schemas.openxmlformats.org/officeDocument/2006/relationships/image"/><Relationship Id="rId7" Target="../media/image168.png" Type="http://schemas.openxmlformats.org/officeDocument/2006/relationships/image"/><Relationship Id="rId8" Target="../media/image169.svg" Type="http://schemas.openxmlformats.org/officeDocument/2006/relationships/image"/><Relationship Id="rId9" Target="../media/image170.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0.xml" Type="http://schemas.openxmlformats.org/officeDocument/2006/relationships/notesSlide"/></Relationships>
</file>

<file path=ppt/slides/_rels/slide3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31.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 Id="rId4" Target="../media/image4.jpeg" Type="http://schemas.openxmlformats.org/officeDocument/2006/relationships/image"/><Relationship Id="rId5" Target="../media/image5.jpe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notesSlides/notesSlide32.xml" Type="http://schemas.openxmlformats.org/officeDocument/2006/relationships/notesSlide"/></Relationships>
</file>

<file path=ppt/slides/_rels/slide3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notesSlides/notesSlide33.xml" Type="http://schemas.openxmlformats.org/officeDocument/2006/relationships/notesSlide"/></Relationships>
</file>

<file path=ppt/slides/_rels/slide3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4.jpeg" Type="http://schemas.openxmlformats.org/officeDocument/2006/relationships/image"/><Relationship Id="rId4" Target="../media/image15.jpeg" Type="http://schemas.openxmlformats.org/officeDocument/2006/relationships/image"/><Relationship Id="rId5" Target="../media/image16.jpeg" Type="http://schemas.openxmlformats.org/officeDocument/2006/relationships/image"/><Relationship Id="rId6" Target="../notesSlides/notesSlide34.xml" Type="http://schemas.openxmlformats.org/officeDocument/2006/relationships/notesSlide"/></Relationships>
</file>

<file path=ppt/slides/_rels/slide3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7.png" Type="http://schemas.openxmlformats.org/officeDocument/2006/relationships/image"/><Relationship Id="rId4" Target="../media/image172.svg" Type="http://schemas.openxmlformats.org/officeDocument/2006/relationships/image"/><Relationship Id="rId5" Target="../notesSlides/notesSlide35.xml" Type="http://schemas.openxmlformats.org/officeDocument/2006/relationships/notesSlide"/></Relationships>
</file>

<file path=ppt/slides/_rels/slide3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73.png" Type="http://schemas.openxmlformats.org/officeDocument/2006/relationships/image"/><Relationship Id="rId6" Target="../media/image74.svg" Type="http://schemas.openxmlformats.org/officeDocument/2006/relationships/image"/><Relationship Id="rId7" Target="../media/image31.png" Type="http://schemas.openxmlformats.org/officeDocument/2006/relationships/image"/><Relationship Id="rId8" Target="../media/image32.svg" Type="http://schemas.openxmlformats.org/officeDocument/2006/relationships/image"/><Relationship Id="rId9" Target="../notesSlides/notesSlide36.xml" Type="http://schemas.openxmlformats.org/officeDocument/2006/relationships/notesSlide"/></Relationships>
</file>

<file path=ppt/slides/_rels/slide3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8.svg" Type="http://schemas.openxmlformats.org/officeDocument/2006/relationships/image"/><Relationship Id="rId11" Target="../notesSlides/notesSlide37.xml" Type="http://schemas.openxmlformats.org/officeDocument/2006/relationships/notesSlide"/><Relationship Id="rId2" Target="../media/image2.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129.png" Type="http://schemas.openxmlformats.org/officeDocument/2006/relationships/image"/><Relationship Id="rId6" Target="../media/image130.svg" Type="http://schemas.openxmlformats.org/officeDocument/2006/relationships/image"/><Relationship Id="rId7" Target="../media/image35.png" Type="http://schemas.openxmlformats.org/officeDocument/2006/relationships/image"/><Relationship Id="rId8" Target="../media/image36.svg" Type="http://schemas.openxmlformats.org/officeDocument/2006/relationships/image"/><Relationship Id="rId9" Target="../media/image37.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2.svg" Type="http://schemas.openxmlformats.org/officeDocument/2006/relationships/image"/><Relationship Id="rId11" Target="../notesSlides/notesSlide38.xml" Type="http://schemas.openxmlformats.org/officeDocument/2006/relationships/notesSlide"/><Relationship Id="rId2" Target="../media/image2.jpeg" Type="http://schemas.openxmlformats.org/officeDocument/2006/relationships/image"/><Relationship Id="rId3" Target="../media/image39.png" Type="http://schemas.openxmlformats.org/officeDocument/2006/relationships/image"/><Relationship Id="rId4" Target="../media/image40.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 Id="rId7" Target="../media/image73.png" Type="http://schemas.openxmlformats.org/officeDocument/2006/relationships/image"/><Relationship Id="rId8" Target="../media/image74.svg" Type="http://schemas.openxmlformats.org/officeDocument/2006/relationships/image"/><Relationship Id="rId9" Target="../media/image41.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2.svg" Type="http://schemas.openxmlformats.org/officeDocument/2006/relationships/image"/><Relationship Id="rId11" Target="../notesSlides/notesSlide39.xml" Type="http://schemas.openxmlformats.org/officeDocument/2006/relationships/notesSlide"/><Relationship Id="rId2" Target="../media/image2.jpeg" Type="http://schemas.openxmlformats.org/officeDocument/2006/relationships/image"/><Relationship Id="rId3" Target="../media/image173.png" Type="http://schemas.openxmlformats.org/officeDocument/2006/relationships/image"/><Relationship Id="rId4" Target="../media/image174.svg" Type="http://schemas.openxmlformats.org/officeDocument/2006/relationships/image"/><Relationship Id="rId5" Target="../media/image175.png" Type="http://schemas.openxmlformats.org/officeDocument/2006/relationships/image"/><Relationship Id="rId6" Target="../media/image176.svg" Type="http://schemas.openxmlformats.org/officeDocument/2006/relationships/image"/><Relationship Id="rId7" Target="../media/image47.png" Type="http://schemas.openxmlformats.org/officeDocument/2006/relationships/image"/><Relationship Id="rId8" Target="../media/image48.svg" Type="http://schemas.openxmlformats.org/officeDocument/2006/relationships/image"/><Relationship Id="rId9" Target="../media/image21.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82.svg" Type="http://schemas.openxmlformats.org/officeDocument/2006/relationships/image"/><Relationship Id="rId11" Target="../notesSlides/notesSlide40.xml" Type="http://schemas.openxmlformats.org/officeDocument/2006/relationships/notesSlide"/><Relationship Id="rId2" Target="../media/image2.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177.png" Type="http://schemas.openxmlformats.org/officeDocument/2006/relationships/image"/><Relationship Id="rId6" Target="../media/image178.svg" Type="http://schemas.openxmlformats.org/officeDocument/2006/relationships/image"/><Relationship Id="rId7" Target="../media/image179.png" Type="http://schemas.openxmlformats.org/officeDocument/2006/relationships/image"/><Relationship Id="rId8" Target="../media/image180.svg" Type="http://schemas.openxmlformats.org/officeDocument/2006/relationships/image"/><Relationship Id="rId9" Target="../media/image181.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62.svg" Type="http://schemas.openxmlformats.org/officeDocument/2006/relationships/image"/><Relationship Id="rId11" Target="../notesSlides/notesSlide41.xml" Type="http://schemas.openxmlformats.org/officeDocument/2006/relationships/notesSlide"/><Relationship Id="rId2" Target="../media/image2.jpeg" Type="http://schemas.openxmlformats.org/officeDocument/2006/relationships/image"/><Relationship Id="rId3" Target="../media/image183.png" Type="http://schemas.openxmlformats.org/officeDocument/2006/relationships/image"/><Relationship Id="rId4" Target="../media/image184.svg" Type="http://schemas.openxmlformats.org/officeDocument/2006/relationships/image"/><Relationship Id="rId5" Target="../media/image57.png" Type="http://schemas.openxmlformats.org/officeDocument/2006/relationships/image"/><Relationship Id="rId6" Target="../media/image58.svg" Type="http://schemas.openxmlformats.org/officeDocument/2006/relationships/image"/><Relationship Id="rId7" Target="../media/image59.png" Type="http://schemas.openxmlformats.org/officeDocument/2006/relationships/image"/><Relationship Id="rId8" Target="../media/image60.svg" Type="http://schemas.openxmlformats.org/officeDocument/2006/relationships/image"/><Relationship Id="rId9" Target="../media/image61.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85.png" Type="http://schemas.openxmlformats.org/officeDocument/2006/relationships/image"/><Relationship Id="rId4" Target="../media/image186.svg" Type="http://schemas.openxmlformats.org/officeDocument/2006/relationships/image"/><Relationship Id="rId5" Target="../media/image187.png" Type="http://schemas.openxmlformats.org/officeDocument/2006/relationships/image"/><Relationship Id="rId6" Target="../media/image188.svg" Type="http://schemas.openxmlformats.org/officeDocument/2006/relationships/image"/><Relationship Id="rId7" Target="../media/image65.png" Type="http://schemas.openxmlformats.org/officeDocument/2006/relationships/image"/><Relationship Id="rId8" Target="../media/image66.svg" Type="http://schemas.openxmlformats.org/officeDocument/2006/relationships/image"/><Relationship Id="rId9" Target="../notesSlides/notesSlide42.xml" Type="http://schemas.openxmlformats.org/officeDocument/2006/relationships/notesSlide"/></Relationships>
</file>

<file path=ppt/slides/_rels/slide4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0.svg" Type="http://schemas.openxmlformats.org/officeDocument/2006/relationships/image"/><Relationship Id="rId11" Target="../notesSlides/notesSlide43.xml" Type="http://schemas.openxmlformats.org/officeDocument/2006/relationships/notesSlide"/><Relationship Id="rId2" Target="../media/image2.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5.png" Type="http://schemas.openxmlformats.org/officeDocument/2006/relationships/image"/><Relationship Id="rId6" Target="../media/image126.svg" Type="http://schemas.openxmlformats.org/officeDocument/2006/relationships/image"/><Relationship Id="rId7" Target="../media/image63.png" Type="http://schemas.openxmlformats.org/officeDocument/2006/relationships/image"/><Relationship Id="rId8" Target="../media/image64.svg" Type="http://schemas.openxmlformats.org/officeDocument/2006/relationships/image"/><Relationship Id="rId9" Target="../media/image69.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90.svg" Type="http://schemas.openxmlformats.org/officeDocument/2006/relationships/image"/><Relationship Id="rId11" Target="../notesSlides/notesSlide44.xml" Type="http://schemas.openxmlformats.org/officeDocument/2006/relationships/notesSlide"/><Relationship Id="rId2" Target="../media/image2.jpeg" Type="http://schemas.openxmlformats.org/officeDocument/2006/relationships/image"/><Relationship Id="rId3" Target="../media/image71.png" Type="http://schemas.openxmlformats.org/officeDocument/2006/relationships/image"/><Relationship Id="rId4" Target="../media/image72.svg" Type="http://schemas.openxmlformats.org/officeDocument/2006/relationships/image"/><Relationship Id="rId5" Target="../media/image73.png" Type="http://schemas.openxmlformats.org/officeDocument/2006/relationships/image"/><Relationship Id="rId6" Target="../media/image74.svg" Type="http://schemas.openxmlformats.org/officeDocument/2006/relationships/image"/><Relationship Id="rId7" Target="../media/image75.png" Type="http://schemas.openxmlformats.org/officeDocument/2006/relationships/image"/><Relationship Id="rId8" Target="../media/image76.svg" Type="http://schemas.openxmlformats.org/officeDocument/2006/relationships/image"/><Relationship Id="rId9" Target="../media/image189.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91.png" Type="http://schemas.openxmlformats.org/officeDocument/2006/relationships/image"/><Relationship Id="rId4" Target="../media/image192.svg" Type="http://schemas.openxmlformats.org/officeDocument/2006/relationships/image"/><Relationship Id="rId5" Target="../media/image81.png" Type="http://schemas.openxmlformats.org/officeDocument/2006/relationships/image"/><Relationship Id="rId6" Target="../media/image82.svg" Type="http://schemas.openxmlformats.org/officeDocument/2006/relationships/image"/><Relationship Id="rId7" Target="../notesSlides/notesSlide45.xml" Type="http://schemas.openxmlformats.org/officeDocument/2006/relationships/notesSlide"/></Relationships>
</file>

<file path=ppt/slides/_rels/slide4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2.svg" Type="http://schemas.openxmlformats.org/officeDocument/2006/relationships/image"/><Relationship Id="rId11" Target="../notesSlides/notesSlide46.xml" Type="http://schemas.openxmlformats.org/officeDocument/2006/relationships/notesSlide"/><Relationship Id="rId2" Target="../media/image2.jpeg" Type="http://schemas.openxmlformats.org/officeDocument/2006/relationships/image"/><Relationship Id="rId3" Target="../media/image193.png" Type="http://schemas.openxmlformats.org/officeDocument/2006/relationships/image"/><Relationship Id="rId4" Target="../media/image194.svg" Type="http://schemas.openxmlformats.org/officeDocument/2006/relationships/image"/><Relationship Id="rId5" Target="../media/image87.png" Type="http://schemas.openxmlformats.org/officeDocument/2006/relationships/image"/><Relationship Id="rId6" Target="../media/image88.svg" Type="http://schemas.openxmlformats.org/officeDocument/2006/relationships/image"/><Relationship Id="rId7" Target="../media/image89.png" Type="http://schemas.openxmlformats.org/officeDocument/2006/relationships/image"/><Relationship Id="rId8" Target="../media/image90.svg" Type="http://schemas.openxmlformats.org/officeDocument/2006/relationships/image"/><Relationship Id="rId9" Target="../media/image91.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96.svg" Type="http://schemas.openxmlformats.org/officeDocument/2006/relationships/image"/><Relationship Id="rId11" Target="../notesSlides/notesSlide47.xml" Type="http://schemas.openxmlformats.org/officeDocument/2006/relationships/notesSlide"/><Relationship Id="rId2" Target="../media/image2.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55.png" Type="http://schemas.openxmlformats.org/officeDocument/2006/relationships/image"/><Relationship Id="rId6" Target="../media/image56.svg" Type="http://schemas.openxmlformats.org/officeDocument/2006/relationships/image"/><Relationship Id="rId7" Target="../media/image95.png" Type="http://schemas.openxmlformats.org/officeDocument/2006/relationships/image"/><Relationship Id="rId8" Target="../media/image96.svg" Type="http://schemas.openxmlformats.org/officeDocument/2006/relationships/image"/><Relationship Id="rId9" Target="../media/image195.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01.jpe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197.png" Type="http://schemas.openxmlformats.org/officeDocument/2006/relationships/image"/><Relationship Id="rId7" Target="../media/image198.svg" Type="http://schemas.openxmlformats.org/officeDocument/2006/relationships/image"/><Relationship Id="rId8" Target="../notesSlides/notesSlide48.xml" Type="http://schemas.openxmlformats.org/officeDocument/2006/relationships/notesSlide"/></Relationships>
</file>

<file path=ppt/slides/_rels/slide4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87.png" Type="http://schemas.openxmlformats.org/officeDocument/2006/relationships/image"/><Relationship Id="rId11" Target="../media/image188.svg" Type="http://schemas.openxmlformats.org/officeDocument/2006/relationships/image"/><Relationship Id="rId12" Target="../notesSlides/notesSlide49.xml" Type="http://schemas.openxmlformats.org/officeDocument/2006/relationships/notesSlide"/><Relationship Id="rId2" Target="../media/image2.jpeg" Type="http://schemas.openxmlformats.org/officeDocument/2006/relationships/image"/><Relationship Id="rId3" Target="../media/image104.jpe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199.png" Type="http://schemas.openxmlformats.org/officeDocument/2006/relationships/image"/><Relationship Id="rId7" Target="../media/image200.svg" Type="http://schemas.openxmlformats.org/officeDocument/2006/relationships/image"/><Relationship Id="rId8" Target="../media/image51.png" Type="http://schemas.openxmlformats.org/officeDocument/2006/relationships/image"/><Relationship Id="rId9" Target="../media/image52.sv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02.svg" Type="http://schemas.openxmlformats.org/officeDocument/2006/relationships/image"/><Relationship Id="rId11" Target="../media/image203.png" Type="http://schemas.openxmlformats.org/officeDocument/2006/relationships/image"/><Relationship Id="rId12" Target="../media/image204.svg" Type="http://schemas.openxmlformats.org/officeDocument/2006/relationships/image"/><Relationship Id="rId13" Target="../notesSlides/notesSlide50.xml" Type="http://schemas.openxmlformats.org/officeDocument/2006/relationships/notesSlide"/><Relationship Id="rId2" Target="../media/image2.jpeg" Type="http://schemas.openxmlformats.org/officeDocument/2006/relationships/image"/><Relationship Id="rId3" Target="../media/image73.png" Type="http://schemas.openxmlformats.org/officeDocument/2006/relationships/image"/><Relationship Id="rId4" Target="../media/image74.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201.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97.png" Type="http://schemas.openxmlformats.org/officeDocument/2006/relationships/image"/><Relationship Id="rId4" Target="../media/image198.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05.png" Type="http://schemas.openxmlformats.org/officeDocument/2006/relationships/image"/><Relationship Id="rId8" Target="../media/image206.svg" Type="http://schemas.openxmlformats.org/officeDocument/2006/relationships/image"/><Relationship Id="rId9" Target="../notesSlides/notesSlide51.xml" Type="http://schemas.openxmlformats.org/officeDocument/2006/relationships/notesSlide"/></Relationships>
</file>

<file path=ppt/slides/_rels/slide5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07.png" Type="http://schemas.openxmlformats.org/officeDocument/2006/relationships/image"/><Relationship Id="rId4" Target="../media/image208.svg" Type="http://schemas.openxmlformats.org/officeDocument/2006/relationships/image"/><Relationship Id="rId5" Target="../media/image57.png" Type="http://schemas.openxmlformats.org/officeDocument/2006/relationships/image"/><Relationship Id="rId6" Target="../media/image58.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notesSlides/notesSlide52.xml" Type="http://schemas.openxmlformats.org/officeDocument/2006/relationships/notesSlide"/></Relationships>
</file>

<file path=ppt/slides/_rels/slide5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69.svg" Type="http://schemas.openxmlformats.org/officeDocument/2006/relationships/image"/><Relationship Id="rId11" Target="../media/image211.png" Type="http://schemas.openxmlformats.org/officeDocument/2006/relationships/image"/><Relationship Id="rId12" Target="../media/image212.svg" Type="http://schemas.openxmlformats.org/officeDocument/2006/relationships/image"/><Relationship Id="rId13" Target="../notesSlides/notesSlide53.xml" Type="http://schemas.openxmlformats.org/officeDocument/2006/relationships/notesSlide"/><Relationship Id="rId2" Target="../media/image2.jpeg" Type="http://schemas.openxmlformats.org/officeDocument/2006/relationships/image"/><Relationship Id="rId3" Target="../media/image209.png" Type="http://schemas.openxmlformats.org/officeDocument/2006/relationships/image"/><Relationship Id="rId4" Target="../media/image210.svg" Type="http://schemas.openxmlformats.org/officeDocument/2006/relationships/image"/><Relationship Id="rId5" Target="../media/image102.png" Type="http://schemas.openxmlformats.org/officeDocument/2006/relationships/image"/><Relationship Id="rId6" Target="../media/image103.svg" Type="http://schemas.openxmlformats.org/officeDocument/2006/relationships/image"/><Relationship Id="rId7" Target="../media/image170.png" Type="http://schemas.openxmlformats.org/officeDocument/2006/relationships/image"/><Relationship Id="rId8" Target="../media/image171.svg" Type="http://schemas.openxmlformats.org/officeDocument/2006/relationships/image"/><Relationship Id="rId9" Target="../media/image168.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16.svg" Type="http://schemas.openxmlformats.org/officeDocument/2006/relationships/image"/><Relationship Id="rId11" Target="../notesSlides/notesSlide54.xml" Type="http://schemas.openxmlformats.org/officeDocument/2006/relationships/notesSlide"/><Relationship Id="rId2" Target="../media/image2.jpeg" Type="http://schemas.openxmlformats.org/officeDocument/2006/relationships/image"/><Relationship Id="rId3" Target="../media/image189.png" Type="http://schemas.openxmlformats.org/officeDocument/2006/relationships/image"/><Relationship Id="rId4" Target="../media/image190.svg" Type="http://schemas.openxmlformats.org/officeDocument/2006/relationships/image"/><Relationship Id="rId5" Target="../media/image102.png" Type="http://schemas.openxmlformats.org/officeDocument/2006/relationships/image"/><Relationship Id="rId6" Target="../media/image103.svg" Type="http://schemas.openxmlformats.org/officeDocument/2006/relationships/image"/><Relationship Id="rId7" Target="../media/image213.png" Type="http://schemas.openxmlformats.org/officeDocument/2006/relationships/image"/><Relationship Id="rId8" Target="../media/image214.svg" Type="http://schemas.openxmlformats.org/officeDocument/2006/relationships/image"/><Relationship Id="rId9" Target="../media/image215.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82.svg" Type="http://schemas.openxmlformats.org/officeDocument/2006/relationships/image"/><Relationship Id="rId11" Target="../notesSlides/notesSlide55.xml" Type="http://schemas.openxmlformats.org/officeDocument/2006/relationships/notesSlide"/><Relationship Id="rId2" Target="../media/image2.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217.png" Type="http://schemas.openxmlformats.org/officeDocument/2006/relationships/image"/><Relationship Id="rId6" Target="../media/image218.svg" Type="http://schemas.openxmlformats.org/officeDocument/2006/relationships/image"/><Relationship Id="rId7" Target="../media/image219.png" Type="http://schemas.openxmlformats.org/officeDocument/2006/relationships/image"/><Relationship Id="rId8" Target="../media/image220.svg" Type="http://schemas.openxmlformats.org/officeDocument/2006/relationships/image"/><Relationship Id="rId9" Target="../media/image81.pn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12" Target="../media/image221.png" Type="http://schemas.openxmlformats.org/officeDocument/2006/relationships/image"/><Relationship Id="rId13" Target="../media/image222.svg" Type="http://schemas.openxmlformats.org/officeDocument/2006/relationships/image"/><Relationship Id="rId14" Target="../notesSlides/notesSlide56.xml" Type="http://schemas.openxmlformats.org/officeDocument/2006/relationships/notesSlide"/><Relationship Id="rId2" Target="../media/image2.jpeg" Type="http://schemas.openxmlformats.org/officeDocument/2006/relationships/image"/><Relationship Id="rId3" Target="../media/image145.jpeg" Type="http://schemas.openxmlformats.org/officeDocument/2006/relationships/image"/><Relationship Id="rId4" Target="../media/image146.jpeg" Type="http://schemas.openxmlformats.org/officeDocument/2006/relationships/image"/><Relationship Id="rId5" Target="../media/image147.jpeg" Type="http://schemas.openxmlformats.org/officeDocument/2006/relationships/image"/><Relationship Id="rId6" Target="../media/image148.jpeg" Type="http://schemas.openxmlformats.org/officeDocument/2006/relationships/image"/><Relationship Id="rId7" Target="../media/image149.jpeg" Type="http://schemas.openxmlformats.org/officeDocument/2006/relationships/image"/><Relationship Id="rId8" Target="../media/image39.png" Type="http://schemas.openxmlformats.org/officeDocument/2006/relationships/image"/><Relationship Id="rId9" Target="../media/image40.sv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56.png" Type="http://schemas.openxmlformats.org/officeDocument/2006/relationships/image"/><Relationship Id="rId4" Target="../media/image157.svg" Type="http://schemas.openxmlformats.org/officeDocument/2006/relationships/image"/><Relationship Id="rId5" Target="../media/image223.png" Type="http://schemas.openxmlformats.org/officeDocument/2006/relationships/image"/><Relationship Id="rId6" Target="../media/image224.svg" Type="http://schemas.openxmlformats.org/officeDocument/2006/relationships/image"/><Relationship Id="rId7" Target="../media/image225.png" Type="http://schemas.openxmlformats.org/officeDocument/2006/relationships/image"/><Relationship Id="rId8" Target="../media/image226.svg" Type="http://schemas.openxmlformats.org/officeDocument/2006/relationships/image"/><Relationship Id="rId9" Target="../notesSlides/notesSlide57.xml" Type="http://schemas.openxmlformats.org/officeDocument/2006/relationships/notesSlide"/></Relationships>
</file>

<file path=ppt/slides/_rels/slide5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2.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notesSlides/notesSlide58.xml" Type="http://schemas.openxmlformats.org/officeDocument/2006/relationships/notesSlide"/><Relationship Id="rId2" Target="../media/image2.jpeg" Type="http://schemas.openxmlformats.org/officeDocument/2006/relationships/image"/><Relationship Id="rId3" Target="../media/image129.png" Type="http://schemas.openxmlformats.org/officeDocument/2006/relationships/image"/><Relationship Id="rId4" Target="../media/image130.svg" Type="http://schemas.openxmlformats.org/officeDocument/2006/relationships/image"/><Relationship Id="rId5" Target="../media/image227.png" Type="http://schemas.openxmlformats.org/officeDocument/2006/relationships/image"/><Relationship Id="rId6" Target="../media/image228.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71.pn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59.xml" Type="http://schemas.openxmlformats.org/officeDocument/2006/relationships/notesSlide"/></Relationships>
</file>

<file path=ppt/slides/_rels/slide6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29.jpeg" Type="http://schemas.openxmlformats.org/officeDocument/2006/relationships/image"/><Relationship Id="rId3" Target="../notesSlides/notesSlide60.xml" Type="http://schemas.openxmlformats.org/officeDocument/2006/relationships/notesSlide"/><Relationship Id="rId4" Target="../media/image23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2F4F4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1905000"/>
            <a:ext cx="10160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5200">
                <a:solidFill>
                  <a:srgbClr val="FFFFFF"/>
                </a:solidFill>
                <a:latin typeface="Noto Sans SC"/>
                <a:ea typeface="Noto Sans SC"/>
                <a:cs typeface="Noto Sans SC"/>
                <a:sym typeface="Noto Sans SC"/>
              </a:rPr>
              <a:t>语流 VoiceFlow Builder</a:t>
            </a:r>
            <a:endParaRPr lang="en-US" sz="1100"/>
          </a:p>
        </p:txBody>
      </p:sp>
      <p:sp>
        <p:nvSpPr>
          <p:cNvPr name="AutoShape 4" id="4"/>
          <p:cNvSpPr/>
          <p:nvPr/>
        </p:nvSpPr>
        <p:spPr>
          <a:xfrm rot="0" flipH="false" flipV="false">
            <a:off x="1016000" y="3302000"/>
            <a:ext cx="10160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000">
                <a:solidFill>
                  <a:srgbClr val="48FFE6"/>
                </a:solidFill>
                <a:latin typeface="Noto Sans SC"/>
                <a:ea typeface="Noto Sans SC"/>
                <a:cs typeface="Noto Sans SC"/>
                <a:sym typeface="Noto Sans SC"/>
              </a:rPr>
              <a:t>10分钟搭建专业语音接待员</a:t>
            </a:r>
            <a:endParaRPr lang="en-US" sz="1100"/>
          </a:p>
        </p:txBody>
      </p:sp>
      <p:sp>
        <p:nvSpPr>
          <p:cNvPr name="AutoShape 5" id="5"/>
          <p:cNvSpPr/>
          <p:nvPr/>
        </p:nvSpPr>
        <p:spPr>
          <a:xfrm rot="0" flipH="false" flipV="false">
            <a:off x="1016000" y="4572000"/>
            <a:ext cx="1016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600">
                <a:solidFill>
                  <a:srgbClr val="FFFFFF">
                    <a:alpha val="90196"/>
                  </a:srgbClr>
                </a:solidFill>
                <a:latin typeface="Noto Sans SC"/>
                <a:ea typeface="Noto Sans SC"/>
                <a:cs typeface="Noto Sans SC"/>
                <a:sym typeface="Noto Sans SC"/>
              </a:rPr>
              <a:t>面向中小企业的可视化工作流构建器</a:t>
            </a:r>
            <a:endParaRPr lang="en-US" sz="1100"/>
          </a:p>
        </p:txBody>
      </p:sp>
      <p:sp>
        <p:nvSpPr>
          <p:cNvPr name="AutoShape 6" id="6"/>
          <p:cNvSpPr/>
          <p:nvPr/>
        </p:nvSpPr>
        <p:spPr>
          <a:xfrm rot="0" flipH="false" flipV="false">
            <a:off x="1016000" y="5588000"/>
            <a:ext cx="1016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74902"/>
                  </a:srgbClr>
                </a:solidFill>
                <a:latin typeface="Noto Sans SC"/>
                <a:ea typeface="Noto Sans SC"/>
                <a:cs typeface="Noto Sans SC"/>
                <a:sym typeface="Noto Sans SC"/>
              </a:rPr>
              <a:t>让每一个企业都能轻松拥有 7x24小时 在线的智能语音接待员</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中小企业的语音接待困境</a:t>
            </a:r>
            <a:endParaRPr lang="en-US" sz="1100"/>
          </a:p>
        </p:txBody>
      </p:sp>
      <p:sp>
        <p:nvSpPr>
          <p:cNvPr name="AutoShape 4" id="4"/>
          <p:cNvSpPr/>
          <p:nvPr/>
        </p:nvSpPr>
        <p:spPr>
          <a:xfrm rot="0" flipH="false" flipV="false">
            <a:off x="762000" y="1524000"/>
            <a:ext cx="5207000" cy="2349500"/>
          </a:xfrm>
          <a:prstGeom prst="roundRect">
            <a:avLst>
              <a:gd name="adj" fmla="val 648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23171" r="23171" t="0" b="0"/>
          <a:stretch>
            <a:fillRect/>
          </a:stretch>
        </p:blipFill>
        <p:spPr>
          <a:xfrm rot="0" flipH="false" flipV="false">
            <a:off x="952500" y="1752600"/>
            <a:ext cx="1524000" cy="1892300"/>
          </a:xfrm>
          <a:prstGeom prst="roundRect">
            <a:avLst>
              <a:gd name="adj" fmla="val 6666"/>
            </a:avLst>
          </a:prstGeom>
          <a:noFill/>
          <a:ln w="25400" cmpd="sng" cap="flat">
            <a:noFill/>
            <a:prstDash val="solid"/>
            <a:round/>
          </a:ln>
        </p:spPr>
      </p:pic>
      <p:sp>
        <p:nvSpPr>
          <p:cNvPr name="AutoShape 6" id="6"/>
          <p:cNvSpPr/>
          <p:nvPr/>
        </p:nvSpPr>
        <p:spPr>
          <a:xfrm rot="0" flipH="false" flipV="false">
            <a:off x="2667000" y="1714500"/>
            <a:ext cx="3111500" cy="1968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2F4F4F"/>
                </a:solidFill>
                <a:latin typeface="Noto Sans SC"/>
                <a:ea typeface="Noto Sans SC"/>
                <a:cs typeface="Noto Sans SC"/>
                <a:sym typeface="Noto Sans SC"/>
              </a:rPr>
              <a:t>现状堪忧：人工成本与流失的双重压力</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200">
                <a:solidFill>
                  <a:srgbClr val="555555"/>
                </a:solidFill>
                <a:latin typeface="Noto Sans SC"/>
                <a:ea typeface="Noto Sans SC"/>
                <a:cs typeface="Noto Sans SC"/>
                <a:sym typeface="Noto Sans SC"/>
              </a:rPr>
              <a:t>据2025年行业调研，超过78%的中小企业依赖纯人工接听，不仅导致高昂的运营成本，更因非工作时间无人接听，造成大量潜在商机白白流失。</a:t>
            </a:r>
          </a:p>
        </p:txBody>
      </p:sp>
      <p:sp>
        <p:nvSpPr>
          <p:cNvPr name="AutoShape 7" id="7"/>
          <p:cNvSpPr/>
          <p:nvPr/>
        </p:nvSpPr>
        <p:spPr>
          <a:xfrm rot="0" flipH="false" flipV="false">
            <a:off x="6223000" y="1524000"/>
            <a:ext cx="5207000" cy="2349500"/>
          </a:xfrm>
          <a:prstGeom prst="roundRect">
            <a:avLst>
              <a:gd name="adj" fmla="val 648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srcRect l="0" r="0" t="0" b="0"/>
          <a:stretch>
            <a:fillRect/>
          </a:stretch>
        </p:blipFill>
        <p:spPr>
          <a:xfrm rot="0" flipH="false" flipV="false">
            <a:off x="6413500" y="1714500"/>
            <a:ext cx="1143000" cy="1143000"/>
          </a:xfrm>
          <a:prstGeom prst="roundRect">
            <a:avLst>
              <a:gd name="adj" fmla="val 8888"/>
            </a:avLst>
          </a:prstGeom>
          <a:noFill/>
          <a:ln w="25400" cmpd="sng" cap="flat">
            <a:noFill/>
            <a:prstDash val="solid"/>
            <a:round/>
          </a:ln>
        </p:spPr>
      </p:pic>
      <p:sp>
        <p:nvSpPr>
          <p:cNvPr name="AutoShape 9" id="9"/>
          <p:cNvSpPr/>
          <p:nvPr/>
        </p:nvSpPr>
        <p:spPr>
          <a:xfrm rot="0" flipH="false" flipV="false">
            <a:off x="7683500" y="1714500"/>
            <a:ext cx="1714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2F4F4F"/>
                </a:solidFill>
                <a:latin typeface="Noto Sans SC"/>
                <a:ea typeface="Noto Sans SC"/>
                <a:cs typeface="Noto Sans SC"/>
                <a:sym typeface="Noto Sans SC"/>
              </a:rPr>
              <a:t>高端方案 · 负担重</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400"/>
              </a:spcBef>
            </a:pPr>
            <a:r>
              <a:rPr lang="en-US" b="false" i="false" strike="noStrike" u="none" sz="1100">
                <a:solidFill>
                  <a:srgbClr val="606060"/>
                </a:solidFill>
                <a:latin typeface="Noto Sans SC"/>
                <a:ea typeface="Noto Sans SC"/>
                <a:cs typeface="Noto Sans SC"/>
                <a:sym typeface="Noto Sans SC"/>
              </a:rPr>
              <a:t>呼叫中心功能强但部署费高昂，动辄数万，对中小企业是巨大财务压力。</a:t>
            </a:r>
          </a:p>
        </p:txBody>
      </p:sp>
      <p:pic>
        <p:nvPicPr>
          <p:cNvPr name="Picture 10" id="10"/>
          <p:cNvPicPr>
            <a:picLocks noChangeAspect="true"/>
          </p:cNvPicPr>
          <p:nvPr/>
        </p:nvPicPr>
        <p:blipFill>
          <a:blip r:embed="rId5"/>
          <a:srcRect l="16666" r="16666" t="0" b="0"/>
          <a:stretch>
            <a:fillRect/>
          </a:stretch>
        </p:blipFill>
        <p:spPr>
          <a:xfrm rot="0" flipH="false" flipV="false">
            <a:off x="9525000" y="1714500"/>
            <a:ext cx="1143000" cy="1143000"/>
          </a:xfrm>
          <a:prstGeom prst="roundRect">
            <a:avLst>
              <a:gd name="adj" fmla="val 8888"/>
            </a:avLst>
          </a:prstGeom>
          <a:noFill/>
          <a:ln w="25400" cmpd="sng" cap="flat">
            <a:noFill/>
            <a:prstDash val="solid"/>
            <a:round/>
          </a:ln>
        </p:spPr>
      </p:pic>
      <p:sp>
        <p:nvSpPr>
          <p:cNvPr name="AutoShape 11" id="11"/>
          <p:cNvSpPr/>
          <p:nvPr/>
        </p:nvSpPr>
        <p:spPr>
          <a:xfrm rot="0" flipH="false" flipV="false">
            <a:off x="6413500" y="2984500"/>
            <a:ext cx="4826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B42828"/>
                </a:solidFill>
                <a:latin typeface="Noto Sans SC"/>
                <a:ea typeface="Noto Sans SC"/>
                <a:cs typeface="Noto Sans SC"/>
                <a:sym typeface="Noto Sans SC"/>
              </a:rPr>
              <a:t>VS 低端方案 · 体验差</a:t>
            </a:r>
            <a:r>
              <a:rPr lang="en-US" b="false" i="false" strike="noStrike" u="none" sz="1100">
                <a:solidFill>
                  <a:srgbClr val="606060"/>
                </a:solidFill>
                <a:latin typeface="Noto Sans SC"/>
                <a:ea typeface="Noto Sans SC"/>
                <a:cs typeface="Noto Sans SC"/>
                <a:sym typeface="Noto Sans SC"/>
              </a:rPr>
              <a:t>录音电话或简易IVR交互生硬，无法处理复杂业务，客户放弃率高达60%以上。</a:t>
            </a:r>
            <a:endParaRPr lang="en-US" sz="1100"/>
          </a:p>
        </p:txBody>
      </p:sp>
      <p:sp>
        <p:nvSpPr>
          <p:cNvPr name="AutoShape 12" id="12"/>
          <p:cNvSpPr/>
          <p:nvPr/>
        </p:nvSpPr>
        <p:spPr>
          <a:xfrm rot="0" flipH="false" flipV="false">
            <a:off x="762000" y="4191000"/>
            <a:ext cx="5207000" cy="2159000"/>
          </a:xfrm>
          <a:prstGeom prst="roundRect">
            <a:avLst>
              <a:gd name="adj" fmla="val 7058"/>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635500"/>
            <a:ext cx="762000" cy="762000"/>
          </a:xfrm>
          <a:prstGeom prst="rect">
            <a:avLst/>
          </a:prstGeom>
        </p:spPr>
      </p:pic>
      <p:sp>
        <p:nvSpPr>
          <p:cNvPr name="AutoShape 14" id="14"/>
          <p:cNvSpPr/>
          <p:nvPr/>
        </p:nvSpPr>
        <p:spPr>
          <a:xfrm rot="0" flipH="false" flipV="false">
            <a:off x="2032000" y="4445000"/>
            <a:ext cx="3683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Noto Sans SC"/>
                <a:ea typeface="Noto Sans SC"/>
                <a:cs typeface="Noto Sans SC"/>
                <a:sym typeface="Noto Sans SC"/>
              </a:rPr>
              <a:t>技术壁垒高：AI工具“水土不服”</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200">
                <a:solidFill>
                  <a:srgbClr val="555555"/>
                </a:solidFill>
                <a:latin typeface="Noto Sans SC"/>
                <a:ea typeface="Noto Sans SC"/>
                <a:cs typeface="Noto Sans SC"/>
                <a:sym typeface="Noto Sans SC"/>
              </a:rPr>
              <a:t>市面上的Bland AI、Vapi等新兴工具主要面向开发者，需要具备API集成与编程能力，让普通的中小企业主或业务人员只能“望而却步”。</a:t>
            </a:r>
          </a:p>
        </p:txBody>
      </p:sp>
      <p:sp>
        <p:nvSpPr>
          <p:cNvPr name="AutoShape 15" id="15"/>
          <p:cNvSpPr/>
          <p:nvPr/>
        </p:nvSpPr>
        <p:spPr>
          <a:xfrm rot="0" flipH="false" flipV="false">
            <a:off x="6223000" y="4191000"/>
            <a:ext cx="5207000" cy="2159000"/>
          </a:xfrm>
          <a:prstGeom prst="roundRect">
            <a:avLst>
              <a:gd name="adj" fmla="val 7058"/>
            </a:avLst>
          </a:prstGeom>
          <a:solidFill>
            <a:srgbClr val="2F4F4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477000" y="4445000"/>
            <a:ext cx="4699000" cy="165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FFFF"/>
                </a:solidFill>
                <a:latin typeface="Noto Sans SC"/>
                <a:ea typeface="Noto Sans SC"/>
                <a:cs typeface="Noto Sans SC"/>
                <a:sym typeface="Noto Sans SC"/>
              </a:rPr>
              <a:t>真正的核心诉求</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spcBef>
                <a:spcPts val="1200"/>
              </a:spcBef>
            </a:pPr>
            <a:r>
              <a:rPr lang="en-US" b="false" i="false" strike="noStrike" u="none" sz="1400">
                <a:solidFill>
                  <a:srgbClr val="EBEBEB"/>
                </a:solidFill>
                <a:latin typeface="Noto Sans SC"/>
                <a:ea typeface="Noto Sans SC"/>
                <a:cs typeface="Noto Sans SC"/>
                <a:sym typeface="Noto Sans SC"/>
              </a:rPr>
              <a:t>一个</a:t>
            </a:r>
            <a:r>
              <a:rPr lang="en-US" b="true" i="false" strike="noStrike" u="none" sz="1800">
                <a:solidFill>
                  <a:srgbClr val="FFD700"/>
                </a:solidFill>
                <a:latin typeface="Noto Sans SC"/>
                <a:ea typeface="Noto Sans SC"/>
                <a:cs typeface="Noto Sans SC"/>
                <a:sym typeface="Noto Sans SC"/>
              </a:rPr>
              <a:t>“10分钟上手”</a:t>
            </a:r>
            <a:r>
              <a:rPr lang="en-US" b="false" i="false" strike="noStrike" u="none" sz="1400">
                <a:solidFill>
                  <a:srgbClr val="EBEBEB"/>
                </a:solidFill>
                <a:latin typeface="Noto Sans SC"/>
                <a:ea typeface="Noto Sans SC"/>
                <a:cs typeface="Noto Sans SC"/>
                <a:sym typeface="Noto Sans SC"/>
              </a:rPr>
              <a:t>且</a:t>
            </a:r>
            <a:r>
              <a:rPr lang="en-US" b="true" i="false" strike="noStrike" u="none" sz="1800">
                <a:solidFill>
                  <a:srgbClr val="FFD700"/>
                </a:solidFill>
                <a:latin typeface="Noto Sans SC"/>
                <a:ea typeface="Noto Sans SC"/>
                <a:cs typeface="Noto Sans SC"/>
                <a:sym typeface="Noto Sans SC"/>
              </a:rPr>
              <a:t>“能处理复杂业务”</a:t>
            </a:r>
            <a:r>
              <a:rPr lang="en-US" b="false" i="false" strike="noStrike" u="none" sz="1400">
                <a:solidFill>
                  <a:srgbClr val="EBEBEB"/>
                </a:solidFill>
                <a:latin typeface="Noto Sans SC"/>
                <a:ea typeface="Noto Sans SC"/>
                <a:cs typeface="Noto Sans SC"/>
                <a:sym typeface="Noto Sans SC"/>
              </a:rPr>
              <a:t>的解决方案</a:t>
            </a:r>
            <a:r>
              <a:rPr lang="en-US" b="false" i="false" strike="noStrike" u="none" sz="1600">
                <a:solidFill>
                  <a:srgbClr val="1F2329"/>
                </a:solidFill>
                <a:latin typeface="Noto Sans SC"/>
                <a:ea typeface="Noto Sans SC"/>
                <a:cs typeface="Noto Sans SC"/>
                <a:sym typeface="Noto Sans SC"/>
              </a:rPr>
              <a:t/>
            </a:r>
          </a:p>
          <a:p>
            <a:pPr algn="ctr" indent="0">
              <a:lnSpc>
                <a:spcPct val="108333"/>
              </a:lnSpc>
              <a:spcBef>
                <a:spcPts val="800"/>
              </a:spcBef>
            </a:pPr>
            <a:r>
              <a:rPr lang="en-US" b="false" i="false" strike="noStrike" u="none" sz="1200">
                <a:solidFill>
                  <a:srgbClr val="D2DCDC"/>
                </a:solidFill>
                <a:latin typeface="Noto Sans SC"/>
                <a:ea typeface="Noto Sans SC"/>
                <a:cs typeface="Noto Sans SC"/>
                <a:sym typeface="Noto Sans SC"/>
              </a:rPr>
              <a:t>简单到非技术人员也能轻松驾驭，强大到足以应对日常运营中的各种复杂场景。</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语流的三大核心能力</a:t>
            </a:r>
            <a:endParaRPr lang="en-US" sz="1100"/>
          </a:p>
        </p:txBody>
      </p:sp>
      <p:sp>
        <p:nvSpPr>
          <p:cNvPr name="AutoShape 4" id="4"/>
          <p:cNvSpPr/>
          <p:nvPr/>
        </p:nvSpPr>
        <p:spPr>
          <a:xfrm rot="0" flipH="false" flipV="false">
            <a:off x="762000" y="1778000"/>
            <a:ext cx="3302000" cy="4318000"/>
          </a:xfrm>
          <a:prstGeom prst="roundRect">
            <a:avLst>
              <a:gd name="adj" fmla="val 4615"/>
            </a:avLst>
          </a:prstGeom>
          <a:solidFill>
            <a:srgbClr val="FFFFFF">
              <a:alpha val="100000"/>
            </a:srgbClr>
          </a:solidFill>
          <a:ln w="12700" cmpd="sng" cap="flat">
            <a:solidFill>
              <a:srgbClr val="EBEB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3302000" cy="762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854200" y="2286000"/>
            <a:ext cx="863600" cy="863600"/>
          </a:xfrm>
          <a:prstGeom prst="rect">
            <a:avLst/>
          </a:prstGeom>
        </p:spPr>
      </p:pic>
      <p:sp>
        <p:nvSpPr>
          <p:cNvPr name="AutoShape 7" id="7"/>
          <p:cNvSpPr/>
          <p:nvPr/>
        </p:nvSpPr>
        <p:spPr>
          <a:xfrm rot="0" flipH="false" flipV="false">
            <a:off x="952500" y="3429000"/>
            <a:ext cx="2921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2F4F4F"/>
                </a:solidFill>
                <a:latin typeface="Noto Sans SC"/>
                <a:ea typeface="Noto Sans SC"/>
                <a:cs typeface="Noto Sans SC"/>
                <a:sym typeface="Noto Sans SC"/>
              </a:rPr>
              <a:t>可视化工作流构建器</a:t>
            </a:r>
            <a:endParaRPr lang="en-US" sz="1100"/>
          </a:p>
        </p:txBody>
      </p:sp>
      <p:sp>
        <p:nvSpPr>
          <p:cNvPr name="AutoShape 8" id="8"/>
          <p:cNvSpPr/>
          <p:nvPr/>
        </p:nvSpPr>
        <p:spPr>
          <a:xfrm rot="0" flipH="false" flipV="false">
            <a:off x="952500" y="4318000"/>
            <a:ext cx="2921000" cy="1651000"/>
          </a:xfrm>
          <a:prstGeom prst="rect">
            <a:avLst/>
          </a:prstGeom>
          <a:noFill/>
          <a:ln w="12700" cmpd="sng" cap="flat">
            <a:noFill/>
            <a:prstDash val="solid"/>
            <a:round/>
          </a:ln>
        </p:spPr>
        <p:txBody>
          <a:bodyPr anchor="ctr" rtlCol="false" anchorCtr="false" vert="horz" wrap="square" lIns="0" rIns="0" tIns="0" bIns="0"/>
          <a:lstStyle/>
          <a:p>
            <a:pPr algn="just" indent="0">
              <a:lnSpc>
                <a:spcPct val="125000"/>
              </a:lnSpc>
              <a:defRPr/>
            </a:pPr>
            <a:r>
              <a:rPr lang="en-US" b="false" i="false" strike="noStrike" u="none" sz="1300">
                <a:solidFill>
                  <a:srgbClr val="555555"/>
                </a:solidFill>
                <a:latin typeface="Noto Sans SC"/>
                <a:ea typeface="Noto Sans SC"/>
                <a:cs typeface="Noto Sans SC"/>
                <a:sym typeface="Noto Sans SC"/>
              </a:rPr>
              <a:t>我们提供一个所见即所得的画布。用户只需通过简单的拖拽节点和连线，即可像画流程图一样搭建出复杂的语音交互流程。全程零代码，无需任何编程知识。</a:t>
            </a:r>
            <a:endParaRPr lang="en-US" sz="1100"/>
          </a:p>
        </p:txBody>
      </p:sp>
      <p:sp>
        <p:nvSpPr>
          <p:cNvPr name="AutoShape 9" id="9"/>
          <p:cNvSpPr/>
          <p:nvPr/>
        </p:nvSpPr>
        <p:spPr>
          <a:xfrm rot="0" flipH="false" flipV="false">
            <a:off x="4445000" y="1778000"/>
            <a:ext cx="3302000" cy="4318000"/>
          </a:xfrm>
          <a:prstGeom prst="roundRect">
            <a:avLst>
              <a:gd name="adj" fmla="val 4615"/>
            </a:avLst>
          </a:prstGeom>
          <a:solidFill>
            <a:srgbClr val="FFFFFF">
              <a:alpha val="100000"/>
            </a:srgbClr>
          </a:solidFill>
          <a:ln w="12700" cmpd="sng" cap="flat">
            <a:solidFill>
              <a:srgbClr val="EBEB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445000" y="1778000"/>
            <a:ext cx="3302000" cy="762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537200" y="2286000"/>
            <a:ext cx="863600" cy="863600"/>
          </a:xfrm>
          <a:prstGeom prst="rect">
            <a:avLst/>
          </a:prstGeom>
        </p:spPr>
      </p:pic>
      <p:sp>
        <p:nvSpPr>
          <p:cNvPr name="AutoShape 12" id="12"/>
          <p:cNvSpPr/>
          <p:nvPr/>
        </p:nvSpPr>
        <p:spPr>
          <a:xfrm rot="0" flipH="false" flipV="false">
            <a:off x="4635500" y="3429000"/>
            <a:ext cx="2921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2F4F4F"/>
                </a:solidFill>
                <a:latin typeface="Noto Sans SC"/>
                <a:ea typeface="Noto Sans SC"/>
                <a:cs typeface="Noto Sans SC"/>
                <a:sym typeface="Noto Sans SC"/>
              </a:rPr>
              <a:t>规则优先，AI增强</a:t>
            </a:r>
            <a:endParaRPr lang="en-US" sz="1100"/>
          </a:p>
        </p:txBody>
      </p:sp>
      <p:sp>
        <p:nvSpPr>
          <p:cNvPr name="AutoShape 13" id="13"/>
          <p:cNvSpPr/>
          <p:nvPr/>
        </p:nvSpPr>
        <p:spPr>
          <a:xfrm rot="0" flipH="false" flipV="false">
            <a:off x="4635500" y="4318000"/>
            <a:ext cx="2921000" cy="1651000"/>
          </a:xfrm>
          <a:prstGeom prst="rect">
            <a:avLst/>
          </a:prstGeom>
          <a:noFill/>
          <a:ln w="12700" cmpd="sng" cap="flat">
            <a:noFill/>
            <a:prstDash val="solid"/>
            <a:round/>
          </a:ln>
        </p:spPr>
        <p:txBody>
          <a:bodyPr anchor="ctr" rtlCol="false" anchorCtr="false" vert="horz" wrap="square" lIns="0" rIns="0" tIns="0" bIns="0"/>
          <a:lstStyle/>
          <a:p>
            <a:pPr algn="just" indent="0">
              <a:lnSpc>
                <a:spcPct val="125000"/>
              </a:lnSpc>
              <a:defRPr/>
            </a:pPr>
            <a:r>
              <a:rPr lang="en-US" b="false" i="false" strike="noStrike" u="none" sz="1300">
                <a:solidFill>
                  <a:srgbClr val="555555"/>
                </a:solidFill>
                <a:latin typeface="Noto Sans SC"/>
                <a:ea typeface="Noto Sans SC"/>
                <a:cs typeface="Noto Sans SC"/>
                <a:sym typeface="Noto Sans SC"/>
              </a:rPr>
              <a:t>独创“规则优先，AI增强”混合策略。对80%标准化流程使用确定性规则引擎，保证零延迟、低成本的稳定运行。仅在意图检测、知识库问答、通话摘要三个关键节点引入AI，实现成本与效果的最佳平衡。</a:t>
            </a:r>
            <a:endParaRPr lang="en-US" sz="1100"/>
          </a:p>
        </p:txBody>
      </p:sp>
      <p:sp>
        <p:nvSpPr>
          <p:cNvPr name="AutoShape 14" id="14"/>
          <p:cNvSpPr/>
          <p:nvPr/>
        </p:nvSpPr>
        <p:spPr>
          <a:xfrm rot="0" flipH="false" flipV="false">
            <a:off x="8128000" y="1778000"/>
            <a:ext cx="3302000" cy="4318000"/>
          </a:xfrm>
          <a:prstGeom prst="roundRect">
            <a:avLst>
              <a:gd name="adj" fmla="val 4615"/>
            </a:avLst>
          </a:prstGeom>
          <a:solidFill>
            <a:srgbClr val="FFFFFF">
              <a:alpha val="100000"/>
            </a:srgbClr>
          </a:solidFill>
          <a:ln w="12700" cmpd="sng" cap="flat">
            <a:solidFill>
              <a:srgbClr val="EBEB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128000" y="1778000"/>
            <a:ext cx="3302000" cy="762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220200" y="2286000"/>
            <a:ext cx="863600" cy="863600"/>
          </a:xfrm>
          <a:prstGeom prst="rect">
            <a:avLst/>
          </a:prstGeom>
        </p:spPr>
      </p:pic>
      <p:sp>
        <p:nvSpPr>
          <p:cNvPr name="AutoShape 17" id="17"/>
          <p:cNvSpPr/>
          <p:nvPr/>
        </p:nvSpPr>
        <p:spPr>
          <a:xfrm rot="0" flipH="false" flipV="false">
            <a:off x="8318500" y="3429000"/>
            <a:ext cx="2921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2F4F4F"/>
                </a:solidFill>
                <a:latin typeface="Noto Sans SC"/>
                <a:ea typeface="Noto Sans SC"/>
                <a:cs typeface="Noto Sans SC"/>
                <a:sym typeface="Noto Sans SC"/>
              </a:rPr>
              <a:t>节点级运营洞察</a:t>
            </a:r>
            <a:endParaRPr lang="en-US" sz="1100"/>
          </a:p>
        </p:txBody>
      </p:sp>
      <p:sp>
        <p:nvSpPr>
          <p:cNvPr name="AutoShape 18" id="18"/>
          <p:cNvSpPr/>
          <p:nvPr/>
        </p:nvSpPr>
        <p:spPr>
          <a:xfrm rot="0" flipH="false" flipV="false">
            <a:off x="8318500" y="4318000"/>
            <a:ext cx="2921000" cy="1651000"/>
          </a:xfrm>
          <a:prstGeom prst="rect">
            <a:avLst/>
          </a:prstGeom>
          <a:noFill/>
          <a:ln w="12700" cmpd="sng" cap="flat">
            <a:noFill/>
            <a:prstDash val="solid"/>
            <a:round/>
          </a:ln>
        </p:spPr>
        <p:txBody>
          <a:bodyPr anchor="ctr" rtlCol="false" anchorCtr="false" vert="horz" wrap="square" lIns="0" rIns="0" tIns="0" bIns="0"/>
          <a:lstStyle/>
          <a:p>
            <a:pPr algn="just" indent="0">
              <a:lnSpc>
                <a:spcPct val="125000"/>
              </a:lnSpc>
              <a:defRPr/>
            </a:pPr>
            <a:r>
              <a:rPr lang="en-US" b="false" i="false" strike="noStrike" u="none" sz="1300">
                <a:solidFill>
                  <a:srgbClr val="555555"/>
                </a:solidFill>
                <a:latin typeface="Noto Sans SC"/>
                <a:ea typeface="Noto Sans SC"/>
                <a:cs typeface="Noto Sans SC"/>
                <a:sym typeface="Noto Sans SC"/>
              </a:rPr>
              <a:t>提供深入到每个节点的精细化运营数据。通过节点热力图和转化漏斗，清晰看到客户在哪个环节流失，从而精准定位问题、驱动产品迭代，实现从“工具”到“智能运营平台”的跨越。</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谁需要语流？</a:t>
            </a:r>
            <a:endParaRPr lang="en-US" sz="1100"/>
          </a:p>
        </p:txBody>
      </p:sp>
      <p:sp>
        <p:nvSpPr>
          <p:cNvPr name="AutoShape 4" id="4"/>
          <p:cNvSpPr/>
          <p:nvPr/>
        </p:nvSpPr>
        <p:spPr>
          <a:xfrm rot="0" flipH="false" flipV="false">
            <a:off x="762000" y="1778000"/>
            <a:ext cx="3302000" cy="4572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0" r="0" t="7629" b="7629"/>
          <a:stretch>
            <a:fillRect/>
          </a:stretch>
        </p:blipFill>
        <p:spPr>
          <a:xfrm rot="0" flipH="false" flipV="false">
            <a:off x="952500" y="1968500"/>
            <a:ext cx="2921000" cy="1651000"/>
          </a:xfrm>
          <a:prstGeom prst="roundRect">
            <a:avLst>
              <a:gd name="adj" fmla="val 6153"/>
            </a:avLst>
          </a:prstGeom>
          <a:noFill/>
          <a:ln w="25400" cmpd="sng" cap="flat">
            <a:noFill/>
            <a:prstDash val="solid"/>
            <a:round/>
          </a:ln>
        </p:spPr>
      </p:pic>
      <p:sp>
        <p:nvSpPr>
          <p:cNvPr name="AutoShape 6" id="6"/>
          <p:cNvSpPr/>
          <p:nvPr/>
        </p:nvSpPr>
        <p:spPr>
          <a:xfrm rot="0" flipH="false" flipV="false">
            <a:off x="952500" y="3810000"/>
            <a:ext cx="292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F4F4F"/>
                </a:solidFill>
                <a:latin typeface="Noto Sans SC"/>
                <a:ea typeface="Noto Sans SC"/>
                <a:cs typeface="Noto Sans SC"/>
                <a:sym typeface="Noto Sans SC"/>
              </a:rPr>
              <a:t>小企业主 (1-20人)</a:t>
            </a:r>
            <a:endParaRPr lang="en-US" sz="1100"/>
          </a:p>
        </p:txBody>
      </p:sp>
      <p:sp>
        <p:nvSpPr>
          <p:cNvPr name="AutoShape 7" id="7"/>
          <p:cNvSpPr/>
          <p:nvPr/>
        </p:nvSpPr>
        <p:spPr>
          <a:xfrm rot="0" flipH="false" flipV="false">
            <a:off x="952500" y="4445000"/>
            <a:ext cx="2921000" cy="1651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true" i="false" strike="noStrike" u="none" sz="1300">
                <a:solidFill>
                  <a:srgbClr val="374151"/>
                </a:solidFill>
                <a:latin typeface="Noto Sans SC"/>
                <a:ea typeface="Noto Sans SC"/>
                <a:cs typeface="Noto Sans SC"/>
                <a:sym typeface="Noto Sans SC"/>
              </a:rPr>
              <a:t>💡 特征：</a:t>
            </a:r>
            <a:r>
              <a:rPr lang="en-US" b="false" i="false" strike="noStrike" u="none" sz="1200">
                <a:solidFill>
                  <a:srgbClr val="6B7280"/>
                </a:solidFill>
                <a:latin typeface="Noto Sans SC"/>
                <a:ea typeface="Noto Sans SC"/>
                <a:cs typeface="Noto Sans SC"/>
                <a:sym typeface="Noto Sans SC"/>
              </a:rPr>
              <a:t>创始人或管理者身兼数职，没有专门的技术和客服团队。</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true" i="false" strike="noStrike" u="none" sz="1300">
                <a:solidFill>
                  <a:srgbClr val="374151"/>
                </a:solidFill>
                <a:latin typeface="Noto Sans SC"/>
                <a:ea typeface="Noto Sans SC"/>
                <a:cs typeface="Noto Sans SC"/>
                <a:sym typeface="Noto Sans SC"/>
              </a:rPr>
              <a:t>🎯 诉求：</a:t>
            </a:r>
            <a:r>
              <a:rPr lang="en-US" b="false" i="false" strike="noStrike" u="none" sz="1200">
                <a:solidFill>
                  <a:srgbClr val="6B7280"/>
                </a:solidFill>
                <a:latin typeface="Noto Sans SC"/>
                <a:ea typeface="Noto Sans SC"/>
                <a:cs typeface="Noto Sans SC"/>
                <a:sym typeface="Noto Sans SC"/>
              </a:rPr>
              <a:t>需要快速搭建、无需维护的语音接待系统，解决非工作时间漏接客户来电的痛点。</a:t>
            </a:r>
          </a:p>
        </p:txBody>
      </p:sp>
      <p:sp>
        <p:nvSpPr>
          <p:cNvPr name="AutoShape 8" id="8"/>
          <p:cNvSpPr/>
          <p:nvPr/>
        </p:nvSpPr>
        <p:spPr>
          <a:xfrm rot="0" flipH="false" flipV="false">
            <a:off x="4445000" y="1778000"/>
            <a:ext cx="3302000" cy="4572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srcRect l="0" r="0" t="7629" b="7629"/>
          <a:stretch>
            <a:fillRect/>
          </a:stretch>
        </p:blipFill>
        <p:spPr>
          <a:xfrm rot="0" flipH="false" flipV="false">
            <a:off x="4635500" y="1968500"/>
            <a:ext cx="2921000" cy="1651000"/>
          </a:xfrm>
          <a:prstGeom prst="roundRect">
            <a:avLst>
              <a:gd name="adj" fmla="val 6153"/>
            </a:avLst>
          </a:prstGeom>
          <a:noFill/>
          <a:ln w="25400" cmpd="sng" cap="flat">
            <a:noFill/>
            <a:prstDash val="solid"/>
            <a:round/>
          </a:ln>
        </p:spPr>
      </p:pic>
      <p:sp>
        <p:nvSpPr>
          <p:cNvPr name="AutoShape 10" id="10"/>
          <p:cNvSpPr/>
          <p:nvPr/>
        </p:nvSpPr>
        <p:spPr>
          <a:xfrm rot="0" flipH="false" flipV="false">
            <a:off x="4635500" y="3810000"/>
            <a:ext cx="292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F4F4F"/>
                </a:solidFill>
                <a:latin typeface="Noto Sans SC"/>
                <a:ea typeface="Noto Sans SC"/>
                <a:cs typeface="Noto Sans SC"/>
                <a:sym typeface="Noto Sans SC"/>
              </a:rPr>
              <a:t>中型企业团队管理者 (20-200人)</a:t>
            </a:r>
            <a:endParaRPr lang="en-US" sz="1100"/>
          </a:p>
        </p:txBody>
      </p:sp>
      <p:sp>
        <p:nvSpPr>
          <p:cNvPr name="AutoShape 11" id="11"/>
          <p:cNvSpPr/>
          <p:nvPr/>
        </p:nvSpPr>
        <p:spPr>
          <a:xfrm rot="0" flipH="false" flipV="false">
            <a:off x="4635500" y="4445000"/>
            <a:ext cx="2921000" cy="1651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true" i="false" strike="noStrike" u="none" sz="1300">
                <a:solidFill>
                  <a:srgbClr val="374151"/>
                </a:solidFill>
                <a:latin typeface="Noto Sans SC"/>
                <a:ea typeface="Noto Sans SC"/>
                <a:cs typeface="Noto Sans SC"/>
                <a:sym typeface="Noto Sans SC"/>
              </a:rPr>
              <a:t>💡 特征：</a:t>
            </a:r>
            <a:r>
              <a:rPr lang="en-US" b="false" i="false" strike="noStrike" u="none" sz="1200">
                <a:solidFill>
                  <a:srgbClr val="6B7280"/>
                </a:solidFill>
                <a:latin typeface="Noto Sans SC"/>
                <a:ea typeface="Noto Sans SC"/>
                <a:cs typeface="Noto Sans SC"/>
                <a:sym typeface="Noto Sans SC"/>
              </a:rPr>
              <a:t>负责客服、销售或运营团队，面临日益增长的通话量与人力成本的双重压力。</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true" i="false" strike="noStrike" u="none" sz="1300">
                <a:solidFill>
                  <a:srgbClr val="374151"/>
                </a:solidFill>
                <a:latin typeface="Noto Sans SC"/>
                <a:ea typeface="Noto Sans SC"/>
                <a:cs typeface="Noto Sans SC"/>
                <a:sym typeface="Noto Sans SC"/>
              </a:rPr>
              <a:t>🎯 诉求：</a:t>
            </a:r>
            <a:r>
              <a:rPr lang="en-US" b="false" i="false" strike="noStrike" u="none" sz="1200">
                <a:solidFill>
                  <a:srgbClr val="6B7280"/>
                </a:solidFill>
                <a:latin typeface="Noto Sans SC"/>
                <a:ea typeface="Noto Sans SC"/>
                <a:cs typeface="Noto Sans SC"/>
                <a:sym typeface="Noto Sans SC"/>
              </a:rPr>
              <a:t>需要强大的自动化工具分流大量重复咨询，将人工坐席解放出来，专注于处理高价值任务。</a:t>
            </a:r>
          </a:p>
        </p:txBody>
      </p:sp>
      <p:sp>
        <p:nvSpPr>
          <p:cNvPr name="AutoShape 12" id="12"/>
          <p:cNvSpPr/>
          <p:nvPr/>
        </p:nvSpPr>
        <p:spPr>
          <a:xfrm rot="0" flipH="false" flipV="false">
            <a:off x="8128000" y="1778000"/>
            <a:ext cx="3302000" cy="4572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srcRect l="0" r="0" t="7608" b="7608"/>
          <a:stretch>
            <a:fillRect/>
          </a:stretch>
        </p:blipFill>
        <p:spPr>
          <a:xfrm rot="0" flipH="false" flipV="false">
            <a:off x="8318500" y="1968500"/>
            <a:ext cx="2921000" cy="1651000"/>
          </a:xfrm>
          <a:prstGeom prst="roundRect">
            <a:avLst>
              <a:gd name="adj" fmla="val 6153"/>
            </a:avLst>
          </a:prstGeom>
          <a:noFill/>
          <a:ln w="25400" cmpd="sng" cap="flat">
            <a:noFill/>
            <a:prstDash val="solid"/>
            <a:round/>
          </a:ln>
        </p:spPr>
      </p:pic>
      <p:sp>
        <p:nvSpPr>
          <p:cNvPr name="AutoShape 14" id="14"/>
          <p:cNvSpPr/>
          <p:nvPr/>
        </p:nvSpPr>
        <p:spPr>
          <a:xfrm rot="0" flipH="false" flipV="false">
            <a:off x="8318500" y="3810000"/>
            <a:ext cx="292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2F4F4F"/>
                </a:solidFill>
                <a:latin typeface="Noto Sans SC"/>
                <a:ea typeface="Noto Sans SC"/>
                <a:cs typeface="Noto Sans SC"/>
                <a:sym typeface="Noto Sans SC"/>
              </a:rPr>
              <a:t>在线业务运营者</a:t>
            </a:r>
            <a:endParaRPr lang="en-US" sz="1100"/>
          </a:p>
        </p:txBody>
      </p:sp>
      <p:sp>
        <p:nvSpPr>
          <p:cNvPr name="AutoShape 15" id="15"/>
          <p:cNvSpPr/>
          <p:nvPr/>
        </p:nvSpPr>
        <p:spPr>
          <a:xfrm rot="0" flipH="false" flipV="false">
            <a:off x="8318500" y="4445000"/>
            <a:ext cx="2921000" cy="1651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true" i="false" strike="noStrike" u="none" sz="1300">
                <a:solidFill>
                  <a:srgbClr val="374151"/>
                </a:solidFill>
                <a:latin typeface="Noto Sans SC"/>
                <a:ea typeface="Noto Sans SC"/>
                <a:cs typeface="Noto Sans SC"/>
                <a:sym typeface="Noto Sans SC"/>
              </a:rPr>
              <a:t>💡 特征：</a:t>
            </a:r>
            <a:r>
              <a:rPr lang="en-US" b="false" i="false" strike="noStrike" u="none" sz="1200">
                <a:solidFill>
                  <a:srgbClr val="6B7280"/>
                </a:solidFill>
                <a:latin typeface="Noto Sans SC"/>
                <a:ea typeface="Noto Sans SC"/>
                <a:cs typeface="Noto Sans SC"/>
                <a:sym typeface="Noto Sans SC"/>
              </a:rPr>
              <a:t>拥有独立网站或App，希望提供更直接的沟通方式，但又顾虑隐私安全，不想直接暴露电话号码。</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true" i="false" strike="noStrike" u="none" sz="1300">
                <a:solidFill>
                  <a:srgbClr val="374151"/>
                </a:solidFill>
                <a:latin typeface="Noto Sans SC"/>
                <a:ea typeface="Noto Sans SC"/>
                <a:cs typeface="Noto Sans SC"/>
                <a:sym typeface="Noto Sans SC"/>
              </a:rPr>
              <a:t>🎯 诉求：</a:t>
            </a:r>
            <a:r>
              <a:rPr lang="en-US" b="false" i="false" strike="noStrike" u="none" sz="1200">
                <a:solidFill>
                  <a:srgbClr val="6B7280"/>
                </a:solidFill>
                <a:latin typeface="Noto Sans SC"/>
                <a:ea typeface="Noto Sans SC"/>
                <a:cs typeface="Noto Sans SC"/>
                <a:sym typeface="Noto Sans SC"/>
              </a:rPr>
              <a:t>需要无缝嵌入网站的语音通话功能，实现“无电话号码”的即时通讯，提升用户体验与转化率。</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工作流如何运转？</a:t>
            </a:r>
            <a:endParaRPr lang="en-US" sz="1100"/>
          </a:p>
        </p:txBody>
      </p:sp>
      <p:sp>
        <p:nvSpPr>
          <p:cNvPr name="AutoShape 4" id="4"/>
          <p:cNvSpPr/>
          <p:nvPr/>
        </p:nvSpPr>
        <p:spPr>
          <a:xfrm rot="0" flipH="false" flipV="false">
            <a:off x="762000" y="1651000"/>
            <a:ext cx="2032000" cy="2794000"/>
          </a:xfrm>
          <a:prstGeom prst="roundRect">
            <a:avLst>
              <a:gd name="adj" fmla="val 5000"/>
            </a:avLst>
          </a:prstGeom>
          <a:solidFill>
            <a:srgbClr val="FFFFFF">
              <a:alpha val="100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422400" y="1841500"/>
            <a:ext cx="609600" cy="609600"/>
          </a:xfrm>
          <a:prstGeom prst="rect">
            <a:avLst/>
          </a:prstGeom>
        </p:spPr>
      </p:pic>
      <p:sp>
        <p:nvSpPr>
          <p:cNvPr name="AutoShape 6" id="6"/>
          <p:cNvSpPr/>
          <p:nvPr/>
        </p:nvSpPr>
        <p:spPr>
          <a:xfrm rot="0" flipH="false" flipV="false">
            <a:off x="889000" y="2667000"/>
            <a:ext cx="1778000" cy="152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400">
                <a:solidFill>
                  <a:srgbClr val="889E9E"/>
                </a:solidFill>
                <a:latin typeface="Noto Sans SC"/>
                <a:ea typeface="Noto Sans SC"/>
                <a:cs typeface="Noto Sans SC"/>
                <a:sym typeface="Noto Sans SC"/>
              </a:rPr>
              <a:t>01</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spcBef>
                <a:spcPts val="800"/>
              </a:spcBef>
            </a:pPr>
            <a:r>
              <a:rPr lang="en-US" b="true" i="false" strike="noStrike" u="none" sz="1600">
                <a:solidFill>
                  <a:srgbClr val="2F4F4F"/>
                </a:solidFill>
                <a:latin typeface="Noto Sans SC"/>
                <a:ea typeface="Noto Sans SC"/>
                <a:cs typeface="Noto Sans SC"/>
                <a:sym typeface="Noto Sans SC"/>
              </a:rPr>
              <a:t>来电触发</a:t>
            </a:r>
            <a:r>
              <a:rPr lang="en-US" b="false" i="false" strike="noStrike" u="none" sz="1600">
                <a:solidFill>
                  <a:srgbClr val="1F2329"/>
                </a:solidFill>
                <a:latin typeface="Noto Sans SC"/>
                <a:ea typeface="Noto Sans SC"/>
                <a:cs typeface="Noto Sans SC"/>
                <a:sym typeface="Noto Sans SC"/>
              </a:rPr>
              <a:t/>
            </a:r>
          </a:p>
          <a:p>
            <a:pPr algn="ctr" indent="0">
              <a:lnSpc>
                <a:spcPct val="108333"/>
              </a:lnSpc>
              <a:spcBef>
                <a:spcPts val="1000"/>
              </a:spcBef>
            </a:pPr>
            <a:r>
              <a:rPr lang="en-US" b="false" i="false" strike="noStrike" u="none" sz="1200">
                <a:solidFill>
                  <a:srgbClr val="555555"/>
                </a:solidFill>
                <a:latin typeface="Noto Sans SC"/>
                <a:ea typeface="Noto Sans SC"/>
                <a:cs typeface="Noto Sans SC"/>
                <a:sym typeface="Noto Sans SC"/>
              </a:rPr>
              <a:t>电话打入，系统自动捕获事件并提取关键信息。</a:t>
            </a:r>
          </a:p>
        </p:txBody>
      </p:sp>
      <p:sp>
        <p:nvSpPr>
          <p:cNvPr name="AutoShape 7" id="7"/>
          <p:cNvSpPr/>
          <p:nvPr/>
        </p:nvSpPr>
        <p:spPr>
          <a:xfrm rot="0" flipH="false" flipV="false">
            <a:off x="2984500" y="1651000"/>
            <a:ext cx="2032000" cy="2794000"/>
          </a:xfrm>
          <a:prstGeom prst="roundRect">
            <a:avLst>
              <a:gd name="adj" fmla="val 5000"/>
            </a:avLst>
          </a:prstGeom>
          <a:solidFill>
            <a:srgbClr val="FFFFFF">
              <a:alpha val="100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644900" y="1841500"/>
            <a:ext cx="609600" cy="609600"/>
          </a:xfrm>
          <a:prstGeom prst="rect">
            <a:avLst/>
          </a:prstGeom>
        </p:spPr>
      </p:pic>
      <p:sp>
        <p:nvSpPr>
          <p:cNvPr name="AutoShape 9" id="9"/>
          <p:cNvSpPr/>
          <p:nvPr/>
        </p:nvSpPr>
        <p:spPr>
          <a:xfrm rot="0" flipH="false" flipV="false">
            <a:off x="3111500" y="2667000"/>
            <a:ext cx="1778000" cy="152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400">
                <a:solidFill>
                  <a:srgbClr val="889E9E"/>
                </a:solidFill>
                <a:latin typeface="Noto Sans SC"/>
                <a:ea typeface="Noto Sans SC"/>
                <a:cs typeface="Noto Sans SC"/>
                <a:sym typeface="Noto Sans SC"/>
              </a:rPr>
              <a:t>02</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spcBef>
                <a:spcPts val="800"/>
              </a:spcBef>
            </a:pPr>
            <a:r>
              <a:rPr lang="en-US" b="true" i="false" strike="noStrike" u="none" sz="1600">
                <a:solidFill>
                  <a:srgbClr val="2F4F4F"/>
                </a:solidFill>
                <a:latin typeface="Noto Sans SC"/>
                <a:ea typeface="Noto Sans SC"/>
                <a:cs typeface="Noto Sans SC"/>
                <a:sym typeface="Noto Sans SC"/>
              </a:rPr>
              <a:t>节点执行</a:t>
            </a:r>
            <a:r>
              <a:rPr lang="en-US" b="false" i="false" strike="noStrike" u="none" sz="1600">
                <a:solidFill>
                  <a:srgbClr val="1F2329"/>
                </a:solidFill>
                <a:latin typeface="Noto Sans SC"/>
                <a:ea typeface="Noto Sans SC"/>
                <a:cs typeface="Noto Sans SC"/>
                <a:sym typeface="Noto Sans SC"/>
              </a:rPr>
              <a:t/>
            </a:r>
          </a:p>
          <a:p>
            <a:pPr algn="ctr" indent="0">
              <a:lnSpc>
                <a:spcPct val="108333"/>
              </a:lnSpc>
              <a:spcBef>
                <a:spcPts val="1000"/>
              </a:spcBef>
            </a:pPr>
            <a:r>
              <a:rPr lang="en-US" b="false" i="false" strike="noStrike" u="none" sz="1200">
                <a:solidFill>
                  <a:srgbClr val="555555"/>
                </a:solidFill>
                <a:latin typeface="Noto Sans SC"/>
                <a:ea typeface="Noto Sans SC"/>
                <a:cs typeface="Noto Sans SC"/>
                <a:sym typeface="Noto Sans SC"/>
              </a:rPr>
              <a:t>系统按预设逻辑，从流程的第一个节点开始依次执行指令。</a:t>
            </a:r>
          </a:p>
        </p:txBody>
      </p:sp>
      <p:sp>
        <p:nvSpPr>
          <p:cNvPr name="AutoShape 10" id="10"/>
          <p:cNvSpPr/>
          <p:nvPr/>
        </p:nvSpPr>
        <p:spPr>
          <a:xfrm rot="0" flipH="false" flipV="false">
            <a:off x="5207000" y="1651000"/>
            <a:ext cx="2032000" cy="2794000"/>
          </a:xfrm>
          <a:prstGeom prst="roundRect">
            <a:avLst>
              <a:gd name="adj" fmla="val 5000"/>
            </a:avLst>
          </a:prstGeom>
          <a:solidFill>
            <a:srgbClr val="FFFFFF">
              <a:alpha val="100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5867400" y="1841500"/>
            <a:ext cx="609600" cy="609600"/>
          </a:xfrm>
          <a:prstGeom prst="rect">
            <a:avLst/>
          </a:prstGeom>
        </p:spPr>
      </p:pic>
      <p:sp>
        <p:nvSpPr>
          <p:cNvPr name="AutoShape 12" id="12"/>
          <p:cNvSpPr/>
          <p:nvPr/>
        </p:nvSpPr>
        <p:spPr>
          <a:xfrm rot="0" flipH="false" flipV="false">
            <a:off x="5334000" y="2667000"/>
            <a:ext cx="1778000" cy="152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400">
                <a:solidFill>
                  <a:srgbClr val="889E9E"/>
                </a:solidFill>
                <a:latin typeface="Noto Sans SC"/>
                <a:ea typeface="Noto Sans SC"/>
                <a:cs typeface="Noto Sans SC"/>
                <a:sym typeface="Noto Sans SC"/>
              </a:rPr>
              <a:t>03</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spcBef>
                <a:spcPts val="800"/>
              </a:spcBef>
            </a:pPr>
            <a:r>
              <a:rPr lang="en-US" b="true" i="false" strike="noStrike" u="none" sz="1600">
                <a:solidFill>
                  <a:srgbClr val="2F4F4F"/>
                </a:solidFill>
                <a:latin typeface="Noto Sans SC"/>
                <a:ea typeface="Noto Sans SC"/>
                <a:cs typeface="Noto Sans SC"/>
                <a:sym typeface="Noto Sans SC"/>
              </a:rPr>
              <a:t>条件路由</a:t>
            </a:r>
            <a:r>
              <a:rPr lang="en-US" b="false" i="false" strike="noStrike" u="none" sz="1600">
                <a:solidFill>
                  <a:srgbClr val="1F2329"/>
                </a:solidFill>
                <a:latin typeface="Noto Sans SC"/>
                <a:ea typeface="Noto Sans SC"/>
                <a:cs typeface="Noto Sans SC"/>
                <a:sym typeface="Noto Sans SC"/>
              </a:rPr>
              <a:t/>
            </a:r>
          </a:p>
          <a:p>
            <a:pPr algn="ctr" indent="0">
              <a:lnSpc>
                <a:spcPct val="108333"/>
              </a:lnSpc>
              <a:spcBef>
                <a:spcPts val="1000"/>
              </a:spcBef>
            </a:pPr>
            <a:r>
              <a:rPr lang="en-US" b="false" i="false" strike="noStrike" u="none" sz="1200">
                <a:solidFill>
                  <a:srgbClr val="555555"/>
                </a:solidFill>
                <a:latin typeface="Noto Sans SC"/>
                <a:ea typeface="Noto Sans SC"/>
                <a:cs typeface="Noto Sans SC"/>
                <a:sym typeface="Noto Sans SC"/>
              </a:rPr>
              <a:t>遇到逻辑分支节点时，根据设定规则自动判断并选择下一路径。</a:t>
            </a:r>
          </a:p>
        </p:txBody>
      </p:sp>
      <p:sp>
        <p:nvSpPr>
          <p:cNvPr name="AutoShape 13" id="13"/>
          <p:cNvSpPr/>
          <p:nvPr/>
        </p:nvSpPr>
        <p:spPr>
          <a:xfrm rot="0" flipH="false" flipV="false">
            <a:off x="7429500" y="1651000"/>
            <a:ext cx="2032000" cy="2794000"/>
          </a:xfrm>
          <a:prstGeom prst="roundRect">
            <a:avLst>
              <a:gd name="adj" fmla="val 5000"/>
            </a:avLst>
          </a:prstGeom>
          <a:solidFill>
            <a:srgbClr val="FFFFFF">
              <a:alpha val="100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8089900" y="1841500"/>
            <a:ext cx="609600" cy="609600"/>
          </a:xfrm>
          <a:prstGeom prst="rect">
            <a:avLst/>
          </a:prstGeom>
        </p:spPr>
      </p:pic>
      <p:sp>
        <p:nvSpPr>
          <p:cNvPr name="AutoShape 15" id="15"/>
          <p:cNvSpPr/>
          <p:nvPr/>
        </p:nvSpPr>
        <p:spPr>
          <a:xfrm rot="0" flipH="false" flipV="false">
            <a:off x="7556500" y="2667000"/>
            <a:ext cx="1778000" cy="152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400">
                <a:solidFill>
                  <a:srgbClr val="889E9E"/>
                </a:solidFill>
                <a:latin typeface="Noto Sans SC"/>
                <a:ea typeface="Noto Sans SC"/>
                <a:cs typeface="Noto Sans SC"/>
                <a:sym typeface="Noto Sans SC"/>
              </a:rPr>
              <a:t>04</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spcBef>
                <a:spcPts val="800"/>
              </a:spcBef>
            </a:pPr>
            <a:r>
              <a:rPr lang="en-US" b="true" i="false" strike="noStrike" u="none" sz="1600">
                <a:solidFill>
                  <a:srgbClr val="2F4F4F"/>
                </a:solidFill>
                <a:latin typeface="Noto Sans SC"/>
                <a:ea typeface="Noto Sans SC"/>
                <a:cs typeface="Noto Sans SC"/>
                <a:sym typeface="Noto Sans SC"/>
              </a:rPr>
              <a:t>动作执行</a:t>
            </a:r>
            <a:r>
              <a:rPr lang="en-US" b="false" i="false" strike="noStrike" u="none" sz="1600">
                <a:solidFill>
                  <a:srgbClr val="1F2329"/>
                </a:solidFill>
                <a:latin typeface="Noto Sans SC"/>
                <a:ea typeface="Noto Sans SC"/>
                <a:cs typeface="Noto Sans SC"/>
                <a:sym typeface="Noto Sans SC"/>
              </a:rPr>
              <a:t/>
            </a:r>
          </a:p>
          <a:p>
            <a:pPr algn="ctr" indent="0">
              <a:lnSpc>
                <a:spcPct val="108333"/>
              </a:lnSpc>
              <a:spcBef>
                <a:spcPts val="1000"/>
              </a:spcBef>
            </a:pPr>
            <a:r>
              <a:rPr lang="en-US" b="false" i="false" strike="noStrike" u="none" sz="1200">
                <a:solidFill>
                  <a:srgbClr val="555555"/>
                </a:solidFill>
                <a:latin typeface="Noto Sans SC"/>
                <a:ea typeface="Noto Sans SC"/>
                <a:cs typeface="Noto Sans SC"/>
                <a:sym typeface="Noto Sans SC"/>
              </a:rPr>
              <a:t>执行播放语音、转接人工、发送通知短信等具体业务动作。</a:t>
            </a:r>
          </a:p>
        </p:txBody>
      </p:sp>
      <p:sp>
        <p:nvSpPr>
          <p:cNvPr name="AutoShape 16" id="16"/>
          <p:cNvSpPr/>
          <p:nvPr/>
        </p:nvSpPr>
        <p:spPr>
          <a:xfrm rot="0" flipH="false" flipV="false">
            <a:off x="9652000" y="1651000"/>
            <a:ext cx="2032000" cy="2794000"/>
          </a:xfrm>
          <a:prstGeom prst="roundRect">
            <a:avLst>
              <a:gd name="adj" fmla="val 5000"/>
            </a:avLst>
          </a:prstGeom>
          <a:solidFill>
            <a:srgbClr val="FFFFFF">
              <a:alpha val="100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312400" y="1841500"/>
            <a:ext cx="609600" cy="609600"/>
          </a:xfrm>
          <a:prstGeom prst="rect">
            <a:avLst/>
          </a:prstGeom>
        </p:spPr>
      </p:pic>
      <p:sp>
        <p:nvSpPr>
          <p:cNvPr name="AutoShape 18" id="18"/>
          <p:cNvSpPr/>
          <p:nvPr/>
        </p:nvSpPr>
        <p:spPr>
          <a:xfrm rot="0" flipH="false" flipV="false">
            <a:off x="9779000" y="2667000"/>
            <a:ext cx="1778000" cy="152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400">
                <a:solidFill>
                  <a:srgbClr val="889E9E"/>
                </a:solidFill>
                <a:latin typeface="Noto Sans SC"/>
                <a:ea typeface="Noto Sans SC"/>
                <a:cs typeface="Noto Sans SC"/>
                <a:sym typeface="Noto Sans SC"/>
              </a:rPr>
              <a:t>05</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spcBef>
                <a:spcPts val="800"/>
              </a:spcBef>
            </a:pPr>
            <a:r>
              <a:rPr lang="en-US" b="true" i="false" strike="noStrike" u="none" sz="1600">
                <a:solidFill>
                  <a:srgbClr val="2F4F4F"/>
                </a:solidFill>
                <a:latin typeface="Noto Sans SC"/>
                <a:ea typeface="Noto Sans SC"/>
                <a:cs typeface="Noto Sans SC"/>
                <a:sym typeface="Noto Sans SC"/>
              </a:rPr>
              <a:t>通话结束</a:t>
            </a:r>
            <a:r>
              <a:rPr lang="en-US" b="false" i="false" strike="noStrike" u="none" sz="1600">
                <a:solidFill>
                  <a:srgbClr val="1F2329"/>
                </a:solidFill>
                <a:latin typeface="Noto Sans SC"/>
                <a:ea typeface="Noto Sans SC"/>
                <a:cs typeface="Noto Sans SC"/>
                <a:sym typeface="Noto Sans SC"/>
              </a:rPr>
              <a:t/>
            </a:r>
          </a:p>
          <a:p>
            <a:pPr algn="ctr" indent="0">
              <a:lnSpc>
                <a:spcPct val="108333"/>
              </a:lnSpc>
              <a:spcBef>
                <a:spcPts val="1000"/>
              </a:spcBef>
            </a:pPr>
            <a:r>
              <a:rPr lang="en-US" b="false" i="false" strike="noStrike" u="none" sz="1200">
                <a:solidFill>
                  <a:srgbClr val="555555"/>
                </a:solidFill>
                <a:latin typeface="Noto Sans SC"/>
                <a:ea typeface="Noto Sans SC"/>
                <a:cs typeface="Noto Sans SC"/>
                <a:sym typeface="Noto Sans SC"/>
              </a:rPr>
              <a:t>流程执行完毕或通话中断，系统自动记录全量日志并结束会话。</a:t>
            </a:r>
          </a:p>
        </p:txBody>
      </p:sp>
      <p:sp>
        <p:nvSpPr>
          <p:cNvPr name="AutoShape 19" id="19"/>
          <p:cNvSpPr/>
          <p:nvPr/>
        </p:nvSpPr>
        <p:spPr>
          <a:xfrm rot="0" flipH="false" flipV="false">
            <a:off x="762000" y="4826000"/>
            <a:ext cx="10922000" cy="1524000"/>
          </a:xfrm>
          <a:prstGeom prst="roundRect">
            <a:avLst>
              <a:gd name="adj" fmla="val 10000"/>
            </a:avLst>
          </a:prstGeom>
          <a:solidFill>
            <a:srgbClr val="2F4F4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1143000" y="5207000"/>
            <a:ext cx="762000" cy="762000"/>
          </a:xfrm>
          <a:prstGeom prst="rect">
            <a:avLst/>
          </a:prstGeom>
        </p:spPr>
      </p:pic>
      <p:sp>
        <p:nvSpPr>
          <p:cNvPr name="AutoShape 21" id="21"/>
          <p:cNvSpPr/>
          <p:nvPr/>
        </p:nvSpPr>
        <p:spPr>
          <a:xfrm rot="0" flipH="false" flipV="false">
            <a:off x="2286000" y="5016500"/>
            <a:ext cx="9017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核心保障：确定性执行</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false" i="false" strike="noStrike" u="none" sz="1300">
                <a:solidFill>
                  <a:srgbClr val="EBEBEB"/>
                </a:solidFill>
                <a:latin typeface="Noto Sans SC"/>
                <a:ea typeface="Noto Sans SC"/>
                <a:cs typeface="Noto Sans SC"/>
                <a:sym typeface="Noto Sans SC"/>
              </a:rPr>
              <a:t>每个节点的行为都是可预测的，从根本上保证业务流程的稳定性。同时，所有AI节点均配置完善的</a:t>
            </a:r>
            <a:r>
              <a:rPr lang="en-US" b="true" i="false" strike="noStrike" u="none" sz="1300">
                <a:solidFill>
                  <a:srgbClr val="FFD700"/>
                </a:solidFill>
                <a:latin typeface="Noto Sans SC"/>
                <a:ea typeface="Noto Sans SC"/>
                <a:cs typeface="Noto Sans SC"/>
                <a:sym typeface="Noto Sans SC"/>
              </a:rPr>
              <a:t>降级方案</a:t>
            </a:r>
            <a:r>
              <a:rPr lang="en-US" b="false" i="false" strike="noStrike" u="none" sz="1300">
                <a:solidFill>
                  <a:srgbClr val="EBEBEB"/>
                </a:solidFill>
                <a:latin typeface="Noto Sans SC"/>
                <a:ea typeface="Noto Sans SC"/>
                <a:cs typeface="Noto Sans SC"/>
                <a:sym typeface="Noto Sans SC"/>
              </a:rPr>
              <a:t>，当AI服务不可用时，系统会毫秒级自动回退到可靠的传统规则流程（如按键导航菜单），确保客户服务永不中断。</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三步构建语音接待员</a:t>
            </a:r>
            <a:endParaRPr lang="en-US" sz="1100"/>
          </a:p>
        </p:txBody>
      </p:sp>
      <p:sp>
        <p:nvSpPr>
          <p:cNvPr name="AutoShape 4" id="4"/>
          <p:cNvSpPr/>
          <p:nvPr/>
        </p:nvSpPr>
        <p:spPr>
          <a:xfrm rot="0" flipH="false" flipV="false">
            <a:off x="762000" y="1905000"/>
            <a:ext cx="3302000" cy="4191000"/>
          </a:xfrm>
          <a:prstGeom prst="roundRect">
            <a:avLst>
              <a:gd name="adj" fmla="val 4615"/>
            </a:avLst>
          </a:prstGeom>
          <a:solidFill>
            <a:srgbClr val="FFFFFF">
              <a:alpha val="95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2209800"/>
            <a:ext cx="609600" cy="609600"/>
          </a:xfrm>
          <a:prstGeom prst="rect">
            <a:avLst/>
          </a:prstGeom>
        </p:spPr>
      </p:pic>
      <p:sp>
        <p:nvSpPr>
          <p:cNvPr name="AutoShape 6" id="6"/>
          <p:cNvSpPr/>
          <p:nvPr/>
        </p:nvSpPr>
        <p:spPr>
          <a:xfrm rot="0" flipH="false" flipV="false">
            <a:off x="1879600" y="2209800"/>
            <a:ext cx="1905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F4F4F"/>
                </a:solidFill>
                <a:latin typeface="Noto Sans SC"/>
                <a:ea typeface="Noto Sans SC"/>
                <a:cs typeface="Noto Sans SC"/>
                <a:sym typeface="Noto Sans SC"/>
              </a:rPr>
              <a:t>拖拽节点</a:t>
            </a:r>
            <a:endParaRPr lang="en-US" sz="1100"/>
          </a:p>
        </p:txBody>
      </p:sp>
      <p:sp>
        <p:nvSpPr>
          <p:cNvPr name="AutoShape 7" id="7"/>
          <p:cNvSpPr/>
          <p:nvPr/>
        </p:nvSpPr>
        <p:spPr>
          <a:xfrm rot="0" flipH="false" flipV="false">
            <a:off x="1016000" y="3175000"/>
            <a:ext cx="2794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64646"/>
                </a:solidFill>
                <a:latin typeface="Noto Sans SC"/>
                <a:ea typeface="Noto Sans SC"/>
                <a:cs typeface="Noto Sans SC"/>
                <a:sym typeface="Noto Sans SC"/>
              </a:rPr>
              <a:t>从左侧的节点库中，将您需要的节点（如问候、提问、转接）拖拽到画布上。我们提供了19种覆盖全场景的节点，满足各类业务需求。</a:t>
            </a:r>
            <a:endParaRPr lang="en-US" sz="1100"/>
          </a:p>
        </p:txBody>
      </p:sp>
      <p:sp>
        <p:nvSpPr>
          <p:cNvPr name="AutoShape 8" id="8"/>
          <p:cNvSpPr/>
          <p:nvPr/>
        </p:nvSpPr>
        <p:spPr>
          <a:xfrm rot="0" flipH="false" flipV="false">
            <a:off x="4445000" y="1905000"/>
            <a:ext cx="3302000" cy="4191000"/>
          </a:xfrm>
          <a:prstGeom prst="roundRect">
            <a:avLst>
              <a:gd name="adj" fmla="val 4615"/>
            </a:avLst>
          </a:prstGeom>
          <a:solidFill>
            <a:srgbClr val="FFFFFF">
              <a:alpha val="95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749800" y="2209800"/>
            <a:ext cx="609600" cy="609600"/>
          </a:xfrm>
          <a:prstGeom prst="rect">
            <a:avLst/>
          </a:prstGeom>
        </p:spPr>
      </p:pic>
      <p:sp>
        <p:nvSpPr>
          <p:cNvPr name="AutoShape 10" id="10"/>
          <p:cNvSpPr/>
          <p:nvPr/>
        </p:nvSpPr>
        <p:spPr>
          <a:xfrm rot="0" flipH="false" flipV="false">
            <a:off x="5562600" y="2209800"/>
            <a:ext cx="1905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F4F4F"/>
                </a:solidFill>
                <a:latin typeface="Noto Sans SC"/>
                <a:ea typeface="Noto Sans SC"/>
                <a:cs typeface="Noto Sans SC"/>
                <a:sym typeface="Noto Sans SC"/>
              </a:rPr>
              <a:t>连线配置</a:t>
            </a:r>
            <a:endParaRPr lang="en-US" sz="1100"/>
          </a:p>
        </p:txBody>
      </p:sp>
      <p:sp>
        <p:nvSpPr>
          <p:cNvPr name="AutoShape 11" id="11"/>
          <p:cNvSpPr/>
          <p:nvPr/>
        </p:nvSpPr>
        <p:spPr>
          <a:xfrm rot="0" flipH="false" flipV="false">
            <a:off x="4699000" y="3175000"/>
            <a:ext cx="2794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64646"/>
                </a:solidFill>
                <a:latin typeface="Noto Sans SC"/>
                <a:ea typeface="Noto Sans SC"/>
                <a:cs typeface="Noto Sans SC"/>
                <a:sym typeface="Noto Sans SC"/>
              </a:rPr>
              <a:t>使用鼠标连接各个节点，清晰地表达通话的流转逻辑。双击任何一个节点，即可打开配置面板，灵活设置话术内容、跳转条件、API参数等核心信息。</a:t>
            </a:r>
            <a:endParaRPr lang="en-US" sz="1100"/>
          </a:p>
        </p:txBody>
      </p:sp>
      <p:sp>
        <p:nvSpPr>
          <p:cNvPr name="AutoShape 12" id="12"/>
          <p:cNvSpPr/>
          <p:nvPr/>
        </p:nvSpPr>
        <p:spPr>
          <a:xfrm rot="0" flipH="false" flipV="false">
            <a:off x="8128000" y="1905000"/>
            <a:ext cx="3302000" cy="4191000"/>
          </a:xfrm>
          <a:prstGeom prst="roundRect">
            <a:avLst>
              <a:gd name="adj" fmla="val 4615"/>
            </a:avLst>
          </a:prstGeom>
          <a:solidFill>
            <a:srgbClr val="FFFFFF">
              <a:alpha val="95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432800" y="2209800"/>
            <a:ext cx="609600" cy="609600"/>
          </a:xfrm>
          <a:prstGeom prst="rect">
            <a:avLst/>
          </a:prstGeom>
        </p:spPr>
      </p:pic>
      <p:sp>
        <p:nvSpPr>
          <p:cNvPr name="AutoShape 14" id="14"/>
          <p:cNvSpPr/>
          <p:nvPr/>
        </p:nvSpPr>
        <p:spPr>
          <a:xfrm rot="0" flipH="false" flipV="false">
            <a:off x="9245600" y="2209800"/>
            <a:ext cx="1905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F4F4F"/>
                </a:solidFill>
                <a:latin typeface="Noto Sans SC"/>
                <a:ea typeface="Noto Sans SC"/>
                <a:cs typeface="Noto Sans SC"/>
                <a:sym typeface="Noto Sans SC"/>
              </a:rPr>
              <a:t>模拟发布</a:t>
            </a:r>
            <a:endParaRPr lang="en-US" sz="1100"/>
          </a:p>
        </p:txBody>
      </p:sp>
      <p:sp>
        <p:nvSpPr>
          <p:cNvPr name="AutoShape 15" id="15"/>
          <p:cNvSpPr/>
          <p:nvPr/>
        </p:nvSpPr>
        <p:spPr>
          <a:xfrm rot="0" flipH="false" flipV="false">
            <a:off x="8382000" y="3175000"/>
            <a:ext cx="2794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64646"/>
                </a:solidFill>
                <a:latin typeface="Noto Sans SC"/>
                <a:ea typeface="Noto Sans SC"/>
                <a:cs typeface="Noto Sans SC"/>
                <a:sym typeface="Noto Sans SC"/>
              </a:rPr>
              <a:t>发布前，使用“文字模拟”功能即时验证流程是否正确，避免逻辑错误。确认无误后，点击“一键发布”，您的语音接待员即可正式上线工作。</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画布交互设计：为效率而生</a:t>
            </a:r>
            <a:endParaRPr lang="en-US" sz="1100"/>
          </a:p>
        </p:txBody>
      </p:sp>
      <p:sp>
        <p:nvSpPr>
          <p:cNvPr name="AutoShape 3" id="3"/>
          <p:cNvSpPr/>
          <p:nvPr/>
        </p:nvSpPr>
        <p:spPr>
          <a:xfrm rot="0" flipH="false" flipV="false">
            <a:off x="762000" y="1778000"/>
            <a:ext cx="5207000" cy="2159000"/>
          </a:xfrm>
          <a:prstGeom prst="roundRect">
            <a:avLst>
              <a:gd name="adj" fmla="val 7058"/>
            </a:avLst>
          </a:prstGeom>
          <a:solidFill>
            <a:srgbClr val="FFFFFF">
              <a:alpha val="9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2222500"/>
            <a:ext cx="762000" cy="762000"/>
          </a:xfrm>
          <a:prstGeom prst="rect">
            <a:avLst/>
          </a:prstGeom>
        </p:spPr>
      </p:pic>
      <p:sp>
        <p:nvSpPr>
          <p:cNvPr name="AutoShape 5" id="5"/>
          <p:cNvSpPr/>
          <p:nvPr/>
        </p:nvSpPr>
        <p:spPr>
          <a:xfrm rot="0" flipH="false" flipV="false">
            <a:off x="2082800" y="2032000"/>
            <a:ext cx="3556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2F4F4F"/>
                </a:solidFill>
                <a:latin typeface="Noto Sans SC"/>
                <a:ea typeface="Noto Sans SC"/>
                <a:cs typeface="Noto Sans SC"/>
                <a:sym typeface="Noto Sans SC"/>
              </a:rPr>
              <a:t>直观操作</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false" i="false" strike="noStrike" u="none" sz="1300">
                <a:solidFill>
                  <a:srgbClr val="4B5563"/>
                </a:solidFill>
                <a:latin typeface="Noto Sans SC"/>
                <a:ea typeface="Noto Sans SC"/>
                <a:cs typeface="Noto Sans SC"/>
                <a:sym typeface="Noto Sans SC"/>
              </a:rPr>
              <a:t>拖拽添加节点，连线表达数据流，双击配置参数。所有操作都符合用户的直觉，上手即用。</a:t>
            </a:r>
          </a:p>
        </p:txBody>
      </p:sp>
      <p:sp>
        <p:nvSpPr>
          <p:cNvPr name="AutoShape 6" id="6"/>
          <p:cNvSpPr/>
          <p:nvPr/>
        </p:nvSpPr>
        <p:spPr>
          <a:xfrm rot="0" flipH="false" flipV="false">
            <a:off x="6223000" y="1778000"/>
            <a:ext cx="5207000" cy="2159000"/>
          </a:xfrm>
          <a:prstGeom prst="roundRect">
            <a:avLst>
              <a:gd name="adj" fmla="val 7058"/>
            </a:avLst>
          </a:prstGeom>
          <a:solidFill>
            <a:srgbClr val="FFFFFF">
              <a:alpha val="9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27800" y="2222500"/>
            <a:ext cx="762000" cy="762000"/>
          </a:xfrm>
          <a:prstGeom prst="rect">
            <a:avLst/>
          </a:prstGeom>
        </p:spPr>
      </p:pic>
      <p:sp>
        <p:nvSpPr>
          <p:cNvPr name="AutoShape 8" id="8"/>
          <p:cNvSpPr/>
          <p:nvPr/>
        </p:nvSpPr>
        <p:spPr>
          <a:xfrm rot="0" flipH="false" flipV="false">
            <a:off x="7543800" y="2032000"/>
            <a:ext cx="3556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2F4F4F"/>
                </a:solidFill>
                <a:latin typeface="Noto Sans SC"/>
                <a:ea typeface="Noto Sans SC"/>
                <a:cs typeface="Noto Sans SC"/>
                <a:sym typeface="Noto Sans SC"/>
              </a:rPr>
              <a:t>实时校验</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false" i="false" strike="noStrike" u="none" sz="1300">
                <a:solidFill>
                  <a:srgbClr val="4B5563"/>
                </a:solidFill>
                <a:latin typeface="Noto Sans SC"/>
                <a:ea typeface="Noto Sans SC"/>
                <a:cs typeface="Noto Sans SC"/>
                <a:sym typeface="Noto Sans SC"/>
              </a:rPr>
              <a:t>系统会实时检查流程中的环路、断路或必填项缺失等问题，并即时给出错误提示，防患于未然。</a:t>
            </a:r>
          </a:p>
        </p:txBody>
      </p:sp>
      <p:sp>
        <p:nvSpPr>
          <p:cNvPr name="AutoShape 9" id="9"/>
          <p:cNvSpPr/>
          <p:nvPr/>
        </p:nvSpPr>
        <p:spPr>
          <a:xfrm rot="0" flipH="false" flipV="false">
            <a:off x="762000" y="4191000"/>
            <a:ext cx="5207000" cy="2159000"/>
          </a:xfrm>
          <a:prstGeom prst="roundRect">
            <a:avLst>
              <a:gd name="adj" fmla="val 7058"/>
            </a:avLst>
          </a:prstGeom>
          <a:solidFill>
            <a:srgbClr val="FFFFFF">
              <a:alpha val="9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66800" y="4635500"/>
            <a:ext cx="762000" cy="762000"/>
          </a:xfrm>
          <a:prstGeom prst="rect">
            <a:avLst/>
          </a:prstGeom>
        </p:spPr>
      </p:pic>
      <p:sp>
        <p:nvSpPr>
          <p:cNvPr name="AutoShape 11" id="11"/>
          <p:cNvSpPr/>
          <p:nvPr/>
        </p:nvSpPr>
        <p:spPr>
          <a:xfrm rot="0" flipH="false" flipV="false">
            <a:off x="2082800" y="4445000"/>
            <a:ext cx="3556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2F4F4F"/>
                </a:solidFill>
                <a:latin typeface="Noto Sans SC"/>
                <a:ea typeface="Noto Sans SC"/>
                <a:cs typeface="Noto Sans SC"/>
                <a:sym typeface="Noto Sans SC"/>
              </a:rPr>
              <a:t>配置即时预览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false" i="false" strike="noStrike" u="none" sz="1300">
                <a:solidFill>
                  <a:srgbClr val="4B5563"/>
                </a:solidFill>
                <a:latin typeface="Noto Sans SC"/>
                <a:ea typeface="Noto Sans SC"/>
                <a:cs typeface="Noto Sans SC"/>
                <a:sym typeface="Noto Sans SC"/>
              </a:rPr>
              <a:t>修改话术文本后，可立即点击“试听”按钮，通过TTS文字转语音功能听到实际效果，所见即所得。</a:t>
            </a:r>
          </a:p>
        </p:txBody>
      </p:sp>
      <p:sp>
        <p:nvSpPr>
          <p:cNvPr name="AutoShape 12" id="12"/>
          <p:cNvSpPr/>
          <p:nvPr/>
        </p:nvSpPr>
        <p:spPr>
          <a:xfrm rot="0" flipH="false" flipV="false">
            <a:off x="6223000" y="4191000"/>
            <a:ext cx="5207000" cy="2159000"/>
          </a:xfrm>
          <a:prstGeom prst="roundRect">
            <a:avLst>
              <a:gd name="adj" fmla="val 7058"/>
            </a:avLst>
          </a:prstGeom>
          <a:solidFill>
            <a:srgbClr val="FFFFFF">
              <a:alpha val="9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527800" y="4635500"/>
            <a:ext cx="762000" cy="762000"/>
          </a:xfrm>
          <a:prstGeom prst="rect">
            <a:avLst/>
          </a:prstGeom>
        </p:spPr>
      </p:pic>
      <p:sp>
        <p:nvSpPr>
          <p:cNvPr name="AutoShape 14" id="14"/>
          <p:cNvSpPr/>
          <p:nvPr/>
        </p:nvSpPr>
        <p:spPr>
          <a:xfrm rot="0" flipH="false" flipV="false">
            <a:off x="7543800" y="4445000"/>
            <a:ext cx="3556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2F4F4F"/>
                </a:solidFill>
                <a:latin typeface="Noto Sans SC"/>
                <a:ea typeface="Noto Sans SC"/>
                <a:cs typeface="Noto Sans SC"/>
                <a:sym typeface="Noto Sans SC"/>
              </a:rPr>
              <a:t>专业画布工具</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false" i="false" strike="noStrike" u="none" sz="1300">
                <a:solidFill>
                  <a:srgbClr val="4B5563"/>
                </a:solidFill>
                <a:latin typeface="Noto Sans SC"/>
                <a:ea typeface="Noto Sans SC"/>
                <a:cs typeface="Noto Sans SC"/>
                <a:sym typeface="Noto Sans SC"/>
              </a:rPr>
              <a:t>支持无限缩放、平移和小地图功能，即使是包含数百个节点的大型复杂流程，也能轻松管理和查看。</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19个节点，四层递进，满足不同需求</a:t>
            </a:r>
            <a:endParaRPr lang="en-US" sz="1100"/>
          </a:p>
        </p:txBody>
      </p:sp>
      <p:sp>
        <p:nvSpPr>
          <p:cNvPr name="AutoShape 4" id="4"/>
          <p:cNvSpPr/>
          <p:nvPr/>
        </p:nvSpPr>
        <p:spPr>
          <a:xfrm rot="0" flipH="false" flipV="false">
            <a:off x="762000" y="1778000"/>
            <a:ext cx="2540000" cy="4318000"/>
          </a:xfrm>
          <a:prstGeom prst="roundRect">
            <a:avLst>
              <a:gd name="adj" fmla="val 6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2540000" cy="762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159000"/>
            <a:ext cx="406400" cy="406400"/>
          </a:xfrm>
          <a:prstGeom prst="rect">
            <a:avLst/>
          </a:prstGeom>
        </p:spPr>
      </p:pic>
      <p:sp>
        <p:nvSpPr>
          <p:cNvPr name="AutoShape 7" id="7"/>
          <p:cNvSpPr/>
          <p:nvPr/>
        </p:nvSpPr>
        <p:spPr>
          <a:xfrm rot="0" flipH="false" flipV="false">
            <a:off x="1524000" y="2108200"/>
            <a:ext cx="152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F4F4F"/>
                </a:solidFill>
                <a:latin typeface="Noto Sans SC"/>
                <a:ea typeface="Noto Sans SC"/>
                <a:cs typeface="Noto Sans SC"/>
                <a:sym typeface="Noto Sans SC"/>
              </a:rPr>
              <a:t>核心层</a:t>
            </a:r>
            <a:r>
              <a:rPr lang="en-US" b="false" i="false" strike="noStrike" u="none" sz="1800">
                <a:solidFill>
                  <a:srgbClr val="64748B"/>
                </a:solidFill>
                <a:latin typeface="Noto Sans SC"/>
                <a:ea typeface="Noto Sans SC"/>
                <a:cs typeface="Noto Sans SC"/>
                <a:sym typeface="Noto Sans SC"/>
              </a:rPr>
              <a:t>(8个节点)</a:t>
            </a:r>
            <a:endParaRPr lang="en-US" sz="1100"/>
          </a:p>
        </p:txBody>
      </p:sp>
      <p:sp>
        <p:nvSpPr>
          <p:cNvPr name="AutoShape 8" id="8"/>
          <p:cNvSpPr/>
          <p:nvPr/>
        </p:nvSpPr>
        <p:spPr>
          <a:xfrm rot="0" flipH="false" flipV="false">
            <a:off x="952500" y="2921000"/>
            <a:ext cx="2159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475569"/>
                </a:solidFill>
                <a:latin typeface="Noto Sans SC"/>
                <a:ea typeface="Noto Sans SC"/>
                <a:cs typeface="Noto Sans SC"/>
                <a:sym typeface="Noto Sans SC"/>
              </a:rPr>
              <a:t>构成通话流程的基础骨架，支撑起完整的交互链路。</a:t>
            </a:r>
            <a:endParaRPr lang="en-US" sz="1100"/>
          </a:p>
        </p:txBody>
      </p:sp>
      <p:sp>
        <p:nvSpPr>
          <p:cNvPr name="AutoShape 9" id="9"/>
          <p:cNvSpPr/>
          <p:nvPr/>
        </p:nvSpPr>
        <p:spPr>
          <a:xfrm rot="0" flipH="false" flipV="false">
            <a:off x="952500" y="3810000"/>
            <a:ext cx="21590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200">
                <a:solidFill>
                  <a:srgbClr val="64748B"/>
                </a:solidFill>
                <a:latin typeface="Noto Sans SC"/>
                <a:ea typeface="Noto Sans SC"/>
                <a:cs typeface="Noto Sans SC"/>
                <a:sym typeface="Noto Sans SC"/>
              </a:rPr>
              <a:t>• 来电触发 / 问候语</a:t>
            </a:r>
            <a:r>
              <a:rPr lang="en-US" b="false" i="false" strike="noStrike" u="none" sz="1200">
                <a:solidFill>
                  <a:srgbClr val="64748B"/>
                </a:solidFill>
                <a:latin typeface="Noto Sans SC"/>
                <a:ea typeface="Noto Sans SC"/>
                <a:cs typeface="Noto Sans SC"/>
                <a:sym typeface="Noto Sans SC"/>
              </a:rPr>
              <a:t/>
            </a:r>
            <a:br>
              <a:rPr lang="en-US" b="false" i="false" strike="noStrike" u="none" sz="1200">
                <a:solidFill>
                  <a:srgbClr val="64748B"/>
                </a:solidFill>
                <a:latin typeface="Noto Sans SC"/>
                <a:ea typeface="Noto Sans SC"/>
                <a:cs typeface="Noto Sans SC"/>
                <a:sym typeface="Noto Sans SC"/>
              </a:rPr>
            </a:br>
            <a:r>
              <a:rPr lang="en-US" b="false" i="false" strike="noStrike" u="none" sz="1200">
                <a:solidFill>
                  <a:srgbClr val="64748B"/>
                </a:solidFill>
                <a:latin typeface="Noto Sans SC"/>
                <a:ea typeface="Noto Sans SC"/>
                <a:cs typeface="Noto Sans SC"/>
                <a:sym typeface="Noto Sans SC"/>
              </a:rPr>
              <a:t>• 提问与收集信息</a:t>
            </a:r>
            <a:r>
              <a:rPr lang="en-US" b="false" i="false" strike="noStrike" u="none" sz="1200">
                <a:solidFill>
                  <a:srgbClr val="64748B"/>
                </a:solidFill>
                <a:latin typeface="Noto Sans SC"/>
                <a:ea typeface="Noto Sans SC"/>
                <a:cs typeface="Noto Sans SC"/>
                <a:sym typeface="Noto Sans SC"/>
              </a:rPr>
              <a:t/>
            </a:r>
            <a:br>
              <a:rPr lang="en-US" b="false" i="false" strike="noStrike" u="none" sz="1200">
                <a:solidFill>
                  <a:srgbClr val="64748B"/>
                </a:solidFill>
                <a:latin typeface="Noto Sans SC"/>
                <a:ea typeface="Noto Sans SC"/>
                <a:cs typeface="Noto Sans SC"/>
                <a:sym typeface="Noto Sans SC"/>
              </a:rPr>
            </a:br>
            <a:r>
              <a:rPr lang="en-US" b="false" i="false" strike="noStrike" u="none" sz="1200">
                <a:solidFill>
                  <a:srgbClr val="64748B"/>
                </a:solidFill>
                <a:latin typeface="Noto Sans SC"/>
                <a:ea typeface="Noto Sans SC"/>
                <a:cs typeface="Noto Sans SC"/>
                <a:sym typeface="Noto Sans SC"/>
              </a:rPr>
              <a:t>• 转接呼叫 / 发送短信</a:t>
            </a:r>
            <a:r>
              <a:rPr lang="en-US" b="false" i="false" strike="noStrike" u="none" sz="1200">
                <a:solidFill>
                  <a:srgbClr val="64748B"/>
                </a:solidFill>
                <a:latin typeface="Noto Sans SC"/>
                <a:ea typeface="Noto Sans SC"/>
                <a:cs typeface="Noto Sans SC"/>
                <a:sym typeface="Noto Sans SC"/>
              </a:rPr>
              <a:t/>
            </a:r>
            <a:br>
              <a:rPr lang="en-US" b="false" i="false" strike="noStrike" u="none" sz="1200">
                <a:solidFill>
                  <a:srgbClr val="64748B"/>
                </a:solidFill>
                <a:latin typeface="Noto Sans SC"/>
                <a:ea typeface="Noto Sans SC"/>
                <a:cs typeface="Noto Sans SC"/>
                <a:sym typeface="Noto Sans SC"/>
              </a:rPr>
            </a:br>
            <a:r>
              <a:rPr lang="en-US" b="false" i="false" strike="noStrike" u="none" sz="1200">
                <a:solidFill>
                  <a:srgbClr val="64748B"/>
                </a:solidFill>
                <a:latin typeface="Noto Sans SC"/>
                <a:ea typeface="Noto Sans SC"/>
                <a:cs typeface="Noto Sans SC"/>
                <a:sym typeface="Noto Sans SC"/>
              </a:rPr>
              <a:t>• 记录数据 / 结束通话</a:t>
            </a:r>
            <a:endParaRPr lang="en-US" sz="1100"/>
          </a:p>
        </p:txBody>
      </p:sp>
      <p:sp>
        <p:nvSpPr>
          <p:cNvPr name="AutoShape 10" id="10"/>
          <p:cNvSpPr/>
          <p:nvPr/>
        </p:nvSpPr>
        <p:spPr>
          <a:xfrm rot="0" flipH="false" flipV="false">
            <a:off x="3556000" y="1778000"/>
            <a:ext cx="2540000" cy="4318000"/>
          </a:xfrm>
          <a:prstGeom prst="roundRect">
            <a:avLst>
              <a:gd name="adj" fmla="val 6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3556000" y="1778000"/>
            <a:ext cx="2540000" cy="762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810000" y="2159000"/>
            <a:ext cx="406400" cy="406400"/>
          </a:xfrm>
          <a:prstGeom prst="rect">
            <a:avLst/>
          </a:prstGeom>
        </p:spPr>
      </p:pic>
      <p:sp>
        <p:nvSpPr>
          <p:cNvPr name="AutoShape 13" id="13"/>
          <p:cNvSpPr/>
          <p:nvPr/>
        </p:nvSpPr>
        <p:spPr>
          <a:xfrm rot="0" flipH="false" flipV="false">
            <a:off x="4318000" y="2108200"/>
            <a:ext cx="152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F4F4F"/>
                </a:solidFill>
                <a:latin typeface="Noto Sans SC"/>
                <a:ea typeface="Noto Sans SC"/>
                <a:cs typeface="Noto Sans SC"/>
                <a:sym typeface="Noto Sans SC"/>
              </a:rPr>
              <a:t>逻辑层</a:t>
            </a:r>
            <a:r>
              <a:rPr lang="en-US" b="false" i="false" strike="noStrike" u="none" sz="1800">
                <a:solidFill>
                  <a:srgbClr val="64748B"/>
                </a:solidFill>
                <a:latin typeface="Noto Sans SC"/>
                <a:ea typeface="Noto Sans SC"/>
                <a:cs typeface="Noto Sans SC"/>
                <a:sym typeface="Noto Sans SC"/>
              </a:rPr>
              <a:t>(4个节点)</a:t>
            </a:r>
            <a:endParaRPr lang="en-US" sz="1100"/>
          </a:p>
        </p:txBody>
      </p:sp>
      <p:sp>
        <p:nvSpPr>
          <p:cNvPr name="AutoShape 14" id="14"/>
          <p:cNvSpPr/>
          <p:nvPr/>
        </p:nvSpPr>
        <p:spPr>
          <a:xfrm rot="0" flipH="false" flipV="false">
            <a:off x="3746500" y="2921000"/>
            <a:ext cx="2159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475569"/>
                </a:solidFill>
                <a:latin typeface="Noto Sans SC"/>
                <a:ea typeface="Noto Sans SC"/>
                <a:cs typeface="Noto Sans SC"/>
                <a:sym typeface="Noto Sans SC"/>
              </a:rPr>
              <a:t>实现流程的智能控制与分流，让交互更具灵活性。</a:t>
            </a:r>
            <a:endParaRPr lang="en-US" sz="1100"/>
          </a:p>
        </p:txBody>
      </p:sp>
      <p:sp>
        <p:nvSpPr>
          <p:cNvPr name="AutoShape 15" id="15"/>
          <p:cNvSpPr/>
          <p:nvPr/>
        </p:nvSpPr>
        <p:spPr>
          <a:xfrm rot="0" flipH="false" flipV="false">
            <a:off x="3746500" y="3810000"/>
            <a:ext cx="21590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200">
                <a:solidFill>
                  <a:srgbClr val="64748B"/>
                </a:solidFill>
                <a:latin typeface="Noto Sans SC"/>
                <a:ea typeface="Noto Sans SC"/>
                <a:cs typeface="Noto Sans SC"/>
                <a:sym typeface="Noto Sans SC"/>
              </a:rPr>
              <a:t>• 条件分支判断</a:t>
            </a:r>
            <a:r>
              <a:rPr lang="en-US" b="false" i="false" strike="noStrike" u="none" sz="1200">
                <a:solidFill>
                  <a:srgbClr val="64748B"/>
                </a:solidFill>
                <a:latin typeface="Noto Sans SC"/>
                <a:ea typeface="Noto Sans SC"/>
                <a:cs typeface="Noto Sans SC"/>
                <a:sym typeface="Noto Sans SC"/>
              </a:rPr>
              <a:t/>
            </a:r>
            <a:br>
              <a:rPr lang="en-US" b="false" i="false" strike="noStrike" u="none" sz="1200">
                <a:solidFill>
                  <a:srgbClr val="64748B"/>
                </a:solidFill>
                <a:latin typeface="Noto Sans SC"/>
                <a:ea typeface="Noto Sans SC"/>
                <a:cs typeface="Noto Sans SC"/>
                <a:sym typeface="Noto Sans SC"/>
              </a:rPr>
            </a:br>
            <a:r>
              <a:rPr lang="en-US" b="false" i="false" strike="noStrike" u="none" sz="1200">
                <a:solidFill>
                  <a:srgbClr val="64748B"/>
                </a:solidFill>
                <a:latin typeface="Noto Sans SC"/>
                <a:ea typeface="Noto Sans SC"/>
                <a:cs typeface="Noto Sans SC"/>
                <a:sym typeface="Noto Sans SC"/>
              </a:rPr>
              <a:t>• If-Else 逻辑处理</a:t>
            </a:r>
            <a:r>
              <a:rPr lang="en-US" b="false" i="false" strike="noStrike" u="none" sz="1200">
                <a:solidFill>
                  <a:srgbClr val="64748B"/>
                </a:solidFill>
                <a:latin typeface="Noto Sans SC"/>
                <a:ea typeface="Noto Sans SC"/>
                <a:cs typeface="Noto Sans SC"/>
                <a:sym typeface="Noto Sans SC"/>
              </a:rPr>
              <a:t/>
            </a:r>
            <a:br>
              <a:rPr lang="en-US" b="false" i="false" strike="noStrike" u="none" sz="1200">
                <a:solidFill>
                  <a:srgbClr val="64748B"/>
                </a:solidFill>
                <a:latin typeface="Noto Sans SC"/>
                <a:ea typeface="Noto Sans SC"/>
                <a:cs typeface="Noto Sans SC"/>
                <a:sym typeface="Noto Sans SC"/>
              </a:rPr>
            </a:br>
            <a:r>
              <a:rPr lang="en-US" b="false" i="false" strike="noStrike" u="none" sz="1200">
                <a:solidFill>
                  <a:srgbClr val="64748B"/>
                </a:solidFill>
                <a:latin typeface="Noto Sans SC"/>
                <a:ea typeface="Noto Sans SC"/>
                <a:cs typeface="Noto Sans SC"/>
                <a:sym typeface="Noto Sans SC"/>
              </a:rPr>
              <a:t>• 营业时间智能判断</a:t>
            </a:r>
            <a:r>
              <a:rPr lang="en-US" b="false" i="false" strike="noStrike" u="none" sz="1200">
                <a:solidFill>
                  <a:srgbClr val="64748B"/>
                </a:solidFill>
                <a:latin typeface="Noto Sans SC"/>
                <a:ea typeface="Noto Sans SC"/>
                <a:cs typeface="Noto Sans SC"/>
                <a:sym typeface="Noto Sans SC"/>
              </a:rPr>
              <a:t/>
            </a:r>
            <a:br>
              <a:rPr lang="en-US" b="false" i="false" strike="noStrike" u="none" sz="1200">
                <a:solidFill>
                  <a:srgbClr val="64748B"/>
                </a:solidFill>
                <a:latin typeface="Noto Sans SC"/>
                <a:ea typeface="Noto Sans SC"/>
                <a:cs typeface="Noto Sans SC"/>
                <a:sym typeface="Noto Sans SC"/>
              </a:rPr>
            </a:br>
            <a:r>
              <a:rPr lang="en-US" b="false" i="false" strike="noStrike" u="none" sz="1200">
                <a:solidFill>
                  <a:srgbClr val="64748B"/>
                </a:solidFill>
                <a:latin typeface="Noto Sans SC"/>
                <a:ea typeface="Noto Sans SC"/>
                <a:cs typeface="Noto Sans SC"/>
                <a:sym typeface="Noto Sans SC"/>
              </a:rPr>
              <a:t>• 来电类型自动检测</a:t>
            </a:r>
            <a:endParaRPr lang="en-US" sz="1100"/>
          </a:p>
        </p:txBody>
      </p:sp>
      <p:sp>
        <p:nvSpPr>
          <p:cNvPr name="AutoShape 16" id="16"/>
          <p:cNvSpPr/>
          <p:nvPr/>
        </p:nvSpPr>
        <p:spPr>
          <a:xfrm rot="0" flipH="false" flipV="false">
            <a:off x="6350000" y="1778000"/>
            <a:ext cx="2540000" cy="4318000"/>
          </a:xfrm>
          <a:prstGeom prst="roundRect">
            <a:avLst>
              <a:gd name="adj" fmla="val 6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350000" y="1778000"/>
            <a:ext cx="2540000" cy="762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604000" y="2159000"/>
            <a:ext cx="406400" cy="406400"/>
          </a:xfrm>
          <a:prstGeom prst="rect">
            <a:avLst/>
          </a:prstGeom>
        </p:spPr>
      </p:pic>
      <p:sp>
        <p:nvSpPr>
          <p:cNvPr name="AutoShape 19" id="19"/>
          <p:cNvSpPr/>
          <p:nvPr/>
        </p:nvSpPr>
        <p:spPr>
          <a:xfrm rot="0" flipH="false" flipV="false">
            <a:off x="7112000" y="2108200"/>
            <a:ext cx="152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F4F4F"/>
                </a:solidFill>
                <a:latin typeface="Noto Sans SC"/>
                <a:ea typeface="Noto Sans SC"/>
                <a:cs typeface="Noto Sans SC"/>
                <a:sym typeface="Noto Sans SC"/>
              </a:rPr>
              <a:t>集成层</a:t>
            </a:r>
            <a:r>
              <a:rPr lang="en-US" b="false" i="false" strike="noStrike" u="none" sz="1800">
                <a:solidFill>
                  <a:srgbClr val="64748B"/>
                </a:solidFill>
                <a:latin typeface="Noto Sans SC"/>
                <a:ea typeface="Noto Sans SC"/>
                <a:cs typeface="Noto Sans SC"/>
                <a:sym typeface="Noto Sans SC"/>
              </a:rPr>
              <a:t>(4个节点)</a:t>
            </a:r>
            <a:endParaRPr lang="en-US" sz="1100"/>
          </a:p>
        </p:txBody>
      </p:sp>
      <p:sp>
        <p:nvSpPr>
          <p:cNvPr name="AutoShape 20" id="20"/>
          <p:cNvSpPr/>
          <p:nvPr/>
        </p:nvSpPr>
        <p:spPr>
          <a:xfrm rot="0" flipH="false" flipV="false">
            <a:off x="6540500" y="2921000"/>
            <a:ext cx="2159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475569"/>
                </a:solidFill>
                <a:latin typeface="Noto Sans SC"/>
                <a:ea typeface="Noto Sans SC"/>
                <a:cs typeface="Noto Sans SC"/>
                <a:sym typeface="Noto Sans SC"/>
              </a:rPr>
              <a:t>打破信息孤岛，连接外部业务系统实现数据实时互通。</a:t>
            </a:r>
            <a:endParaRPr lang="en-US" sz="1100"/>
          </a:p>
        </p:txBody>
      </p:sp>
      <p:sp>
        <p:nvSpPr>
          <p:cNvPr name="AutoShape 21" id="21"/>
          <p:cNvSpPr/>
          <p:nvPr/>
        </p:nvSpPr>
        <p:spPr>
          <a:xfrm rot="0" flipH="false" flipV="false">
            <a:off x="6540500" y="3810000"/>
            <a:ext cx="21590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200">
                <a:solidFill>
                  <a:srgbClr val="64748B"/>
                </a:solidFill>
                <a:latin typeface="Noto Sans SC"/>
                <a:ea typeface="Noto Sans SC"/>
                <a:cs typeface="Noto Sans SC"/>
                <a:sym typeface="Noto Sans SC"/>
              </a:rPr>
              <a:t>• CRM 客户信息查询</a:t>
            </a:r>
            <a:r>
              <a:rPr lang="en-US" b="false" i="false" strike="noStrike" u="none" sz="1200">
                <a:solidFill>
                  <a:srgbClr val="64748B"/>
                </a:solidFill>
                <a:latin typeface="Noto Sans SC"/>
                <a:ea typeface="Noto Sans SC"/>
                <a:cs typeface="Noto Sans SC"/>
                <a:sym typeface="Noto Sans SC"/>
              </a:rPr>
              <a:t/>
            </a:r>
            <a:br>
              <a:rPr lang="en-US" b="false" i="false" strike="noStrike" u="none" sz="1200">
                <a:solidFill>
                  <a:srgbClr val="64748B"/>
                </a:solidFill>
                <a:latin typeface="Noto Sans SC"/>
                <a:ea typeface="Noto Sans SC"/>
                <a:cs typeface="Noto Sans SC"/>
                <a:sym typeface="Noto Sans SC"/>
              </a:rPr>
            </a:br>
            <a:r>
              <a:rPr lang="en-US" b="false" i="false" strike="noStrike" u="none" sz="1200">
                <a:solidFill>
                  <a:srgbClr val="64748B"/>
                </a:solidFill>
                <a:latin typeface="Noto Sans SC"/>
                <a:ea typeface="Noto Sans SC"/>
                <a:cs typeface="Noto Sans SC"/>
                <a:sym typeface="Noto Sans SC"/>
              </a:rPr>
              <a:t>• 日历自动预订</a:t>
            </a:r>
            <a:r>
              <a:rPr lang="en-US" b="false" i="false" strike="noStrike" u="none" sz="1200">
                <a:solidFill>
                  <a:srgbClr val="64748B"/>
                </a:solidFill>
                <a:latin typeface="Noto Sans SC"/>
                <a:ea typeface="Noto Sans SC"/>
                <a:cs typeface="Noto Sans SC"/>
                <a:sym typeface="Noto Sans SC"/>
              </a:rPr>
              <a:t/>
            </a:r>
            <a:br>
              <a:rPr lang="en-US" b="false" i="false" strike="noStrike" u="none" sz="1200">
                <a:solidFill>
                  <a:srgbClr val="64748B"/>
                </a:solidFill>
                <a:latin typeface="Noto Sans SC"/>
                <a:ea typeface="Noto Sans SC"/>
                <a:cs typeface="Noto Sans SC"/>
                <a:sym typeface="Noto Sans SC"/>
              </a:rPr>
            </a:br>
            <a:r>
              <a:rPr lang="en-US" b="false" i="false" strike="noStrike" u="none" sz="1200">
                <a:solidFill>
                  <a:srgbClr val="64748B"/>
                </a:solidFill>
                <a:latin typeface="Noto Sans SC"/>
                <a:ea typeface="Noto Sans SC"/>
                <a:cs typeface="Noto Sans SC"/>
                <a:sym typeface="Noto Sans SC"/>
              </a:rPr>
              <a:t>• 多渠道消息通知</a:t>
            </a:r>
            <a:r>
              <a:rPr lang="en-US" b="false" i="false" strike="noStrike" u="none" sz="1200">
                <a:solidFill>
                  <a:srgbClr val="64748B"/>
                </a:solidFill>
                <a:latin typeface="Noto Sans SC"/>
                <a:ea typeface="Noto Sans SC"/>
                <a:cs typeface="Noto Sans SC"/>
                <a:sym typeface="Noto Sans SC"/>
              </a:rPr>
              <a:t/>
            </a:r>
            <a:br>
              <a:rPr lang="en-US" b="false" i="false" strike="noStrike" u="none" sz="1200">
                <a:solidFill>
                  <a:srgbClr val="64748B"/>
                </a:solidFill>
                <a:latin typeface="Noto Sans SC"/>
                <a:ea typeface="Noto Sans SC"/>
                <a:cs typeface="Noto Sans SC"/>
                <a:sym typeface="Noto Sans SC"/>
              </a:rPr>
            </a:br>
            <a:r>
              <a:rPr lang="en-US" b="false" i="false" strike="noStrike" u="none" sz="1200">
                <a:solidFill>
                  <a:srgbClr val="64748B"/>
                </a:solidFill>
                <a:latin typeface="Noto Sans SC"/>
                <a:ea typeface="Noto Sans SC"/>
                <a:cs typeface="Noto Sans SC"/>
                <a:sym typeface="Noto Sans SC"/>
              </a:rPr>
              <a:t>• 自定义 Webhook</a:t>
            </a:r>
            <a:endParaRPr lang="en-US" sz="1100"/>
          </a:p>
        </p:txBody>
      </p:sp>
      <p:sp>
        <p:nvSpPr>
          <p:cNvPr name="AutoShape 22" id="22"/>
          <p:cNvSpPr/>
          <p:nvPr/>
        </p:nvSpPr>
        <p:spPr>
          <a:xfrm rot="0" flipH="false" flipV="false">
            <a:off x="9144000" y="1778000"/>
            <a:ext cx="2540000" cy="4318000"/>
          </a:xfrm>
          <a:prstGeom prst="roundRect">
            <a:avLst>
              <a:gd name="adj" fmla="val 6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9144000" y="1778000"/>
            <a:ext cx="2540000" cy="762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398000" y="2159000"/>
            <a:ext cx="406400" cy="406400"/>
          </a:xfrm>
          <a:prstGeom prst="rect">
            <a:avLst/>
          </a:prstGeom>
        </p:spPr>
      </p:pic>
      <p:sp>
        <p:nvSpPr>
          <p:cNvPr name="AutoShape 25" id="25"/>
          <p:cNvSpPr/>
          <p:nvPr/>
        </p:nvSpPr>
        <p:spPr>
          <a:xfrm rot="0" flipH="false" flipV="false">
            <a:off x="9906000" y="2108200"/>
            <a:ext cx="152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F4F4F"/>
                </a:solidFill>
                <a:latin typeface="Noto Sans SC"/>
                <a:ea typeface="Noto Sans SC"/>
                <a:cs typeface="Noto Sans SC"/>
                <a:sym typeface="Noto Sans SC"/>
              </a:rPr>
              <a:t>AI增强层</a:t>
            </a:r>
            <a:r>
              <a:rPr lang="en-US" b="false" i="false" strike="noStrike" u="none" sz="1800">
                <a:solidFill>
                  <a:srgbClr val="64748B"/>
                </a:solidFill>
                <a:latin typeface="Noto Sans SC"/>
                <a:ea typeface="Noto Sans SC"/>
                <a:cs typeface="Noto Sans SC"/>
                <a:sym typeface="Noto Sans SC"/>
              </a:rPr>
              <a:t>(3个节点)</a:t>
            </a:r>
            <a:endParaRPr lang="en-US" sz="1100"/>
          </a:p>
        </p:txBody>
      </p:sp>
      <p:sp>
        <p:nvSpPr>
          <p:cNvPr name="AutoShape 26" id="26"/>
          <p:cNvSpPr/>
          <p:nvPr/>
        </p:nvSpPr>
        <p:spPr>
          <a:xfrm rot="0" flipH="false" flipV="false">
            <a:off x="9334500" y="2921000"/>
            <a:ext cx="2159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475569"/>
                </a:solidFill>
                <a:latin typeface="Noto Sans SC"/>
                <a:ea typeface="Noto Sans SC"/>
                <a:cs typeface="Noto Sans SC"/>
                <a:sym typeface="Noto Sans SC"/>
              </a:rPr>
              <a:t>引入AI能力，在关键节点实现效率与服务体验的质变。</a:t>
            </a:r>
            <a:endParaRPr lang="en-US" sz="1100"/>
          </a:p>
        </p:txBody>
      </p:sp>
      <p:sp>
        <p:nvSpPr>
          <p:cNvPr name="AutoShape 27" id="27"/>
          <p:cNvSpPr/>
          <p:nvPr/>
        </p:nvSpPr>
        <p:spPr>
          <a:xfrm rot="0" flipH="false" flipV="false">
            <a:off x="9334500" y="3810000"/>
            <a:ext cx="21590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200">
                <a:solidFill>
                  <a:srgbClr val="64748B"/>
                </a:solidFill>
                <a:latin typeface="Noto Sans SC"/>
                <a:ea typeface="Noto Sans SC"/>
                <a:cs typeface="Noto Sans SC"/>
                <a:sym typeface="Noto Sans SC"/>
              </a:rPr>
              <a:t>• 智能用户意图检测</a:t>
            </a:r>
            <a:r>
              <a:rPr lang="en-US" b="false" i="false" strike="noStrike" u="none" sz="1200">
                <a:solidFill>
                  <a:srgbClr val="64748B"/>
                </a:solidFill>
                <a:latin typeface="Noto Sans SC"/>
                <a:ea typeface="Noto Sans SC"/>
                <a:cs typeface="Noto Sans SC"/>
                <a:sym typeface="Noto Sans SC"/>
              </a:rPr>
              <a:t/>
            </a:r>
            <a:br>
              <a:rPr lang="en-US" b="false" i="false" strike="noStrike" u="none" sz="1200">
                <a:solidFill>
                  <a:srgbClr val="64748B"/>
                </a:solidFill>
                <a:latin typeface="Noto Sans SC"/>
                <a:ea typeface="Noto Sans SC"/>
                <a:cs typeface="Noto Sans SC"/>
                <a:sym typeface="Noto Sans SC"/>
              </a:rPr>
            </a:br>
            <a:r>
              <a:rPr lang="en-US" b="false" i="false" strike="noStrike" u="none" sz="1200">
                <a:solidFill>
                  <a:srgbClr val="64748B"/>
                </a:solidFill>
                <a:latin typeface="Noto Sans SC"/>
                <a:ea typeface="Noto Sans SC"/>
                <a:cs typeface="Noto Sans SC"/>
                <a:sym typeface="Noto Sans SC"/>
              </a:rPr>
              <a:t>• 企业知识库问答</a:t>
            </a:r>
            <a:r>
              <a:rPr lang="en-US" b="false" i="false" strike="noStrike" u="none" sz="1200">
                <a:solidFill>
                  <a:srgbClr val="64748B"/>
                </a:solidFill>
                <a:latin typeface="Noto Sans SC"/>
                <a:ea typeface="Noto Sans SC"/>
                <a:cs typeface="Noto Sans SC"/>
                <a:sym typeface="Noto Sans SC"/>
              </a:rPr>
              <a:t/>
            </a:r>
            <a:br>
              <a:rPr lang="en-US" b="false" i="false" strike="noStrike" u="none" sz="1200">
                <a:solidFill>
                  <a:srgbClr val="64748B"/>
                </a:solidFill>
                <a:latin typeface="Noto Sans SC"/>
                <a:ea typeface="Noto Sans SC"/>
                <a:cs typeface="Noto Sans SC"/>
                <a:sym typeface="Noto Sans SC"/>
              </a:rPr>
            </a:br>
            <a:r>
              <a:rPr lang="en-US" b="false" i="false" strike="noStrike" u="none" sz="1200">
                <a:solidFill>
                  <a:srgbClr val="64748B"/>
                </a:solidFill>
                <a:latin typeface="Noto Sans SC"/>
                <a:ea typeface="Noto Sans SC"/>
                <a:cs typeface="Noto Sans SC"/>
                <a:sym typeface="Noto Sans SC"/>
              </a:rPr>
              <a:t>• 通话内容智能摘要</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核心层 — 通话流程的坚实骨架</a:t>
            </a:r>
            <a:endParaRPr lang="en-US" sz="1100"/>
          </a:p>
        </p:txBody>
      </p:sp>
      <p:sp>
        <p:nvSpPr>
          <p:cNvPr name="AutoShape 4" id="4"/>
          <p:cNvSpPr/>
          <p:nvPr/>
        </p:nvSpPr>
        <p:spPr>
          <a:xfrm rot="0" flipH="false" flipV="false">
            <a:off x="762000" y="1524000"/>
            <a:ext cx="5207000" cy="1841500"/>
          </a:xfrm>
          <a:prstGeom prst="roundRect">
            <a:avLst>
              <a:gd name="adj" fmla="val 8275"/>
            </a:avLst>
          </a:prstGeom>
          <a:solidFill>
            <a:srgbClr val="FFFFFF">
              <a:alpha val="100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30400"/>
            <a:ext cx="762000" cy="762000"/>
          </a:xfrm>
          <a:prstGeom prst="rect">
            <a:avLst/>
          </a:prstGeom>
        </p:spPr>
      </p:pic>
      <p:sp>
        <p:nvSpPr>
          <p:cNvPr name="AutoShape 6" id="6"/>
          <p:cNvSpPr/>
          <p:nvPr/>
        </p:nvSpPr>
        <p:spPr>
          <a:xfrm rot="0" flipH="false" flipV="false">
            <a:off x="2032000" y="1714500"/>
            <a:ext cx="3683000" cy="1460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Noto Sans SC"/>
                <a:ea typeface="Noto Sans SC"/>
                <a:cs typeface="Noto Sans SC"/>
                <a:sym typeface="Noto Sans SC"/>
              </a:rPr>
              <a:t>来电触发器</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300">
                <a:solidFill>
                  <a:srgbClr val="555555"/>
                </a:solidFill>
                <a:latin typeface="Noto Sans SC"/>
                <a:ea typeface="Noto Sans SC"/>
                <a:cs typeface="Noto Sans SC"/>
                <a:sym typeface="Noto Sans SC"/>
              </a:rPr>
              <a:t>流程的唯一入口，自动提取来电显示号码、归属地区等关键信息，为后续节点提供基础数据支撑。</a:t>
            </a:r>
          </a:p>
        </p:txBody>
      </p:sp>
      <p:sp>
        <p:nvSpPr>
          <p:cNvPr name="AutoShape 7" id="7"/>
          <p:cNvSpPr/>
          <p:nvPr/>
        </p:nvSpPr>
        <p:spPr>
          <a:xfrm rot="0" flipH="false" flipV="false">
            <a:off x="6223000" y="1524000"/>
            <a:ext cx="5207000" cy="1841500"/>
          </a:xfrm>
          <a:prstGeom prst="roundRect">
            <a:avLst>
              <a:gd name="adj" fmla="val 8275"/>
            </a:avLst>
          </a:prstGeom>
          <a:solidFill>
            <a:srgbClr val="FFFFFF">
              <a:alpha val="100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1930400"/>
            <a:ext cx="762000" cy="762000"/>
          </a:xfrm>
          <a:prstGeom prst="rect">
            <a:avLst/>
          </a:prstGeom>
        </p:spPr>
      </p:pic>
      <p:sp>
        <p:nvSpPr>
          <p:cNvPr name="AutoShape 9" id="9"/>
          <p:cNvSpPr/>
          <p:nvPr/>
        </p:nvSpPr>
        <p:spPr>
          <a:xfrm rot="0" flipH="false" flipV="false">
            <a:off x="7493000" y="1714500"/>
            <a:ext cx="3683000" cy="1460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Noto Sans SC"/>
                <a:ea typeface="Noto Sans SC"/>
                <a:cs typeface="Noto Sans SC"/>
                <a:sym typeface="Noto Sans SC"/>
              </a:rPr>
              <a:t>问候 / 开场白</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300">
                <a:solidFill>
                  <a:srgbClr val="555555"/>
                </a:solidFill>
                <a:latin typeface="Noto Sans SC"/>
                <a:ea typeface="Noto Sans SC"/>
                <a:cs typeface="Noto Sans SC"/>
                <a:sym typeface="Noto Sans SC"/>
              </a:rPr>
              <a:t>支持按工作日/节假日、不同时间段设置差异化的自动欢迎语，并支持动态变量替换，提供个性化的语音体验。</a:t>
            </a:r>
          </a:p>
        </p:txBody>
      </p:sp>
      <p:sp>
        <p:nvSpPr>
          <p:cNvPr name="AutoShape 10" id="10"/>
          <p:cNvSpPr/>
          <p:nvPr/>
        </p:nvSpPr>
        <p:spPr>
          <a:xfrm rot="0" flipH="false" flipV="false">
            <a:off x="762000" y="3683000"/>
            <a:ext cx="5207000" cy="1841500"/>
          </a:xfrm>
          <a:prstGeom prst="roundRect">
            <a:avLst>
              <a:gd name="adj" fmla="val 8275"/>
            </a:avLst>
          </a:prstGeom>
          <a:solidFill>
            <a:srgbClr val="FFFFFF">
              <a:alpha val="100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089400"/>
            <a:ext cx="762000" cy="762000"/>
          </a:xfrm>
          <a:prstGeom prst="rect">
            <a:avLst/>
          </a:prstGeom>
        </p:spPr>
      </p:pic>
      <p:sp>
        <p:nvSpPr>
          <p:cNvPr name="AutoShape 12" id="12"/>
          <p:cNvSpPr/>
          <p:nvPr/>
        </p:nvSpPr>
        <p:spPr>
          <a:xfrm rot="0" flipH="false" flipV="false">
            <a:off x="2032000" y="3873500"/>
            <a:ext cx="3683000" cy="1460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Noto Sans SC"/>
                <a:ea typeface="Noto Sans SC"/>
                <a:cs typeface="Noto Sans SC"/>
                <a:sym typeface="Noto Sans SC"/>
              </a:rPr>
              <a:t>提问节点</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300">
                <a:solidFill>
                  <a:srgbClr val="555555"/>
                </a:solidFill>
                <a:latin typeface="Noto Sans SC"/>
                <a:ea typeface="Noto Sans SC"/>
                <a:cs typeface="Noto Sans SC"/>
                <a:sym typeface="Noto Sans SC"/>
              </a:rPr>
              <a:t>系统中最强大的交互节点，支持“语音识别”和“按键输入”双重模式，精准识别用户意图，引导对话走向。</a:t>
            </a:r>
          </a:p>
        </p:txBody>
      </p:sp>
      <p:sp>
        <p:nvSpPr>
          <p:cNvPr name="AutoShape 13" id="13"/>
          <p:cNvSpPr/>
          <p:nvPr/>
        </p:nvSpPr>
        <p:spPr>
          <a:xfrm rot="0" flipH="false" flipV="false">
            <a:off x="6223000" y="3683000"/>
            <a:ext cx="5207000" cy="1841500"/>
          </a:xfrm>
          <a:prstGeom prst="roundRect">
            <a:avLst>
              <a:gd name="adj" fmla="val 8275"/>
            </a:avLst>
          </a:prstGeom>
          <a:solidFill>
            <a:srgbClr val="FFFFFF">
              <a:alpha val="100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77000" y="4089400"/>
            <a:ext cx="762000" cy="762000"/>
          </a:xfrm>
          <a:prstGeom prst="rect">
            <a:avLst/>
          </a:prstGeom>
        </p:spPr>
      </p:pic>
      <p:sp>
        <p:nvSpPr>
          <p:cNvPr name="AutoShape 15" id="15"/>
          <p:cNvSpPr/>
          <p:nvPr/>
        </p:nvSpPr>
        <p:spPr>
          <a:xfrm rot="0" flipH="false" flipV="false">
            <a:off x="7493000" y="3873500"/>
            <a:ext cx="3683000" cy="1460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Noto Sans SC"/>
                <a:ea typeface="Noto Sans SC"/>
                <a:cs typeface="Noto Sans SC"/>
                <a:sym typeface="Noto Sans SC"/>
              </a:rPr>
              <a:t>转接呼叫</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300">
                <a:solidFill>
                  <a:srgbClr val="555555"/>
                </a:solidFill>
                <a:latin typeface="Noto Sans SC"/>
                <a:ea typeface="Noto Sans SC"/>
                <a:cs typeface="Noto Sans SC"/>
                <a:sym typeface="Noto Sans SC"/>
              </a:rPr>
              <a:t>灵活配置“暖转接”与“冷转接”模式，保障客户体验。同时可预设转接失败的降级路径，确保服务不断档。</a:t>
            </a:r>
          </a:p>
        </p:txBody>
      </p:sp>
      <p:sp>
        <p:nvSpPr>
          <p:cNvPr name="AutoShape 16" id="16"/>
          <p:cNvSpPr/>
          <p:nvPr/>
        </p:nvSpPr>
        <p:spPr>
          <a:xfrm rot="0" flipH="false" flipV="false">
            <a:off x="762000" y="5778500"/>
            <a:ext cx="10668000" cy="825500"/>
          </a:xfrm>
          <a:prstGeom prst="roundRect">
            <a:avLst>
              <a:gd name="adj" fmla="val 12307"/>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762000" y="5778500"/>
            <a:ext cx="10668000" cy="825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500">
                <a:solidFill>
                  <a:srgbClr val="FFFFFF"/>
                </a:solidFill>
                <a:latin typeface="Noto Sans SC"/>
                <a:ea typeface="Noto Sans SC"/>
                <a:cs typeface="Noto Sans SC"/>
                <a:sym typeface="Noto Sans SC"/>
              </a:rPr>
              <a:t>💡 设计哲学：</a:t>
            </a:r>
            <a:r>
              <a:rPr lang="en-US" b="false" i="false" strike="noStrike" u="none" sz="1500">
                <a:solidFill>
                  <a:srgbClr val="EBF0F0"/>
                </a:solidFill>
                <a:latin typeface="Noto Sans SC"/>
                <a:ea typeface="Noto Sans SC"/>
                <a:cs typeface="Noto Sans SC"/>
                <a:sym typeface="Noto Sans SC"/>
              </a:rPr>
              <a:t>每个节点的配置项都经过精心打磨，旨在让用户直观地“知道该配置什么”，最大程度降低上手门槛。</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逻辑层 — 流程的智能控制中枢</a:t>
            </a:r>
            <a:endParaRPr lang="en-US" sz="1100"/>
          </a:p>
        </p:txBody>
      </p:sp>
      <p:sp>
        <p:nvSpPr>
          <p:cNvPr name="AutoShape 4" id="4"/>
          <p:cNvSpPr/>
          <p:nvPr/>
        </p:nvSpPr>
        <p:spPr>
          <a:xfrm rot="0" flipH="false" flipV="false">
            <a:off x="762000" y="1778000"/>
            <a:ext cx="2540000" cy="4191000"/>
          </a:xfrm>
          <a:prstGeom prst="roundRect">
            <a:avLst>
              <a:gd name="adj" fmla="val 6000"/>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651000" y="2159000"/>
            <a:ext cx="762000" cy="762000"/>
          </a:xfrm>
          <a:prstGeom prst="rect">
            <a:avLst/>
          </a:prstGeom>
        </p:spPr>
      </p:pic>
      <p:sp>
        <p:nvSpPr>
          <p:cNvPr name="AutoShape 6" id="6"/>
          <p:cNvSpPr/>
          <p:nvPr/>
        </p:nvSpPr>
        <p:spPr>
          <a:xfrm rot="0" flipH="false" flipV="false">
            <a:off x="889000" y="3175000"/>
            <a:ext cx="2286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2F4F4F"/>
                </a:solidFill>
                <a:latin typeface="Noto Sans SC"/>
                <a:ea typeface="Noto Sans SC"/>
                <a:cs typeface="Noto Sans SC"/>
                <a:sym typeface="Noto Sans SC"/>
              </a:rPr>
              <a:t>条件分支</a:t>
            </a:r>
            <a:endParaRPr lang="en-US" sz="1100"/>
          </a:p>
        </p:txBody>
      </p:sp>
      <p:sp>
        <p:nvSpPr>
          <p:cNvPr name="AutoShape 7" id="7"/>
          <p:cNvSpPr/>
          <p:nvPr/>
        </p:nvSpPr>
        <p:spPr>
          <a:xfrm rot="0" flipH="false" flipV="false">
            <a:off x="952500" y="4064000"/>
            <a:ext cx="2159000" cy="1651000"/>
          </a:xfrm>
          <a:prstGeom prst="rect">
            <a:avLst/>
          </a:prstGeom>
          <a:noFill/>
          <a:ln w="12700" cmpd="sng" cap="flat">
            <a:noFill/>
            <a:prstDash val="solid"/>
            <a:round/>
          </a:ln>
        </p:spPr>
        <p:txBody>
          <a:bodyPr anchor="t" rtlCol="false" anchorCtr="false" vert="horz" wrap="square" lIns="0" rIns="0" tIns="0" bIns="0"/>
          <a:lstStyle/>
          <a:p>
            <a:pPr algn="ctr" indent="0">
              <a:lnSpc>
                <a:spcPct val="116666"/>
              </a:lnSpc>
              <a:defRPr/>
            </a:pPr>
            <a:r>
              <a:rPr lang="en-US" b="false" i="false" strike="noStrike" u="none" sz="1300">
                <a:solidFill>
                  <a:srgbClr val="525252"/>
                </a:solidFill>
                <a:latin typeface="Noto Sans SC"/>
                <a:ea typeface="Noto Sans SC"/>
                <a:cs typeface="Noto Sans SC"/>
                <a:sym typeface="Noto Sans SC"/>
              </a:rPr>
              <a:t>支持最多4个分支的多条件路由，条件可以是用户输入、API返回值等，极其灵活。</a:t>
            </a:r>
            <a:endParaRPr lang="en-US" sz="1100"/>
          </a:p>
        </p:txBody>
      </p:sp>
      <p:sp>
        <p:nvSpPr>
          <p:cNvPr name="AutoShape 8" id="8"/>
          <p:cNvSpPr/>
          <p:nvPr/>
        </p:nvSpPr>
        <p:spPr>
          <a:xfrm rot="0" flipH="false" flipV="false">
            <a:off x="3556000" y="1778000"/>
            <a:ext cx="2540000" cy="4191000"/>
          </a:xfrm>
          <a:prstGeom prst="roundRect">
            <a:avLst>
              <a:gd name="adj" fmla="val 6000"/>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445000" y="2159000"/>
            <a:ext cx="762000" cy="762000"/>
          </a:xfrm>
          <a:prstGeom prst="rect">
            <a:avLst/>
          </a:prstGeom>
        </p:spPr>
      </p:pic>
      <p:sp>
        <p:nvSpPr>
          <p:cNvPr name="AutoShape 10" id="10"/>
          <p:cNvSpPr/>
          <p:nvPr/>
        </p:nvSpPr>
        <p:spPr>
          <a:xfrm rot="0" flipH="false" flipV="false">
            <a:off x="3683000" y="3175000"/>
            <a:ext cx="2286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2F4F4F"/>
                </a:solidFill>
                <a:latin typeface="Noto Sans SC"/>
                <a:ea typeface="Noto Sans SC"/>
                <a:cs typeface="Noto Sans SC"/>
                <a:sym typeface="Noto Sans SC"/>
              </a:rPr>
              <a:t>If / Else</a:t>
            </a:r>
            <a:endParaRPr lang="en-US" sz="1100"/>
          </a:p>
        </p:txBody>
      </p:sp>
      <p:sp>
        <p:nvSpPr>
          <p:cNvPr name="AutoShape 11" id="11"/>
          <p:cNvSpPr/>
          <p:nvPr/>
        </p:nvSpPr>
        <p:spPr>
          <a:xfrm rot="0" flipH="false" flipV="false">
            <a:off x="3746500" y="4064000"/>
            <a:ext cx="2159000" cy="1651000"/>
          </a:xfrm>
          <a:prstGeom prst="rect">
            <a:avLst/>
          </a:prstGeom>
          <a:noFill/>
          <a:ln w="12700" cmpd="sng" cap="flat">
            <a:noFill/>
            <a:prstDash val="solid"/>
            <a:round/>
          </a:ln>
        </p:spPr>
        <p:txBody>
          <a:bodyPr anchor="t" rtlCol="false" anchorCtr="false" vert="horz" wrap="square" lIns="0" rIns="0" tIns="0" bIns="0"/>
          <a:lstStyle/>
          <a:p>
            <a:pPr algn="ctr" indent="0">
              <a:lnSpc>
                <a:spcPct val="116666"/>
              </a:lnSpc>
              <a:defRPr/>
            </a:pPr>
            <a:r>
              <a:rPr lang="en-US" b="false" i="false" strike="noStrike" u="none" sz="1300">
                <a:solidFill>
                  <a:srgbClr val="525252"/>
                </a:solidFill>
                <a:latin typeface="Noto Sans SC"/>
                <a:ea typeface="Noto Sans SC"/>
                <a:cs typeface="Noto Sans SC"/>
                <a:sym typeface="Noto Sans SC"/>
              </a:rPr>
              <a:t>专为简单的二元判断设计，比“条件分支”更直观，大幅降低日常配置的复杂度。</a:t>
            </a:r>
            <a:endParaRPr lang="en-US" sz="1100"/>
          </a:p>
        </p:txBody>
      </p:sp>
      <p:sp>
        <p:nvSpPr>
          <p:cNvPr name="AutoShape 12" id="12"/>
          <p:cNvSpPr/>
          <p:nvPr/>
        </p:nvSpPr>
        <p:spPr>
          <a:xfrm rot="0" flipH="false" flipV="false">
            <a:off x="6350000" y="1778000"/>
            <a:ext cx="2540000" cy="4191000"/>
          </a:xfrm>
          <a:prstGeom prst="roundRect">
            <a:avLst>
              <a:gd name="adj" fmla="val 6000"/>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7239000" y="2159000"/>
            <a:ext cx="762000" cy="762000"/>
          </a:xfrm>
          <a:prstGeom prst="rect">
            <a:avLst/>
          </a:prstGeom>
        </p:spPr>
      </p:pic>
      <p:sp>
        <p:nvSpPr>
          <p:cNvPr name="AutoShape 14" id="14"/>
          <p:cNvSpPr/>
          <p:nvPr/>
        </p:nvSpPr>
        <p:spPr>
          <a:xfrm rot="0" flipH="false" flipV="false">
            <a:off x="6477000" y="3175000"/>
            <a:ext cx="2286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2F4F4F"/>
                </a:solidFill>
                <a:latin typeface="Noto Sans SC"/>
                <a:ea typeface="Noto Sans SC"/>
                <a:cs typeface="Noto Sans SC"/>
                <a:sym typeface="Noto Sans SC"/>
              </a:rPr>
              <a:t>营业时间判断</a:t>
            </a:r>
            <a:endParaRPr lang="en-US" sz="1100"/>
          </a:p>
        </p:txBody>
      </p:sp>
      <p:sp>
        <p:nvSpPr>
          <p:cNvPr name="AutoShape 15" id="15"/>
          <p:cNvSpPr/>
          <p:nvPr/>
        </p:nvSpPr>
        <p:spPr>
          <a:xfrm rot="0" flipH="false" flipV="false">
            <a:off x="6540500" y="4064000"/>
            <a:ext cx="2159000" cy="1651000"/>
          </a:xfrm>
          <a:prstGeom prst="rect">
            <a:avLst/>
          </a:prstGeom>
          <a:noFill/>
          <a:ln w="12700" cmpd="sng" cap="flat">
            <a:noFill/>
            <a:prstDash val="solid"/>
            <a:round/>
          </a:ln>
        </p:spPr>
        <p:txBody>
          <a:bodyPr anchor="t" rtlCol="false" anchorCtr="false" vert="horz" wrap="square" lIns="0" rIns="0" tIns="0" bIns="0"/>
          <a:lstStyle/>
          <a:p>
            <a:pPr algn="ctr" indent="0">
              <a:lnSpc>
                <a:spcPct val="116666"/>
              </a:lnSpc>
              <a:defRPr/>
            </a:pPr>
            <a:r>
              <a:rPr lang="en-US" b="false" i="false" strike="noStrike" u="none" sz="1300">
                <a:solidFill>
                  <a:srgbClr val="525252"/>
                </a:solidFill>
                <a:latin typeface="Noto Sans SC"/>
                <a:ea typeface="Noto Sans SC"/>
                <a:cs typeface="Noto Sans SC"/>
                <a:sym typeface="Noto Sans SC"/>
              </a:rPr>
              <a:t>内置时区转换、节假日日历功能，轻松实现工作与非工作时间，执行不同的接待流程。</a:t>
            </a:r>
            <a:endParaRPr lang="en-US" sz="1100"/>
          </a:p>
        </p:txBody>
      </p:sp>
      <p:sp>
        <p:nvSpPr>
          <p:cNvPr name="AutoShape 16" id="16"/>
          <p:cNvSpPr/>
          <p:nvPr/>
        </p:nvSpPr>
        <p:spPr>
          <a:xfrm rot="0" flipH="false" flipV="false">
            <a:off x="9144000" y="1778000"/>
            <a:ext cx="2540000" cy="4191000"/>
          </a:xfrm>
          <a:prstGeom prst="roundRect">
            <a:avLst>
              <a:gd name="adj" fmla="val 6000"/>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033000" y="2159000"/>
            <a:ext cx="762000" cy="762000"/>
          </a:xfrm>
          <a:prstGeom prst="rect">
            <a:avLst/>
          </a:prstGeom>
        </p:spPr>
      </p:pic>
      <p:sp>
        <p:nvSpPr>
          <p:cNvPr name="AutoShape 18" id="18"/>
          <p:cNvSpPr/>
          <p:nvPr/>
        </p:nvSpPr>
        <p:spPr>
          <a:xfrm rot="0" flipH="false" flipV="false">
            <a:off x="9271000" y="3175000"/>
            <a:ext cx="2286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2F4F4F"/>
                </a:solidFill>
                <a:latin typeface="Noto Sans SC"/>
                <a:ea typeface="Noto Sans SC"/>
                <a:cs typeface="Noto Sans SC"/>
                <a:sym typeface="Noto Sans SC"/>
              </a:rPr>
              <a:t>来电类型检测</a:t>
            </a:r>
            <a:endParaRPr lang="en-US" sz="1100"/>
          </a:p>
        </p:txBody>
      </p:sp>
      <p:sp>
        <p:nvSpPr>
          <p:cNvPr name="AutoShape 19" id="19"/>
          <p:cNvSpPr/>
          <p:nvPr/>
        </p:nvSpPr>
        <p:spPr>
          <a:xfrm rot="0" flipH="false" flipV="false">
            <a:off x="9334500" y="4064000"/>
            <a:ext cx="2159000" cy="1651000"/>
          </a:xfrm>
          <a:prstGeom prst="rect">
            <a:avLst/>
          </a:prstGeom>
          <a:noFill/>
          <a:ln w="12700" cmpd="sng" cap="flat">
            <a:noFill/>
            <a:prstDash val="solid"/>
            <a:round/>
          </a:ln>
        </p:spPr>
        <p:txBody>
          <a:bodyPr anchor="t" rtlCol="false" anchorCtr="false" vert="horz" wrap="square" lIns="0" rIns="0" tIns="0" bIns="0"/>
          <a:lstStyle/>
          <a:p>
            <a:pPr algn="ctr" indent="0">
              <a:lnSpc>
                <a:spcPct val="116666"/>
              </a:lnSpc>
              <a:defRPr/>
            </a:pPr>
            <a:r>
              <a:rPr lang="en-US" b="false" i="false" strike="noStrike" u="none" sz="1300">
                <a:solidFill>
                  <a:srgbClr val="525252"/>
                </a:solidFill>
                <a:latin typeface="Noto Sans SC"/>
                <a:ea typeface="Noto Sans SC"/>
                <a:cs typeface="Noto Sans SC"/>
                <a:sym typeface="Noto Sans SC"/>
              </a:rPr>
              <a:t>可自动识别新客户、老客户、VIP或黑名单用户，并自动为不同类型用户执行专属服务流程。</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规则优先、AI增强：务实的AI策略</a:t>
            </a:r>
            <a:endParaRPr lang="en-US" sz="1100"/>
          </a:p>
        </p:txBody>
      </p:sp>
      <p:sp>
        <p:nvSpPr>
          <p:cNvPr name="AutoShape 3" id="3"/>
          <p:cNvSpPr/>
          <p:nvPr/>
        </p:nvSpPr>
        <p:spPr>
          <a:xfrm rot="0" flipH="false" flipV="false">
            <a:off x="762000" y="1651000"/>
            <a:ext cx="5207000" cy="2286000"/>
          </a:xfrm>
          <a:prstGeom prst="roundRect">
            <a:avLst>
              <a:gd name="adj" fmla="val 6666"/>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68500"/>
            <a:ext cx="508000" cy="508000"/>
          </a:xfrm>
          <a:prstGeom prst="rect">
            <a:avLst/>
          </a:prstGeom>
        </p:spPr>
      </p:pic>
      <p:sp>
        <p:nvSpPr>
          <p:cNvPr name="AutoShape 5" id="5"/>
          <p:cNvSpPr/>
          <p:nvPr/>
        </p:nvSpPr>
        <p:spPr>
          <a:xfrm rot="0" flipH="false" flipV="false">
            <a:off x="1778000" y="1930400"/>
            <a:ext cx="393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Noto Sans SC"/>
                <a:ea typeface="Noto Sans SC"/>
                <a:cs typeface="Noto Sans SC"/>
                <a:sym typeface="Noto Sans SC"/>
              </a:rPr>
              <a:t>80/20 原则</a:t>
            </a:r>
            <a:endParaRPr lang="en-US" sz="1100"/>
          </a:p>
        </p:txBody>
      </p:sp>
      <p:sp>
        <p:nvSpPr>
          <p:cNvPr name="AutoShape 6" id="6"/>
          <p:cNvSpPr/>
          <p:nvPr/>
        </p:nvSpPr>
        <p:spPr>
          <a:xfrm rot="0" flipH="false" flipV="false">
            <a:off x="1016000" y="2730500"/>
            <a:ext cx="4699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525252"/>
                </a:solidFill>
                <a:latin typeface="Noto Sans SC"/>
                <a:ea typeface="Noto Sans SC"/>
                <a:cs typeface="Noto Sans SC"/>
                <a:sym typeface="Noto Sans SC"/>
              </a:rPr>
              <a:t>我们的</a:t>
            </a:r>
            <a:r>
              <a:rPr lang="en-US" b="true" i="false" strike="noStrike" u="none" sz="1300">
                <a:solidFill>
                  <a:srgbClr val="525252"/>
                </a:solidFill>
                <a:latin typeface="Noto Sans SC"/>
                <a:ea typeface="Noto Sans SC"/>
                <a:cs typeface="Noto Sans SC"/>
                <a:sym typeface="Noto Sans SC"/>
              </a:rPr>
              <a:t>17个规则节点</a:t>
            </a:r>
            <a:r>
              <a:rPr lang="en-US" b="false" i="false" strike="noStrike" u="none" sz="1300">
                <a:solidFill>
                  <a:srgbClr val="525252"/>
                </a:solidFill>
                <a:latin typeface="Noto Sans SC"/>
                <a:ea typeface="Noto Sans SC"/>
                <a:cs typeface="Noto Sans SC"/>
                <a:sym typeface="Noto Sans SC"/>
              </a:rPr>
              <a:t>已能覆盖 80% 的常见业务场景，且功能完全免费，响应延迟始终低于</a:t>
            </a:r>
            <a:r>
              <a:rPr lang="en-US" b="true" i="false" strike="noStrike" u="none" sz="1300">
                <a:solidFill>
                  <a:srgbClr val="2F4F4F"/>
                </a:solidFill>
                <a:latin typeface="Noto Sans SC"/>
                <a:ea typeface="Noto Sans SC"/>
                <a:cs typeface="Noto Sans SC"/>
                <a:sym typeface="Noto Sans SC"/>
              </a:rPr>
              <a:t>10毫秒</a:t>
            </a:r>
            <a:r>
              <a:rPr lang="en-US" b="false" i="false" strike="noStrike" u="none" sz="1300">
                <a:solidFill>
                  <a:srgbClr val="525252"/>
                </a:solidFill>
                <a:latin typeface="Noto Sans SC"/>
                <a:ea typeface="Noto Sans SC"/>
                <a:cs typeface="Noto Sans SC"/>
                <a:sym typeface="Noto Sans SC"/>
              </a:rPr>
              <a:t>，确保基础服务的极致体验。</a:t>
            </a:r>
            <a:endParaRPr lang="en-US" sz="1100"/>
          </a:p>
        </p:txBody>
      </p:sp>
      <p:sp>
        <p:nvSpPr>
          <p:cNvPr name="AutoShape 7" id="7"/>
          <p:cNvSpPr/>
          <p:nvPr/>
        </p:nvSpPr>
        <p:spPr>
          <a:xfrm rot="0" flipH="false" flipV="false">
            <a:off x="6223000" y="1651000"/>
            <a:ext cx="5207000" cy="2286000"/>
          </a:xfrm>
          <a:prstGeom prst="roundRect">
            <a:avLst>
              <a:gd name="adj" fmla="val 6666"/>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1968500"/>
            <a:ext cx="508000" cy="508000"/>
          </a:xfrm>
          <a:prstGeom prst="rect">
            <a:avLst/>
          </a:prstGeom>
        </p:spPr>
      </p:pic>
      <p:sp>
        <p:nvSpPr>
          <p:cNvPr name="AutoShape 9" id="9"/>
          <p:cNvSpPr/>
          <p:nvPr/>
        </p:nvSpPr>
        <p:spPr>
          <a:xfrm rot="0" flipH="false" flipV="false">
            <a:off x="7239000" y="1930400"/>
            <a:ext cx="393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Noto Sans SC"/>
                <a:ea typeface="Noto Sans SC"/>
                <a:cs typeface="Noto Sans SC"/>
                <a:sym typeface="Noto Sans SC"/>
              </a:rPr>
              <a:t>精准引入 AI：三大“质变点”</a:t>
            </a:r>
            <a:endParaRPr lang="en-US" sz="1100"/>
          </a:p>
        </p:txBody>
      </p:sp>
      <p:sp>
        <p:nvSpPr>
          <p:cNvPr name="AutoShape 10" id="10"/>
          <p:cNvSpPr/>
          <p:nvPr/>
        </p:nvSpPr>
        <p:spPr>
          <a:xfrm rot="0" flipH="false" flipV="false">
            <a:off x="6477000" y="2667000"/>
            <a:ext cx="4699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300">
                <a:solidFill>
                  <a:srgbClr val="525252"/>
                </a:solidFill>
                <a:latin typeface="Noto Sans SC"/>
                <a:ea typeface="Noto Sans SC"/>
                <a:cs typeface="Noto Sans SC"/>
                <a:sym typeface="Noto Sans SC"/>
              </a:rPr>
              <a:t>•</a:t>
            </a:r>
            <a:r>
              <a:rPr lang="en-US" b="true" i="false" strike="noStrike" u="none" sz="1300">
                <a:solidFill>
                  <a:srgbClr val="525252"/>
                </a:solidFill>
                <a:latin typeface="Noto Sans SC"/>
                <a:ea typeface="Noto Sans SC"/>
                <a:cs typeface="Noto Sans SC"/>
                <a:sym typeface="Noto Sans SC"/>
              </a:rPr>
              <a:t>意图检测：</a:t>
            </a:r>
            <a:r>
              <a:rPr lang="en-US" b="false" i="false" strike="noStrike" u="none" sz="1300">
                <a:solidFill>
                  <a:srgbClr val="525252"/>
                </a:solidFill>
                <a:latin typeface="Noto Sans SC"/>
                <a:ea typeface="Noto Sans SC"/>
                <a:cs typeface="Noto Sans SC"/>
                <a:sym typeface="Noto Sans SC"/>
              </a:rPr>
              <a:t>智能预判需求，通话时长缩短</a:t>
            </a:r>
            <a:r>
              <a:rPr lang="en-US" b="true" i="false" strike="noStrike" u="none" sz="1300">
                <a:solidFill>
                  <a:srgbClr val="DC2626"/>
                </a:solidFill>
                <a:latin typeface="Noto Sans SC"/>
                <a:ea typeface="Noto Sans SC"/>
                <a:cs typeface="Noto Sans SC"/>
                <a:sym typeface="Noto Sans SC"/>
              </a:rPr>
              <a:t>35%</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300">
                <a:solidFill>
                  <a:srgbClr val="525252"/>
                </a:solidFill>
                <a:latin typeface="Noto Sans SC"/>
                <a:ea typeface="Noto Sans SC"/>
                <a:cs typeface="Noto Sans SC"/>
                <a:sym typeface="Noto Sans SC"/>
              </a:rPr>
              <a:t>•</a:t>
            </a:r>
            <a:r>
              <a:rPr lang="en-US" b="true" i="false" strike="noStrike" u="none" sz="1300">
                <a:solidFill>
                  <a:srgbClr val="525252"/>
                </a:solidFill>
                <a:latin typeface="Noto Sans SC"/>
                <a:ea typeface="Noto Sans SC"/>
                <a:cs typeface="Noto Sans SC"/>
                <a:sym typeface="Noto Sans SC"/>
              </a:rPr>
              <a:t>知识库问答：</a:t>
            </a:r>
            <a:r>
              <a:rPr lang="en-US" b="false" i="false" strike="noStrike" u="none" sz="1300">
                <a:solidFill>
                  <a:srgbClr val="525252"/>
                </a:solidFill>
                <a:latin typeface="Noto Sans SC"/>
                <a:ea typeface="Noto Sans SC"/>
                <a:cs typeface="Noto Sans SC"/>
                <a:sym typeface="Noto Sans SC"/>
              </a:rPr>
              <a:t>自主解决高频问题，人工转接率降低</a:t>
            </a:r>
            <a:r>
              <a:rPr lang="en-US" b="true" i="false" strike="noStrike" u="none" sz="1300">
                <a:solidFill>
                  <a:srgbClr val="DC2626"/>
                </a:solidFill>
                <a:latin typeface="Noto Sans SC"/>
                <a:ea typeface="Noto Sans SC"/>
                <a:cs typeface="Noto Sans SC"/>
                <a:sym typeface="Noto Sans SC"/>
              </a:rPr>
              <a:t>68%</a:t>
            </a:r>
            <a:r>
              <a:rPr lang="en-US" b="false" i="false" strike="noStrike" u="none" sz="1300">
                <a:solidFill>
                  <a:srgbClr val="1F2329"/>
                </a:solidFill>
                <a:latin typeface="Noto Sans SC"/>
                <a:ea typeface="Noto Sans SC"/>
                <a:cs typeface="Noto Sans SC"/>
                <a:sym typeface="Noto Sans SC"/>
              </a:rPr>
              <a:t/>
            </a:r>
          </a:p>
          <a:p>
            <a:pPr algn="l" indent="0">
              <a:lnSpc>
                <a:spcPct val="108333"/>
              </a:lnSpc>
            </a:pPr>
            <a:r>
              <a:rPr lang="en-US" b="false" i="false" strike="noStrike" u="none" sz="1300">
                <a:solidFill>
                  <a:srgbClr val="525252"/>
                </a:solidFill>
                <a:latin typeface="Noto Sans SC"/>
                <a:ea typeface="Noto Sans SC"/>
                <a:cs typeface="Noto Sans SC"/>
                <a:sym typeface="Noto Sans SC"/>
              </a:rPr>
              <a:t>•</a:t>
            </a:r>
            <a:r>
              <a:rPr lang="en-US" b="true" i="false" strike="noStrike" u="none" sz="1300">
                <a:solidFill>
                  <a:srgbClr val="525252"/>
                </a:solidFill>
                <a:latin typeface="Noto Sans SC"/>
                <a:ea typeface="Noto Sans SC"/>
                <a:cs typeface="Noto Sans SC"/>
                <a:sym typeface="Noto Sans SC"/>
              </a:rPr>
              <a:t>通话摘要：</a:t>
            </a:r>
            <a:r>
              <a:rPr lang="en-US" b="false" i="false" strike="noStrike" u="none" sz="1300">
                <a:solidFill>
                  <a:srgbClr val="525252"/>
                </a:solidFill>
                <a:latin typeface="Noto Sans SC"/>
                <a:ea typeface="Noto Sans SC"/>
                <a:cs typeface="Noto Sans SC"/>
                <a:sym typeface="Noto Sans SC"/>
              </a:rPr>
              <a:t>自动生成关键信息，节省</a:t>
            </a:r>
            <a:r>
              <a:rPr lang="en-US" b="true" i="false" strike="noStrike" u="none" sz="1300">
                <a:solidFill>
                  <a:srgbClr val="DC2626"/>
                </a:solidFill>
                <a:latin typeface="Noto Sans SC"/>
                <a:ea typeface="Noto Sans SC"/>
                <a:cs typeface="Noto Sans SC"/>
                <a:sym typeface="Noto Sans SC"/>
              </a:rPr>
              <a:t>100%</a:t>
            </a:r>
            <a:r>
              <a:rPr lang="en-US" b="false" i="false" strike="noStrike" u="none" sz="1300">
                <a:solidFill>
                  <a:srgbClr val="525252"/>
                </a:solidFill>
                <a:latin typeface="Noto Sans SC"/>
                <a:ea typeface="Noto Sans SC"/>
                <a:cs typeface="Noto Sans SC"/>
                <a:sym typeface="Noto Sans SC"/>
              </a:rPr>
              <a:t>人工记录时间</a:t>
            </a:r>
          </a:p>
        </p:txBody>
      </p:sp>
      <p:sp>
        <p:nvSpPr>
          <p:cNvPr name="AutoShape 11" id="11"/>
          <p:cNvSpPr/>
          <p:nvPr/>
        </p:nvSpPr>
        <p:spPr>
          <a:xfrm rot="0" flipH="false" flipV="false">
            <a:off x="762000" y="4191000"/>
            <a:ext cx="5207000" cy="2286000"/>
          </a:xfrm>
          <a:prstGeom prst="roundRect">
            <a:avLst>
              <a:gd name="adj" fmla="val 6666"/>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508500"/>
            <a:ext cx="508000" cy="508000"/>
          </a:xfrm>
          <a:prstGeom prst="rect">
            <a:avLst/>
          </a:prstGeom>
        </p:spPr>
      </p:pic>
      <p:sp>
        <p:nvSpPr>
          <p:cNvPr name="AutoShape 13" id="13"/>
          <p:cNvSpPr/>
          <p:nvPr/>
        </p:nvSpPr>
        <p:spPr>
          <a:xfrm rot="0" flipH="false" flipV="false">
            <a:off x="1778000" y="4470400"/>
            <a:ext cx="393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Noto Sans SC"/>
                <a:ea typeface="Noto Sans SC"/>
                <a:cs typeface="Noto Sans SC"/>
                <a:sym typeface="Noto Sans SC"/>
              </a:rPr>
              <a:t>成本与延迟的务实权衡</a:t>
            </a:r>
            <a:endParaRPr lang="en-US" sz="1100"/>
          </a:p>
        </p:txBody>
      </p:sp>
      <p:sp>
        <p:nvSpPr>
          <p:cNvPr name="AutoShape 14" id="14"/>
          <p:cNvSpPr/>
          <p:nvPr/>
        </p:nvSpPr>
        <p:spPr>
          <a:xfrm rot="0" flipH="false" flipV="false">
            <a:off x="1016000" y="5270500"/>
            <a:ext cx="4699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525252"/>
                </a:solidFill>
                <a:latin typeface="Noto Sans SC"/>
                <a:ea typeface="Noto Sans SC"/>
                <a:cs typeface="Noto Sans SC"/>
                <a:sym typeface="Noto Sans SC"/>
              </a:rPr>
              <a:t>对情感检测、智能路由等功能，考虑到其高昂成本与延迟，在当前中小企业场景下投入产出比不高，故将其归入后续进阶版本，由用户按需灵活选择。</a:t>
            </a:r>
            <a:endParaRPr lang="en-US" sz="1100"/>
          </a:p>
        </p:txBody>
      </p:sp>
      <p:sp>
        <p:nvSpPr>
          <p:cNvPr name="AutoShape 15" id="15"/>
          <p:cNvSpPr/>
          <p:nvPr/>
        </p:nvSpPr>
        <p:spPr>
          <a:xfrm rot="0" flipH="false" flipV="false">
            <a:off x="6223000" y="4191000"/>
            <a:ext cx="5207000" cy="2286000"/>
          </a:xfrm>
          <a:prstGeom prst="roundRect">
            <a:avLst>
              <a:gd name="adj" fmla="val 6666"/>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77000" y="4508500"/>
            <a:ext cx="508000" cy="508000"/>
          </a:xfrm>
          <a:prstGeom prst="rect">
            <a:avLst/>
          </a:prstGeom>
        </p:spPr>
      </p:pic>
      <p:sp>
        <p:nvSpPr>
          <p:cNvPr name="AutoShape 17" id="17"/>
          <p:cNvSpPr/>
          <p:nvPr/>
        </p:nvSpPr>
        <p:spPr>
          <a:xfrm rot="0" flipH="false" flipV="false">
            <a:off x="7239000" y="4470400"/>
            <a:ext cx="393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Noto Sans SC"/>
                <a:ea typeface="Noto Sans SC"/>
                <a:cs typeface="Noto Sans SC"/>
                <a:sym typeface="Noto Sans SC"/>
              </a:rPr>
              <a:t>可靠性是不可逾越的底线</a:t>
            </a:r>
            <a:endParaRPr lang="en-US" sz="1100"/>
          </a:p>
        </p:txBody>
      </p:sp>
      <p:sp>
        <p:nvSpPr>
          <p:cNvPr name="AutoShape 18" id="18"/>
          <p:cNvSpPr/>
          <p:nvPr/>
        </p:nvSpPr>
        <p:spPr>
          <a:xfrm rot="0" flipH="false" flipV="false">
            <a:off x="6477000" y="5270500"/>
            <a:ext cx="4699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525252"/>
                </a:solidFill>
                <a:latin typeface="Noto Sans SC"/>
                <a:ea typeface="Noto Sans SC"/>
                <a:cs typeface="Noto Sans SC"/>
                <a:sym typeface="Noto Sans SC"/>
              </a:rPr>
              <a:t>技术必须服务于稳定性。所有AI节点均配置了明确的降级方案，一旦出现波动或异常，可秒级切换至备用策略，确保业务连续性不受任何影响。</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三个AI质变点：精准赋能，效果显著</a:t>
            </a:r>
            <a:endParaRPr lang="en-US" sz="1100"/>
          </a:p>
        </p:txBody>
      </p:sp>
      <p:sp>
        <p:nvSpPr>
          <p:cNvPr name="AutoShape 4" id="4"/>
          <p:cNvSpPr/>
          <p:nvPr/>
        </p:nvSpPr>
        <p:spPr>
          <a:xfrm rot="0" flipH="false" flipV="false">
            <a:off x="762000" y="1778000"/>
            <a:ext cx="3302000" cy="4318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3302000" cy="762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235200"/>
            <a:ext cx="609600" cy="609600"/>
          </a:xfrm>
          <a:prstGeom prst="rect">
            <a:avLst/>
          </a:prstGeom>
        </p:spPr>
      </p:pic>
      <p:sp>
        <p:nvSpPr>
          <p:cNvPr name="AutoShape 7" id="7"/>
          <p:cNvSpPr/>
          <p:nvPr/>
        </p:nvSpPr>
        <p:spPr>
          <a:xfrm rot="0" flipH="false" flipV="false">
            <a:off x="1778000" y="2235200"/>
            <a:ext cx="2032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F4F4F"/>
                </a:solidFill>
                <a:latin typeface="Noto Sans SC"/>
                <a:ea typeface="Noto Sans SC"/>
                <a:cs typeface="Noto Sans SC"/>
                <a:sym typeface="Noto Sans SC"/>
              </a:rPr>
              <a:t>AI意图检测</a:t>
            </a:r>
            <a:endParaRPr lang="en-US" sz="1100"/>
          </a:p>
        </p:txBody>
      </p:sp>
      <p:sp>
        <p:nvSpPr>
          <p:cNvPr name="AutoShape 8" id="8"/>
          <p:cNvSpPr/>
          <p:nvPr/>
        </p:nvSpPr>
        <p:spPr>
          <a:xfrm rot="0" flipH="false" flipV="false">
            <a:off x="1016000" y="3175000"/>
            <a:ext cx="2794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取代传统的按键导航。用户可直接说出需求，一步直达对应流程，告别繁琐的层层跳转。</a:t>
            </a:r>
            <a:endParaRPr lang="en-US" sz="1100"/>
          </a:p>
        </p:txBody>
      </p:sp>
      <p:sp>
        <p:nvSpPr>
          <p:cNvPr name="AutoShape 9" id="9"/>
          <p:cNvSpPr/>
          <p:nvPr/>
        </p:nvSpPr>
        <p:spPr>
          <a:xfrm rot="0" flipH="false" flipV="false">
            <a:off x="1016000" y="4572000"/>
            <a:ext cx="2794000" cy="1270000"/>
          </a:xfrm>
          <a:prstGeom prst="roundRect">
            <a:avLst>
              <a:gd name="adj" fmla="val 600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143000" y="4762500"/>
            <a:ext cx="2540000" cy="889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300">
                <a:solidFill>
                  <a:srgbClr val="374151"/>
                </a:solidFill>
                <a:latin typeface="Noto Sans SC"/>
                <a:ea typeface="Noto Sans SC"/>
                <a:cs typeface="Noto Sans SC"/>
                <a:sym typeface="Noto Sans SC"/>
              </a:rPr>
              <a:t>平均步骤：</a:t>
            </a:r>
            <a:r>
              <a:rPr lang="en-US" b="true" i="false" strike="noStrike" u="none" sz="1600">
                <a:solidFill>
                  <a:srgbClr val="2F4F4F"/>
                </a:solidFill>
                <a:latin typeface="Noto Sans SC"/>
                <a:ea typeface="Noto Sans SC"/>
                <a:cs typeface="Noto Sans SC"/>
                <a:sym typeface="Noto Sans SC"/>
              </a:rPr>
              <a:t>4.2步 → 1步</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300">
                <a:solidFill>
                  <a:srgbClr val="374151"/>
                </a:solidFill>
                <a:latin typeface="Noto Sans SC"/>
                <a:ea typeface="Noto Sans SC"/>
                <a:cs typeface="Noto Sans SC"/>
                <a:sym typeface="Noto Sans SC"/>
              </a:rPr>
              <a:t>放弃率降低：</a:t>
            </a:r>
            <a:r>
              <a:rPr lang="en-US" b="true" i="false" strike="noStrike" u="none" sz="1600">
                <a:solidFill>
                  <a:srgbClr val="DC2626"/>
                </a:solidFill>
                <a:latin typeface="Noto Sans SC"/>
                <a:ea typeface="Noto Sans SC"/>
                <a:cs typeface="Noto Sans SC"/>
                <a:sym typeface="Noto Sans SC"/>
              </a:rPr>
              <a:t>28% → 6%</a:t>
            </a:r>
          </a:p>
        </p:txBody>
      </p:sp>
      <p:sp>
        <p:nvSpPr>
          <p:cNvPr name="AutoShape 11" id="11"/>
          <p:cNvSpPr/>
          <p:nvPr/>
        </p:nvSpPr>
        <p:spPr>
          <a:xfrm rot="0" flipH="false" flipV="false">
            <a:off x="4445000" y="1778000"/>
            <a:ext cx="3302000" cy="4318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445000" y="1778000"/>
            <a:ext cx="3302000" cy="762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2235200"/>
            <a:ext cx="609600" cy="609600"/>
          </a:xfrm>
          <a:prstGeom prst="rect">
            <a:avLst/>
          </a:prstGeom>
        </p:spPr>
      </p:pic>
      <p:sp>
        <p:nvSpPr>
          <p:cNvPr name="AutoShape 14" id="14"/>
          <p:cNvSpPr/>
          <p:nvPr/>
        </p:nvSpPr>
        <p:spPr>
          <a:xfrm rot="0" flipH="false" flipV="false">
            <a:off x="5461000" y="2235200"/>
            <a:ext cx="2032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F4F4F"/>
                </a:solidFill>
                <a:latin typeface="Noto Sans SC"/>
                <a:ea typeface="Noto Sans SC"/>
                <a:cs typeface="Noto Sans SC"/>
                <a:sym typeface="Noto Sans SC"/>
              </a:rPr>
              <a:t>知识库问答 (RAG)</a:t>
            </a:r>
            <a:endParaRPr lang="en-US" sz="1100"/>
          </a:p>
        </p:txBody>
      </p:sp>
      <p:sp>
        <p:nvSpPr>
          <p:cNvPr name="AutoShape 15" id="15"/>
          <p:cNvSpPr/>
          <p:nvPr/>
        </p:nvSpPr>
        <p:spPr>
          <a:xfrm rot="0" flipH="false" flipV="false">
            <a:off x="4699000" y="3175000"/>
            <a:ext cx="2794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无缝连接企业知识库，实时回答各类常见问题。一个知识库即可覆盖数百个FAQ，无需人工逐条维护。</a:t>
            </a:r>
            <a:endParaRPr lang="en-US" sz="1100"/>
          </a:p>
        </p:txBody>
      </p:sp>
      <p:sp>
        <p:nvSpPr>
          <p:cNvPr name="AutoShape 16" id="16"/>
          <p:cNvSpPr/>
          <p:nvPr/>
        </p:nvSpPr>
        <p:spPr>
          <a:xfrm rot="0" flipH="false" flipV="false">
            <a:off x="4699000" y="4572000"/>
            <a:ext cx="2794000" cy="1270000"/>
          </a:xfrm>
          <a:prstGeom prst="roundRect">
            <a:avLst>
              <a:gd name="adj" fmla="val 600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4826000" y="4889500"/>
            <a:ext cx="2540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300">
                <a:solidFill>
                  <a:srgbClr val="374151"/>
                </a:solidFill>
                <a:latin typeface="Noto Sans SC"/>
                <a:ea typeface="Noto Sans SC"/>
                <a:cs typeface="Noto Sans SC"/>
                <a:sym typeface="Noto Sans SC"/>
              </a:rPr>
              <a:t>有效拦截</a:t>
            </a:r>
            <a:r>
              <a:rPr lang="en-US" b="true" i="false" strike="noStrike" u="none" sz="2400">
                <a:solidFill>
                  <a:srgbClr val="15803D"/>
                </a:solidFill>
                <a:latin typeface="Noto Sans SC"/>
                <a:ea typeface="Noto Sans SC"/>
                <a:cs typeface="Noto Sans SC"/>
                <a:sym typeface="Noto Sans SC"/>
              </a:rPr>
              <a:t>68%</a:t>
            </a:r>
            <a:r>
              <a:rPr lang="en-US" b="false" i="false" strike="noStrike" u="none" sz="1300">
                <a:solidFill>
                  <a:srgbClr val="374151"/>
                </a:solidFill>
                <a:latin typeface="Noto Sans SC"/>
                <a:ea typeface="Noto Sans SC"/>
                <a:cs typeface="Noto Sans SC"/>
                <a:sym typeface="Noto Sans SC"/>
              </a:rPr>
              <a:t>的</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374151"/>
                </a:solidFill>
                <a:latin typeface="Noto Sans SC"/>
                <a:ea typeface="Noto Sans SC"/>
                <a:cs typeface="Noto Sans SC"/>
                <a:sym typeface="Noto Sans SC"/>
              </a:rPr>
              <a:t>重复性人工咨询</a:t>
            </a:r>
            <a:endParaRPr lang="en-US" sz="1100"/>
          </a:p>
        </p:txBody>
      </p:sp>
      <p:sp>
        <p:nvSpPr>
          <p:cNvPr name="AutoShape 18" id="18"/>
          <p:cNvSpPr/>
          <p:nvPr/>
        </p:nvSpPr>
        <p:spPr>
          <a:xfrm rot="0" flipH="false" flipV="false">
            <a:off x="8128000" y="1778000"/>
            <a:ext cx="3302000" cy="4318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8128000" y="1778000"/>
            <a:ext cx="3302000" cy="762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2235200"/>
            <a:ext cx="609600" cy="609600"/>
          </a:xfrm>
          <a:prstGeom prst="rect">
            <a:avLst/>
          </a:prstGeom>
        </p:spPr>
      </p:pic>
      <p:sp>
        <p:nvSpPr>
          <p:cNvPr name="AutoShape 21" id="21"/>
          <p:cNvSpPr/>
          <p:nvPr/>
        </p:nvSpPr>
        <p:spPr>
          <a:xfrm rot="0" flipH="false" flipV="false">
            <a:off x="9144000" y="2235200"/>
            <a:ext cx="2032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F4F4F"/>
                </a:solidFill>
                <a:latin typeface="Noto Sans SC"/>
                <a:ea typeface="Noto Sans SC"/>
                <a:cs typeface="Noto Sans SC"/>
                <a:sym typeface="Noto Sans SC"/>
              </a:rPr>
              <a:t>通话摘要</a:t>
            </a:r>
            <a:endParaRPr lang="en-US" sz="1100"/>
          </a:p>
        </p:txBody>
      </p:sp>
      <p:sp>
        <p:nvSpPr>
          <p:cNvPr name="AutoShape 22" id="22"/>
          <p:cNvSpPr/>
          <p:nvPr/>
        </p:nvSpPr>
        <p:spPr>
          <a:xfrm rot="0" flipH="false" flipV="false">
            <a:off x="8382000" y="3175000"/>
            <a:ext cx="2794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通话结束后AI自动生成结构化摘要，包含通话要点、关键信息与客户真实意图，还原完整对话场景。</a:t>
            </a:r>
            <a:endParaRPr lang="en-US" sz="1100"/>
          </a:p>
        </p:txBody>
      </p:sp>
      <p:sp>
        <p:nvSpPr>
          <p:cNvPr name="AutoShape 23" id="23"/>
          <p:cNvSpPr/>
          <p:nvPr/>
        </p:nvSpPr>
        <p:spPr>
          <a:xfrm rot="0" flipH="false" flipV="false">
            <a:off x="8382000" y="4572000"/>
            <a:ext cx="2794000" cy="1270000"/>
          </a:xfrm>
          <a:prstGeom prst="roundRect">
            <a:avLst>
              <a:gd name="adj" fmla="val 600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509000" y="4889500"/>
            <a:ext cx="2540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300">
                <a:solidFill>
                  <a:srgbClr val="374151"/>
                </a:solidFill>
                <a:latin typeface="Noto Sans SC"/>
                <a:ea typeface="Noto Sans SC"/>
                <a:cs typeface="Noto Sans SC"/>
                <a:sym typeface="Noto Sans SC"/>
              </a:rPr>
              <a:t>人工记录耗时大幅缩减：</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true" i="false" strike="noStrike" u="none" sz="2000">
                <a:solidFill>
                  <a:srgbClr val="2563EB"/>
                </a:solidFill>
                <a:latin typeface="Noto Sans SC"/>
                <a:ea typeface="Noto Sans SC"/>
                <a:cs typeface="Noto Sans SC"/>
                <a:sym typeface="Noto Sans SC"/>
              </a:rPr>
              <a:t>3分钟 → 30秒</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成本与延迟的精确边界：每一分钱都花在刀刃上</a:t>
            </a:r>
            <a:endParaRPr lang="en-US" sz="1100"/>
          </a:p>
        </p:txBody>
      </p:sp>
      <p:sp>
        <p:nvSpPr>
          <p:cNvPr name="AutoShape 4" id="4"/>
          <p:cNvSpPr/>
          <p:nvPr/>
        </p:nvSpPr>
        <p:spPr>
          <a:xfrm rot="0" flipH="false" flipV="false">
            <a:off x="762000" y="1651000"/>
            <a:ext cx="2540000" cy="3302000"/>
          </a:xfrm>
          <a:prstGeom prst="roundRect">
            <a:avLst>
              <a:gd name="adj" fmla="val 6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1905000"/>
            <a:ext cx="304800" cy="304800"/>
          </a:xfrm>
          <a:prstGeom prst="rect">
            <a:avLst/>
          </a:prstGeom>
        </p:spPr>
      </p:pic>
      <p:sp>
        <p:nvSpPr>
          <p:cNvPr name="AutoShape 6" id="6"/>
          <p:cNvSpPr/>
          <p:nvPr/>
        </p:nvSpPr>
        <p:spPr>
          <a:xfrm rot="0" flipH="false" flipV="false">
            <a:off x="1397000" y="1879600"/>
            <a:ext cx="1714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Noto Sans SC"/>
                <a:ea typeface="Noto Sans SC"/>
                <a:cs typeface="Noto Sans SC"/>
                <a:sym typeface="Noto Sans SC"/>
              </a:rPr>
              <a:t>纯规则引擎</a:t>
            </a:r>
            <a:endParaRPr lang="en-US" sz="1100"/>
          </a:p>
        </p:txBody>
      </p:sp>
      <p:sp>
        <p:nvSpPr>
          <p:cNvPr name="AutoShape 7" id="7"/>
          <p:cNvSpPr/>
          <p:nvPr/>
        </p:nvSpPr>
        <p:spPr>
          <a:xfrm rot="0" flipH="false" flipV="false">
            <a:off x="1016000" y="2540000"/>
            <a:ext cx="2032000" cy="12700"/>
          </a:xfrm>
          <a:prstGeom prst="roundRect">
            <a:avLst>
              <a:gd name="adj" fmla="val 0"/>
            </a:avLst>
          </a:prstGeom>
          <a:solidFill>
            <a:srgbClr val="E5E7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952500" y="2794000"/>
            <a:ext cx="2159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6B7280"/>
                </a:solidFill>
                <a:latin typeface="Noto Sans SC"/>
                <a:ea typeface="Noto Sans SC"/>
                <a:cs typeface="Noto Sans SC"/>
                <a:sym typeface="Noto Sans SC"/>
              </a:rPr>
              <a:t>💰 增量成本</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true" i="false" strike="noStrike" u="none" sz="1800">
                <a:solidFill>
                  <a:srgbClr val="16A34A"/>
                </a:solidFill>
                <a:latin typeface="Noto Sans SC"/>
                <a:ea typeface="Noto Sans SC"/>
                <a:cs typeface="Noto Sans SC"/>
                <a:sym typeface="Noto Sans SC"/>
              </a:rPr>
              <a:t>$0</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1200"/>
              </a:spcBef>
            </a:pPr>
            <a:r>
              <a:rPr lang="en-US" b="false" i="false" strike="noStrike" u="none" sz="1200">
                <a:solidFill>
                  <a:srgbClr val="6B7280"/>
                </a:solidFill>
                <a:latin typeface="Noto Sans SC"/>
                <a:ea typeface="Noto Sans SC"/>
                <a:cs typeface="Noto Sans SC"/>
                <a:sym typeface="Noto Sans SC"/>
              </a:rPr>
              <a:t>⏱️ 延迟</a:t>
            </a:r>
            <a:r>
              <a:rPr lang="en-US" b="false" i="false" strike="noStrike" u="none" sz="1600">
                <a:solidFill>
                  <a:srgbClr val="1F2329"/>
                </a:solidFill>
                <a:latin typeface="Noto Sans SC"/>
                <a:ea typeface="Noto Sans SC"/>
                <a:cs typeface="Noto Sans SC"/>
                <a:sym typeface="Noto Sans SC"/>
              </a:rPr>
              <a:t/>
            </a:r>
          </a:p>
          <a:p>
            <a:pPr algn="l" indent="0">
              <a:lnSpc>
                <a:spcPct val="100000"/>
              </a:lnSpc>
            </a:pPr>
            <a:r>
              <a:rPr lang="en-US" b="true" i="false" strike="noStrike" u="none" sz="1800">
                <a:solidFill>
                  <a:srgbClr val="F59E0B"/>
                </a:solidFill>
                <a:latin typeface="Noto Sans SC"/>
                <a:ea typeface="Noto Sans SC"/>
                <a:cs typeface="Noto Sans SC"/>
                <a:sym typeface="Noto Sans SC"/>
              </a:rPr>
              <a:t>&lt; 10ms</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1200"/>
              </a:spcBef>
            </a:pPr>
            <a:r>
              <a:rPr lang="en-US" b="false" i="false" strike="noStrike" u="none" sz="1200">
                <a:solidFill>
                  <a:srgbClr val="6B7280"/>
                </a:solidFill>
                <a:latin typeface="Noto Sans SC"/>
                <a:ea typeface="Noto Sans SC"/>
                <a:cs typeface="Noto Sans SC"/>
                <a:sym typeface="Noto Sans SC"/>
              </a:rPr>
              <a:t>🎯 回报</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300">
                <a:solidFill>
                  <a:srgbClr val="374151"/>
                </a:solidFill>
                <a:latin typeface="Noto Sans SC"/>
                <a:ea typeface="Noto Sans SC"/>
                <a:cs typeface="Noto Sans SC"/>
                <a:sym typeface="Noto Sans SC"/>
              </a:rPr>
              <a:t>标准化流程，确保稳定</a:t>
            </a:r>
          </a:p>
        </p:txBody>
      </p:sp>
      <p:sp>
        <p:nvSpPr>
          <p:cNvPr name="AutoShape 9" id="9"/>
          <p:cNvSpPr/>
          <p:nvPr/>
        </p:nvSpPr>
        <p:spPr>
          <a:xfrm rot="0" flipH="false" flipV="false">
            <a:off x="3492500" y="1651000"/>
            <a:ext cx="2540000" cy="3302000"/>
          </a:xfrm>
          <a:prstGeom prst="roundRect">
            <a:avLst>
              <a:gd name="adj" fmla="val 6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683000" y="1905000"/>
            <a:ext cx="304800" cy="304800"/>
          </a:xfrm>
          <a:prstGeom prst="rect">
            <a:avLst/>
          </a:prstGeom>
        </p:spPr>
      </p:pic>
      <p:sp>
        <p:nvSpPr>
          <p:cNvPr name="AutoShape 11" id="11"/>
          <p:cNvSpPr/>
          <p:nvPr/>
        </p:nvSpPr>
        <p:spPr>
          <a:xfrm rot="0" flipH="false" flipV="false">
            <a:off x="4127500" y="1879600"/>
            <a:ext cx="1714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Noto Sans SC"/>
                <a:ea typeface="Noto Sans SC"/>
                <a:cs typeface="Noto Sans SC"/>
                <a:sym typeface="Noto Sans SC"/>
              </a:rPr>
              <a:t>+ AI意图检测</a:t>
            </a:r>
            <a:endParaRPr lang="en-US" sz="1100"/>
          </a:p>
        </p:txBody>
      </p:sp>
      <p:sp>
        <p:nvSpPr>
          <p:cNvPr name="AutoShape 12" id="12"/>
          <p:cNvSpPr/>
          <p:nvPr/>
        </p:nvSpPr>
        <p:spPr>
          <a:xfrm rot="0" flipH="false" flipV="false">
            <a:off x="3746500" y="2540000"/>
            <a:ext cx="2032000" cy="12700"/>
          </a:xfrm>
          <a:prstGeom prst="roundRect">
            <a:avLst>
              <a:gd name="adj" fmla="val 0"/>
            </a:avLst>
          </a:prstGeom>
          <a:solidFill>
            <a:srgbClr val="E5E7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3683000" y="2794000"/>
            <a:ext cx="2159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6B7280"/>
                </a:solidFill>
                <a:latin typeface="Noto Sans SC"/>
                <a:ea typeface="Noto Sans SC"/>
                <a:cs typeface="Noto Sans SC"/>
                <a:sym typeface="Noto Sans SC"/>
              </a:rPr>
              <a:t>💰 增量成本</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true" i="false" strike="noStrike" u="none" sz="1600">
                <a:solidFill>
                  <a:srgbClr val="EF4444"/>
                </a:solidFill>
                <a:latin typeface="Noto Sans SC"/>
                <a:ea typeface="Noto Sans SC"/>
                <a:cs typeface="Noto Sans SC"/>
                <a:sym typeface="Noto Sans SC"/>
              </a:rPr>
              <a:t>+$0.02 / 分钟</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1200"/>
              </a:spcBef>
            </a:pPr>
            <a:r>
              <a:rPr lang="en-US" b="false" i="false" strike="noStrike" u="none" sz="1200">
                <a:solidFill>
                  <a:srgbClr val="6B7280"/>
                </a:solidFill>
                <a:latin typeface="Noto Sans SC"/>
                <a:ea typeface="Noto Sans SC"/>
                <a:cs typeface="Noto Sans SC"/>
                <a:sym typeface="Noto Sans SC"/>
              </a:rPr>
              <a:t>⏱️ 延迟</a:t>
            </a:r>
            <a:r>
              <a:rPr lang="en-US" b="false" i="false" strike="noStrike" u="none" sz="1600">
                <a:solidFill>
                  <a:srgbClr val="1F2329"/>
                </a:solidFill>
                <a:latin typeface="Noto Sans SC"/>
                <a:ea typeface="Noto Sans SC"/>
                <a:cs typeface="Noto Sans SC"/>
                <a:sym typeface="Noto Sans SC"/>
              </a:rPr>
              <a:t/>
            </a:r>
          </a:p>
          <a:p>
            <a:pPr algn="l" indent="0">
              <a:lnSpc>
                <a:spcPct val="100000"/>
              </a:lnSpc>
            </a:pPr>
            <a:r>
              <a:rPr lang="en-US" b="true" i="false" strike="noStrike" u="none" sz="1600">
                <a:solidFill>
                  <a:srgbClr val="F59E0B"/>
                </a:solidFill>
                <a:latin typeface="Noto Sans SC"/>
                <a:ea typeface="Noto Sans SC"/>
                <a:cs typeface="Noto Sans SC"/>
                <a:sym typeface="Noto Sans SC"/>
              </a:rPr>
              <a:t>+ 300ms</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1200"/>
              </a:spcBef>
            </a:pPr>
            <a:r>
              <a:rPr lang="en-US" b="false" i="false" strike="noStrike" u="none" sz="1200">
                <a:solidFill>
                  <a:srgbClr val="6B7280"/>
                </a:solidFill>
                <a:latin typeface="Noto Sans SC"/>
                <a:ea typeface="Noto Sans SC"/>
                <a:cs typeface="Noto Sans SC"/>
                <a:sym typeface="Noto Sans SC"/>
              </a:rPr>
              <a:t>🎯 回报</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300">
                <a:solidFill>
                  <a:srgbClr val="374151"/>
                </a:solidFill>
                <a:latin typeface="Noto Sans SC"/>
                <a:ea typeface="Noto Sans SC"/>
                <a:cs typeface="Noto Sans SC"/>
                <a:sym typeface="Noto Sans SC"/>
              </a:rPr>
              <a:t>通话时长缩短</a:t>
            </a:r>
            <a:r>
              <a:rPr lang="en-US" b="true" i="false" strike="noStrike" u="none" sz="1300">
                <a:solidFill>
                  <a:srgbClr val="10B981"/>
                </a:solidFill>
                <a:latin typeface="Noto Sans SC"/>
                <a:ea typeface="Noto Sans SC"/>
                <a:cs typeface="Noto Sans SC"/>
                <a:sym typeface="Noto Sans SC"/>
              </a:rPr>
              <a:t>35%</a:t>
            </a:r>
          </a:p>
        </p:txBody>
      </p:sp>
      <p:sp>
        <p:nvSpPr>
          <p:cNvPr name="AutoShape 14" id="14"/>
          <p:cNvSpPr/>
          <p:nvPr/>
        </p:nvSpPr>
        <p:spPr>
          <a:xfrm rot="0" flipH="false" flipV="false">
            <a:off x="6223000" y="1651000"/>
            <a:ext cx="2540000" cy="3302000"/>
          </a:xfrm>
          <a:prstGeom prst="roundRect">
            <a:avLst>
              <a:gd name="adj" fmla="val 6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413500" y="1905000"/>
            <a:ext cx="304800" cy="304800"/>
          </a:xfrm>
          <a:prstGeom prst="rect">
            <a:avLst/>
          </a:prstGeom>
        </p:spPr>
      </p:pic>
      <p:sp>
        <p:nvSpPr>
          <p:cNvPr name="AutoShape 16" id="16"/>
          <p:cNvSpPr/>
          <p:nvPr/>
        </p:nvSpPr>
        <p:spPr>
          <a:xfrm rot="0" flipH="false" flipV="false">
            <a:off x="6858000" y="1879600"/>
            <a:ext cx="1714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Noto Sans SC"/>
                <a:ea typeface="Noto Sans SC"/>
                <a:cs typeface="Noto Sans SC"/>
                <a:sym typeface="Noto Sans SC"/>
              </a:rPr>
              <a:t>+ 知识库问答</a:t>
            </a:r>
            <a:endParaRPr lang="en-US" sz="1100"/>
          </a:p>
        </p:txBody>
      </p:sp>
      <p:sp>
        <p:nvSpPr>
          <p:cNvPr name="AutoShape 17" id="17"/>
          <p:cNvSpPr/>
          <p:nvPr/>
        </p:nvSpPr>
        <p:spPr>
          <a:xfrm rot="0" flipH="false" flipV="false">
            <a:off x="6477000" y="2540000"/>
            <a:ext cx="2032000" cy="12700"/>
          </a:xfrm>
          <a:prstGeom prst="roundRect">
            <a:avLst>
              <a:gd name="adj" fmla="val 0"/>
            </a:avLst>
          </a:prstGeom>
          <a:solidFill>
            <a:srgbClr val="E5E7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413500" y="2794000"/>
            <a:ext cx="2159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6B7280"/>
                </a:solidFill>
                <a:latin typeface="Noto Sans SC"/>
                <a:ea typeface="Noto Sans SC"/>
                <a:cs typeface="Noto Sans SC"/>
                <a:sym typeface="Noto Sans SC"/>
              </a:rPr>
              <a:t>💰 增量成本</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true" i="false" strike="noStrike" u="none" sz="1600">
                <a:solidFill>
                  <a:srgbClr val="EF4444"/>
                </a:solidFill>
                <a:latin typeface="Noto Sans SC"/>
                <a:ea typeface="Noto Sans SC"/>
                <a:cs typeface="Noto Sans SC"/>
                <a:sym typeface="Noto Sans SC"/>
              </a:rPr>
              <a:t>+$0.03 / 分钟</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1200"/>
              </a:spcBef>
            </a:pPr>
            <a:r>
              <a:rPr lang="en-US" b="false" i="false" strike="noStrike" u="none" sz="1200">
                <a:solidFill>
                  <a:srgbClr val="6B7280"/>
                </a:solidFill>
                <a:latin typeface="Noto Sans SC"/>
                <a:ea typeface="Noto Sans SC"/>
                <a:cs typeface="Noto Sans SC"/>
                <a:sym typeface="Noto Sans SC"/>
              </a:rPr>
              <a:t>⏱️ 延迟</a:t>
            </a:r>
            <a:r>
              <a:rPr lang="en-US" b="false" i="false" strike="noStrike" u="none" sz="1600">
                <a:solidFill>
                  <a:srgbClr val="1F2329"/>
                </a:solidFill>
                <a:latin typeface="Noto Sans SC"/>
                <a:ea typeface="Noto Sans SC"/>
                <a:cs typeface="Noto Sans SC"/>
                <a:sym typeface="Noto Sans SC"/>
              </a:rPr>
              <a:t/>
            </a:r>
          </a:p>
          <a:p>
            <a:pPr algn="l" indent="0">
              <a:lnSpc>
                <a:spcPct val="100000"/>
              </a:lnSpc>
            </a:pPr>
            <a:r>
              <a:rPr lang="en-US" b="true" i="false" strike="noStrike" u="none" sz="1600">
                <a:solidFill>
                  <a:srgbClr val="F59E0B"/>
                </a:solidFill>
                <a:latin typeface="Noto Sans SC"/>
                <a:ea typeface="Noto Sans SC"/>
                <a:cs typeface="Noto Sans SC"/>
                <a:sym typeface="Noto Sans SC"/>
              </a:rPr>
              <a:t>+ 600ms</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1200"/>
              </a:spcBef>
            </a:pPr>
            <a:r>
              <a:rPr lang="en-US" b="false" i="false" strike="noStrike" u="none" sz="1200">
                <a:solidFill>
                  <a:srgbClr val="6B7280"/>
                </a:solidFill>
                <a:latin typeface="Noto Sans SC"/>
                <a:ea typeface="Noto Sans SC"/>
                <a:cs typeface="Noto Sans SC"/>
                <a:sym typeface="Noto Sans SC"/>
              </a:rPr>
              <a:t>🎯 回报</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300">
                <a:solidFill>
                  <a:srgbClr val="374151"/>
                </a:solidFill>
                <a:latin typeface="Noto Sans SC"/>
                <a:ea typeface="Noto Sans SC"/>
                <a:cs typeface="Noto Sans SC"/>
                <a:sym typeface="Noto Sans SC"/>
              </a:rPr>
              <a:t>人工转接率降低</a:t>
            </a:r>
            <a:r>
              <a:rPr lang="en-US" b="true" i="false" strike="noStrike" u="none" sz="1300">
                <a:solidFill>
                  <a:srgbClr val="10B981"/>
                </a:solidFill>
                <a:latin typeface="Noto Sans SC"/>
                <a:ea typeface="Noto Sans SC"/>
                <a:cs typeface="Noto Sans SC"/>
                <a:sym typeface="Noto Sans SC"/>
              </a:rPr>
              <a:t>68%</a:t>
            </a:r>
          </a:p>
        </p:txBody>
      </p:sp>
      <p:sp>
        <p:nvSpPr>
          <p:cNvPr name="AutoShape 19" id="19"/>
          <p:cNvSpPr/>
          <p:nvPr/>
        </p:nvSpPr>
        <p:spPr>
          <a:xfrm rot="0" flipH="false" flipV="false">
            <a:off x="8890000" y="1651000"/>
            <a:ext cx="2540000" cy="3302000"/>
          </a:xfrm>
          <a:prstGeom prst="roundRect">
            <a:avLst>
              <a:gd name="adj" fmla="val 6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080500" y="1905000"/>
            <a:ext cx="304800" cy="304800"/>
          </a:xfrm>
          <a:prstGeom prst="rect">
            <a:avLst/>
          </a:prstGeom>
        </p:spPr>
      </p:pic>
      <p:sp>
        <p:nvSpPr>
          <p:cNvPr name="AutoShape 21" id="21"/>
          <p:cNvSpPr/>
          <p:nvPr/>
        </p:nvSpPr>
        <p:spPr>
          <a:xfrm rot="0" flipH="false" flipV="false">
            <a:off x="9525000" y="1879600"/>
            <a:ext cx="1714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Noto Sans SC"/>
                <a:ea typeface="Noto Sans SC"/>
                <a:cs typeface="Noto Sans SC"/>
                <a:sym typeface="Noto Sans SC"/>
              </a:rPr>
              <a:t>全 AI Agent</a:t>
            </a:r>
            <a:endParaRPr lang="en-US" sz="1100"/>
          </a:p>
        </p:txBody>
      </p:sp>
      <p:sp>
        <p:nvSpPr>
          <p:cNvPr name="AutoShape 22" id="22"/>
          <p:cNvSpPr/>
          <p:nvPr/>
        </p:nvSpPr>
        <p:spPr>
          <a:xfrm rot="0" flipH="false" flipV="false">
            <a:off x="9144000" y="2540000"/>
            <a:ext cx="2032000" cy="12700"/>
          </a:xfrm>
          <a:prstGeom prst="roundRect">
            <a:avLst>
              <a:gd name="adj" fmla="val 0"/>
            </a:avLst>
          </a:prstGeom>
          <a:solidFill>
            <a:srgbClr val="E5E7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9080500" y="2794000"/>
            <a:ext cx="2159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6B7280"/>
                </a:solidFill>
                <a:latin typeface="Noto Sans SC"/>
                <a:ea typeface="Noto Sans SC"/>
                <a:cs typeface="Noto Sans SC"/>
                <a:sym typeface="Noto Sans SC"/>
              </a:rPr>
              <a:t>💰 增量成本</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true" i="false" strike="noStrike" u="none" sz="1400">
                <a:solidFill>
                  <a:srgbClr val="EF4444"/>
                </a:solidFill>
                <a:latin typeface="Noto Sans SC"/>
                <a:ea typeface="Noto Sans SC"/>
                <a:cs typeface="Noto Sans SC"/>
                <a:sym typeface="Noto Sans SC"/>
              </a:rPr>
              <a:t>+$0.08 - 0.12 / 分钟</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1200"/>
              </a:spcBef>
            </a:pPr>
            <a:r>
              <a:rPr lang="en-US" b="false" i="false" strike="noStrike" u="none" sz="1200">
                <a:solidFill>
                  <a:srgbClr val="6B7280"/>
                </a:solidFill>
                <a:latin typeface="Noto Sans SC"/>
                <a:ea typeface="Noto Sans SC"/>
                <a:cs typeface="Noto Sans SC"/>
                <a:sym typeface="Noto Sans SC"/>
              </a:rPr>
              <a:t>⏱️ 延迟</a:t>
            </a:r>
            <a:r>
              <a:rPr lang="en-US" b="false" i="false" strike="noStrike" u="none" sz="1600">
                <a:solidFill>
                  <a:srgbClr val="1F2329"/>
                </a:solidFill>
                <a:latin typeface="Noto Sans SC"/>
                <a:ea typeface="Noto Sans SC"/>
                <a:cs typeface="Noto Sans SC"/>
                <a:sym typeface="Noto Sans SC"/>
              </a:rPr>
              <a:t/>
            </a:r>
          </a:p>
          <a:p>
            <a:pPr algn="l" indent="0">
              <a:lnSpc>
                <a:spcPct val="100000"/>
              </a:lnSpc>
            </a:pPr>
            <a:r>
              <a:rPr lang="en-US" b="true" i="false" strike="noStrike" u="none" sz="1600">
                <a:solidFill>
                  <a:srgbClr val="F59E0B"/>
                </a:solidFill>
                <a:latin typeface="Noto Sans SC"/>
                <a:ea typeface="Noto Sans SC"/>
                <a:cs typeface="Noto Sans SC"/>
                <a:sym typeface="Noto Sans SC"/>
              </a:rPr>
              <a:t>+ 800ms</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1200"/>
              </a:spcBef>
            </a:pPr>
            <a:r>
              <a:rPr lang="en-US" b="false" i="false" strike="noStrike" u="none" sz="1200">
                <a:solidFill>
                  <a:srgbClr val="6B7280"/>
                </a:solidFill>
                <a:latin typeface="Noto Sans SC"/>
                <a:ea typeface="Noto Sans SC"/>
                <a:cs typeface="Noto Sans SC"/>
                <a:sym typeface="Noto Sans SC"/>
              </a:rPr>
              <a:t>🎯 回报</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300">
                <a:solidFill>
                  <a:srgbClr val="374151"/>
                </a:solidFill>
                <a:latin typeface="Noto Sans SC"/>
                <a:ea typeface="Noto Sans SC"/>
                <a:cs typeface="Noto Sans SC"/>
                <a:sym typeface="Noto Sans SC"/>
              </a:rPr>
              <a:t>独立处理高复杂度业务场景</a:t>
            </a:r>
          </a:p>
        </p:txBody>
      </p:sp>
      <p:sp>
        <p:nvSpPr>
          <p:cNvPr name="AutoShape 24" id="24"/>
          <p:cNvSpPr/>
          <p:nvPr/>
        </p:nvSpPr>
        <p:spPr>
          <a:xfrm rot="0" flipH="false" flipV="false">
            <a:off x="762000" y="5270500"/>
            <a:ext cx="10668000" cy="1206500"/>
          </a:xfrm>
          <a:prstGeom prst="roundRect">
            <a:avLst>
              <a:gd name="adj" fmla="val 12631"/>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1016000" y="5461000"/>
            <a:ext cx="10160000" cy="825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 核心洞察：“规则优先，AI增强”</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600"/>
              </a:spcBef>
            </a:pPr>
            <a:r>
              <a:rPr lang="en-US" b="false" i="false" strike="noStrike" u="none" sz="1300">
                <a:solidFill>
                  <a:srgbClr val="E5E7EB"/>
                </a:solidFill>
                <a:latin typeface="Noto Sans SC"/>
                <a:ea typeface="Noto Sans SC"/>
                <a:cs typeface="Noto Sans SC"/>
                <a:sym typeface="Noto Sans SC"/>
              </a:rPr>
              <a:t>这种渐进式策略赋予了用户极大的灵活性，让他们可以根据当前的业务痛点和预算限制，在成本与体验之间找到最佳平衡点，精确地选择性价比最高的AI能力组合。</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三模通信接入：灵活满足所有需求</a:t>
            </a:r>
            <a:endParaRPr lang="en-US" sz="1100"/>
          </a:p>
        </p:txBody>
      </p:sp>
      <p:sp>
        <p:nvSpPr>
          <p:cNvPr name="AutoShape 3" id="3"/>
          <p:cNvSpPr/>
          <p:nvPr/>
        </p:nvSpPr>
        <p:spPr>
          <a:xfrm rot="0" flipH="false" flipV="false">
            <a:off x="762000" y="1651000"/>
            <a:ext cx="3302000" cy="3302000"/>
          </a:xfrm>
          <a:prstGeom prst="roundRect">
            <a:avLst>
              <a:gd name="adj" fmla="val 3076"/>
            </a:avLst>
          </a:prstGeom>
          <a:solidFill>
            <a:srgbClr val="FFFFFF">
              <a:alpha val="95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05000"/>
            <a:ext cx="457200" cy="457200"/>
          </a:xfrm>
          <a:prstGeom prst="rect">
            <a:avLst/>
          </a:prstGeom>
        </p:spPr>
      </p:pic>
      <p:sp>
        <p:nvSpPr>
          <p:cNvPr name="AutoShape 5" id="5"/>
          <p:cNvSpPr/>
          <p:nvPr/>
        </p:nvSpPr>
        <p:spPr>
          <a:xfrm rot="0" flipH="false" flipV="false">
            <a:off x="1651000" y="18796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900">
                <a:solidFill>
                  <a:srgbClr val="2F4F4F"/>
                </a:solidFill>
                <a:latin typeface="Noto Sans SC"/>
                <a:ea typeface="Noto Sans SC"/>
                <a:cs typeface="Noto Sans SC"/>
                <a:sym typeface="Noto Sans SC"/>
              </a:rPr>
              <a:t>平台托管号码</a:t>
            </a:r>
            <a:endParaRPr lang="en-US" sz="1100"/>
          </a:p>
        </p:txBody>
      </p:sp>
      <p:sp>
        <p:nvSpPr>
          <p:cNvPr name="AutoShape 6" id="6"/>
          <p:cNvSpPr/>
          <p:nvPr/>
        </p:nvSpPr>
        <p:spPr>
          <a:xfrm rot="0" flipH="false" flipV="false">
            <a:off x="1016000" y="2667000"/>
            <a:ext cx="2794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开箱即用，极速上线。只需在平台购买号码并绑定工作流即可完成部署，无需复杂配置。</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200"/>
              </a:spcBef>
            </a:pPr>
            <a:r>
              <a:rPr lang="en-US" b="false" i="false" strike="noStrike" u="none" sz="1200">
                <a:solidFill>
                  <a:srgbClr val="6B7280"/>
                </a:solidFill>
                <a:latin typeface="Noto Sans SC"/>
                <a:ea typeface="Noto Sans SC"/>
                <a:cs typeface="Noto Sans SC"/>
                <a:sym typeface="Noto Sans SC"/>
              </a:rPr>
              <a:t>成本参考：</a:t>
            </a:r>
            <a:r>
              <a:rPr lang="en-US" b="true" i="false" strike="noStrike" u="none" sz="1200">
                <a:solidFill>
                  <a:srgbClr val="EA580C"/>
                </a:solidFill>
                <a:latin typeface="Noto Sans SC"/>
                <a:ea typeface="Noto Sans SC"/>
                <a:cs typeface="Noto Sans SC"/>
                <a:sym typeface="Noto Sans SC"/>
              </a:rPr>
              <a:t>$1-3/月 + $0.01/分钟</a:t>
            </a:r>
          </a:p>
        </p:txBody>
      </p:sp>
      <p:sp>
        <p:nvSpPr>
          <p:cNvPr name="AutoShape 7" id="7"/>
          <p:cNvSpPr/>
          <p:nvPr/>
        </p:nvSpPr>
        <p:spPr>
          <a:xfrm rot="0" flipH="false" flipV="false">
            <a:off x="4445000" y="1651000"/>
            <a:ext cx="3302000" cy="3302000"/>
          </a:xfrm>
          <a:prstGeom prst="roundRect">
            <a:avLst>
              <a:gd name="adj" fmla="val 3076"/>
            </a:avLst>
          </a:prstGeom>
          <a:solidFill>
            <a:srgbClr val="FFFFFF">
              <a:alpha val="95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1905000"/>
            <a:ext cx="457200" cy="457200"/>
          </a:xfrm>
          <a:prstGeom prst="rect">
            <a:avLst/>
          </a:prstGeom>
        </p:spPr>
      </p:pic>
      <p:sp>
        <p:nvSpPr>
          <p:cNvPr name="AutoShape 9" id="9"/>
          <p:cNvSpPr/>
          <p:nvPr/>
        </p:nvSpPr>
        <p:spPr>
          <a:xfrm rot="0" flipH="false" flipV="false">
            <a:off x="5334000" y="18796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900">
                <a:solidFill>
                  <a:srgbClr val="2F4F4F"/>
                </a:solidFill>
                <a:latin typeface="Noto Sans SC"/>
                <a:ea typeface="Noto Sans SC"/>
                <a:cs typeface="Noto Sans SC"/>
                <a:sym typeface="Noto Sans SC"/>
              </a:rPr>
              <a:t>自带号码 (BYON)</a:t>
            </a:r>
            <a:endParaRPr lang="en-US" sz="1100"/>
          </a:p>
        </p:txBody>
      </p:sp>
      <p:sp>
        <p:nvSpPr>
          <p:cNvPr name="AutoShape 10" id="10"/>
          <p:cNvSpPr/>
          <p:nvPr/>
        </p:nvSpPr>
        <p:spPr>
          <a:xfrm rot="0" flipH="false" flipV="false">
            <a:off x="4699000" y="2667000"/>
            <a:ext cx="2794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无需更换现有企业号码。支持标准SIP协议直接转发接入，或通过运营商号码移植(Porting)将号码完全迁入平台管理。</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200"/>
              </a:spcBef>
            </a:pPr>
            <a:r>
              <a:rPr lang="en-US" b="false" i="false" strike="noStrike" u="none" sz="1200">
                <a:solidFill>
                  <a:srgbClr val="6B7280"/>
                </a:solidFill>
                <a:latin typeface="Noto Sans SC"/>
                <a:ea typeface="Noto Sans SC"/>
                <a:cs typeface="Noto Sans SC"/>
                <a:sym typeface="Noto Sans SC"/>
              </a:rPr>
              <a:t>优势：</a:t>
            </a:r>
            <a:r>
              <a:rPr lang="en-US" b="false" i="false" strike="noStrike" u="none" sz="1200">
                <a:solidFill>
                  <a:srgbClr val="2F4F4F"/>
                </a:solidFill>
                <a:latin typeface="Noto Sans SC"/>
                <a:ea typeface="Noto Sans SC"/>
                <a:cs typeface="Noto Sans SC"/>
                <a:sym typeface="Noto Sans SC"/>
              </a:rPr>
              <a:t>保留品牌资产，无缝切换体验</a:t>
            </a:r>
          </a:p>
        </p:txBody>
      </p:sp>
      <p:sp>
        <p:nvSpPr>
          <p:cNvPr name="AutoShape 11" id="11"/>
          <p:cNvSpPr/>
          <p:nvPr/>
        </p:nvSpPr>
        <p:spPr>
          <a:xfrm rot="0" flipH="false" flipV="false">
            <a:off x="8128000" y="1651000"/>
            <a:ext cx="3302000" cy="3302000"/>
          </a:xfrm>
          <a:prstGeom prst="roundRect">
            <a:avLst>
              <a:gd name="adj" fmla="val 3076"/>
            </a:avLst>
          </a:prstGeom>
          <a:solidFill>
            <a:srgbClr val="FFFFFF">
              <a:alpha val="95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1905000"/>
            <a:ext cx="457200" cy="457200"/>
          </a:xfrm>
          <a:prstGeom prst="rect">
            <a:avLst/>
          </a:prstGeom>
        </p:spPr>
      </p:pic>
      <p:sp>
        <p:nvSpPr>
          <p:cNvPr name="AutoShape 13" id="13"/>
          <p:cNvSpPr/>
          <p:nvPr/>
        </p:nvSpPr>
        <p:spPr>
          <a:xfrm rot="0" flipH="false" flipV="false">
            <a:off x="9017000" y="18796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900">
                <a:solidFill>
                  <a:srgbClr val="2F4F4F"/>
                </a:solidFill>
                <a:latin typeface="Noto Sans SC"/>
                <a:ea typeface="Noto Sans SC"/>
                <a:cs typeface="Noto Sans SC"/>
                <a:sym typeface="Noto Sans SC"/>
              </a:rPr>
              <a:t>WebRTC 浏览器通话</a:t>
            </a:r>
            <a:endParaRPr lang="en-US" sz="1100"/>
          </a:p>
        </p:txBody>
      </p:sp>
      <p:sp>
        <p:nvSpPr>
          <p:cNvPr name="AutoShape 14" id="14"/>
          <p:cNvSpPr/>
          <p:nvPr/>
        </p:nvSpPr>
        <p:spPr>
          <a:xfrm rot="0" flipH="false" flipV="false">
            <a:off x="8382000" y="2667000"/>
            <a:ext cx="2794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市场独有功能。无需电话号码，直接将语音功能嵌入您的网站/App，用户无需拨号即可实现一键通话。</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200"/>
              </a:spcBef>
            </a:pPr>
            <a:r>
              <a:rPr lang="en-US" b="false" i="false" strike="noStrike" u="none" sz="1200">
                <a:solidFill>
                  <a:srgbClr val="6B7280"/>
                </a:solidFill>
                <a:latin typeface="Noto Sans SC"/>
                <a:ea typeface="Noto Sans SC"/>
                <a:cs typeface="Noto Sans SC"/>
                <a:sym typeface="Noto Sans SC"/>
              </a:rPr>
              <a:t>成本参考：</a:t>
            </a:r>
            <a:r>
              <a:rPr lang="en-US" b="true" i="false" strike="noStrike" u="none" sz="1200">
                <a:solidFill>
                  <a:srgbClr val="EA580C"/>
                </a:solidFill>
                <a:latin typeface="Noto Sans SC"/>
                <a:ea typeface="Noto Sans SC"/>
                <a:cs typeface="Noto Sans SC"/>
                <a:sym typeface="Noto Sans SC"/>
              </a:rPr>
              <a:t>$0.003-0.008/分钟 (极低费率)</a:t>
            </a:r>
          </a:p>
        </p:txBody>
      </p:sp>
      <p:sp>
        <p:nvSpPr>
          <p:cNvPr name="AutoShape 15" id="15"/>
          <p:cNvSpPr/>
          <p:nvPr/>
        </p:nvSpPr>
        <p:spPr>
          <a:xfrm rot="0" flipH="false" flipV="false">
            <a:off x="762000" y="5334000"/>
            <a:ext cx="10668000" cy="1143000"/>
          </a:xfrm>
          <a:prstGeom prst="roundRect">
            <a:avLst>
              <a:gd name="adj" fmla="val 8888"/>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5588000"/>
            <a:ext cx="635000" cy="635000"/>
          </a:xfrm>
          <a:prstGeom prst="rect">
            <a:avLst/>
          </a:prstGeom>
        </p:spPr>
      </p:pic>
      <p:sp>
        <p:nvSpPr>
          <p:cNvPr name="AutoShape 17" id="17"/>
          <p:cNvSpPr/>
          <p:nvPr/>
        </p:nvSpPr>
        <p:spPr>
          <a:xfrm rot="0" flipH="false" flipV="false">
            <a:off x="2032000" y="5524500"/>
            <a:ext cx="914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FFFFFF"/>
                </a:solidFill>
                <a:latin typeface="Noto Sans SC"/>
                <a:ea typeface="Noto Sans SC"/>
                <a:cs typeface="Noto Sans SC"/>
                <a:sym typeface="Noto Sans SC"/>
              </a:rPr>
              <a:t>全市场唯一 · 灵活性的终极定义</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spcBef>
                <a:spcPts val="600"/>
              </a:spcBef>
            </a:pPr>
            <a:r>
              <a:rPr lang="en-US" b="false" i="false" strike="noStrike" u="none" sz="1400">
                <a:solidFill>
                  <a:srgbClr val="E5E7EB"/>
                </a:solidFill>
                <a:latin typeface="Noto Sans SC"/>
                <a:ea typeface="Noto Sans SC"/>
                <a:cs typeface="Noto Sans SC"/>
                <a:sym typeface="Noto Sans SC"/>
              </a:rPr>
              <a:t>我们是市场上唯一同时提供“平台托管+号码移植+WebRTC嵌入”三种接入模式的语音AI平台，打破了传统通信的限制，完美适配各类业务场景。</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两种模拟测试：从秒级验证到真实体验</a:t>
            </a:r>
            <a:endParaRPr lang="en-US" sz="1100"/>
          </a:p>
        </p:txBody>
      </p:sp>
      <p:sp>
        <p:nvSpPr>
          <p:cNvPr name="AutoShape 4" id="4"/>
          <p:cNvSpPr/>
          <p:nvPr/>
        </p:nvSpPr>
        <p:spPr>
          <a:xfrm rot="0" flipH="false" flipV="false">
            <a:off x="762000" y="1651000"/>
            <a:ext cx="5207000" cy="2667000"/>
          </a:xfrm>
          <a:prstGeom prst="roundRect">
            <a:avLst>
              <a:gd name="adj" fmla="val 5714"/>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1968500"/>
            <a:ext cx="609600" cy="609600"/>
          </a:xfrm>
          <a:prstGeom prst="rect">
            <a:avLst/>
          </a:prstGeom>
        </p:spPr>
      </p:pic>
      <p:sp>
        <p:nvSpPr>
          <p:cNvPr name="AutoShape 6" id="6"/>
          <p:cNvSpPr/>
          <p:nvPr/>
        </p:nvSpPr>
        <p:spPr>
          <a:xfrm rot="0" flipH="false" flipV="false">
            <a:off x="1905000" y="1968500"/>
            <a:ext cx="36830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2F4F4F"/>
                </a:solidFill>
                <a:latin typeface="Noto Sans SC"/>
                <a:ea typeface="Noto Sans SC"/>
                <a:cs typeface="Noto Sans SC"/>
                <a:sym typeface="Noto Sans SC"/>
              </a:rPr>
              <a:t>01 / 文字模拟</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300">
                <a:solidFill>
                  <a:srgbClr val="4A4A4A"/>
                </a:solidFill>
                <a:latin typeface="Noto Sans SC"/>
                <a:ea typeface="Noto Sans SC"/>
                <a:cs typeface="Noto Sans SC"/>
                <a:sym typeface="Noto Sans SC"/>
              </a:rPr>
              <a:t>在画布内即可进行即时验证。您可以像聊天一样与工作流交互，系统会实时高亮当前执行的节点。这个被低估的“杀手功能”将“设计-测试”循环的验证周期从分钟级直接压缩到秒级，大幅提升开发效率。</a:t>
            </a:r>
          </a:p>
        </p:txBody>
      </p:sp>
      <p:sp>
        <p:nvSpPr>
          <p:cNvPr name="AutoShape 7" id="7"/>
          <p:cNvSpPr/>
          <p:nvPr/>
        </p:nvSpPr>
        <p:spPr>
          <a:xfrm rot="0" flipH="false" flipV="false">
            <a:off x="6223000" y="1651000"/>
            <a:ext cx="5207000" cy="2667000"/>
          </a:xfrm>
          <a:prstGeom prst="roundRect">
            <a:avLst>
              <a:gd name="adj" fmla="val 5714"/>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27800" y="1968500"/>
            <a:ext cx="609600" cy="609600"/>
          </a:xfrm>
          <a:prstGeom prst="rect">
            <a:avLst/>
          </a:prstGeom>
        </p:spPr>
      </p:pic>
      <p:sp>
        <p:nvSpPr>
          <p:cNvPr name="AutoShape 9" id="9"/>
          <p:cNvSpPr/>
          <p:nvPr/>
        </p:nvSpPr>
        <p:spPr>
          <a:xfrm rot="0" flipH="false" flipV="false">
            <a:off x="7366000" y="1968500"/>
            <a:ext cx="36830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2F4F4F"/>
                </a:solidFill>
                <a:latin typeface="Noto Sans SC"/>
                <a:ea typeface="Noto Sans SC"/>
                <a:cs typeface="Noto Sans SC"/>
                <a:sym typeface="Noto Sans SC"/>
              </a:rPr>
              <a:t>02 / 真实通话模拟</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300">
                <a:solidFill>
                  <a:srgbClr val="4A4A4A"/>
                </a:solidFill>
                <a:latin typeface="Noto Sans SC"/>
                <a:ea typeface="Noto Sans SC"/>
                <a:cs typeface="Noto Sans SC"/>
                <a:sym typeface="Noto Sans SC"/>
              </a:rPr>
              <a:t>系统为您提供一个临时的测试号码。您可以直接拿起真实的手机，拨打该号码进行一通完整的电话交互，亲身感受TTS语音合成的语调语速，以及ASR语音识别的准确率，确保产品体验与真实场景一致。</a:t>
            </a:r>
          </a:p>
        </p:txBody>
      </p:sp>
      <p:sp>
        <p:nvSpPr>
          <p:cNvPr name="AutoShape 10" id="10"/>
          <p:cNvSpPr/>
          <p:nvPr/>
        </p:nvSpPr>
        <p:spPr>
          <a:xfrm rot="0" flipH="false" flipV="false">
            <a:off x="762000" y="4699000"/>
            <a:ext cx="10668000" cy="1651000"/>
          </a:xfrm>
          <a:prstGeom prst="roundRect">
            <a:avLst>
              <a:gd name="adj" fmla="val 923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143000" y="5118100"/>
            <a:ext cx="812800" cy="812800"/>
          </a:xfrm>
          <a:prstGeom prst="rect">
            <a:avLst/>
          </a:prstGeom>
        </p:spPr>
      </p:pic>
      <p:sp>
        <p:nvSpPr>
          <p:cNvPr name="AutoShape 12" id="12"/>
          <p:cNvSpPr/>
          <p:nvPr/>
        </p:nvSpPr>
        <p:spPr>
          <a:xfrm rot="0" flipH="false" flipV="false">
            <a:off x="2286000" y="4953000"/>
            <a:ext cx="8763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FFFFFF"/>
                </a:solidFill>
                <a:latin typeface="Noto Sans SC"/>
                <a:ea typeface="Noto Sans SC"/>
                <a:cs typeface="Noto Sans SC"/>
                <a:sym typeface="Noto Sans SC"/>
              </a:rPr>
              <a:t>双模测试，消除发布焦虑</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400">
                <a:solidFill>
                  <a:srgbClr val="EBF0F0"/>
                </a:solidFill>
                <a:latin typeface="Noto Sans SC"/>
                <a:ea typeface="Noto Sans SC"/>
                <a:cs typeface="Noto Sans SC"/>
                <a:sym typeface="Noto Sans SC"/>
              </a:rPr>
              <a:t>“文字模拟”负责验证逻辑的严密性，“真实通话模拟”负责验证体验的真实性。双模结合，确保了您在最终发布上线前，对工作流的每一个节点、每一次交互都有</a:t>
            </a:r>
            <a:r>
              <a:rPr lang="en-US" b="true" i="false" strike="noStrike" u="none" sz="1400">
                <a:solidFill>
                  <a:srgbClr val="EBF0F0"/>
                </a:solidFill>
                <a:latin typeface="Noto Sans SC"/>
                <a:ea typeface="Noto Sans SC"/>
                <a:cs typeface="Noto Sans SC"/>
                <a:sym typeface="Noto Sans SC"/>
              </a:rPr>
              <a:t>100% 的掌控力与信心</a:t>
            </a:r>
            <a:r>
              <a:rPr lang="en-US" b="false" i="false" strike="noStrike" u="none" sz="1400">
                <a:solidFill>
                  <a:srgbClr val="EBF0F0"/>
                </a:solidFill>
                <a:latin typeface="Noto Sans SC"/>
                <a:ea typeface="Noto Sans SC"/>
                <a:cs typeface="Noto Sans SC"/>
                <a:sym typeface="Noto Sans SC"/>
              </a:rPr>
              <a:t>，彻底消除“不知道上线后对不对”的不确定性焦虑。</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安全迭代，恐惧归零</a:t>
            </a:r>
            <a:endParaRPr lang="en-US" sz="1100"/>
          </a:p>
        </p:txBody>
      </p:sp>
      <p:sp>
        <p:nvSpPr>
          <p:cNvPr name="AutoShape 4" id="4"/>
          <p:cNvSpPr/>
          <p:nvPr/>
        </p:nvSpPr>
        <p:spPr>
          <a:xfrm rot="0" flipH="false" flipV="false">
            <a:off x="762000" y="1651000"/>
            <a:ext cx="5207000" cy="2286000"/>
          </a:xfrm>
          <a:prstGeom prst="roundRect">
            <a:avLst>
              <a:gd name="adj" fmla="val 6666"/>
            </a:avLst>
          </a:prstGeom>
          <a:solidFill>
            <a:srgbClr val="FFFFFF">
              <a:alpha val="95000"/>
            </a:srgbClr>
          </a:solidFill>
          <a:ln w="12700" cmpd="sng" cap="flat">
            <a:solidFill>
              <a:srgbClr val="E6E8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2032000"/>
            <a:ext cx="609600" cy="609600"/>
          </a:xfrm>
          <a:prstGeom prst="rect">
            <a:avLst/>
          </a:prstGeom>
        </p:spPr>
      </p:pic>
      <p:sp>
        <p:nvSpPr>
          <p:cNvPr name="AutoShape 6" id="6"/>
          <p:cNvSpPr/>
          <p:nvPr/>
        </p:nvSpPr>
        <p:spPr>
          <a:xfrm rot="0" flipH="false" flipV="false">
            <a:off x="1930400" y="1968500"/>
            <a:ext cx="3683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2F4F4F"/>
                </a:solidFill>
                <a:latin typeface="Noto Sans SC"/>
                <a:ea typeface="Noto Sans SC"/>
                <a:cs typeface="Noto Sans SC"/>
                <a:sym typeface="Noto Sans SC"/>
              </a:rPr>
              <a:t>自动快照</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300">
                <a:solidFill>
                  <a:srgbClr val="555555"/>
                </a:solidFill>
                <a:latin typeface="Noto Sans SC"/>
                <a:ea typeface="Noto Sans SC"/>
                <a:cs typeface="Noto Sans SC"/>
                <a:sym typeface="Noto Sans SC"/>
              </a:rPr>
              <a:t>每次保存工作流，系统都会自动创建一个版本快照，保留最近50个版本，让每一步操作都有据可查。</a:t>
            </a:r>
          </a:p>
        </p:txBody>
      </p:sp>
      <p:sp>
        <p:nvSpPr>
          <p:cNvPr name="AutoShape 7" id="7"/>
          <p:cNvSpPr/>
          <p:nvPr/>
        </p:nvSpPr>
        <p:spPr>
          <a:xfrm rot="0" flipH="false" flipV="false">
            <a:off x="6223000" y="1651000"/>
            <a:ext cx="5207000" cy="2286000"/>
          </a:xfrm>
          <a:prstGeom prst="roundRect">
            <a:avLst>
              <a:gd name="adj" fmla="val 6666"/>
            </a:avLst>
          </a:prstGeom>
          <a:solidFill>
            <a:srgbClr val="FFFFFF">
              <a:alpha val="95000"/>
            </a:srgbClr>
          </a:solidFill>
          <a:ln w="12700" cmpd="sng" cap="flat">
            <a:solidFill>
              <a:srgbClr val="E6E8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27800" y="2032000"/>
            <a:ext cx="609600" cy="609600"/>
          </a:xfrm>
          <a:prstGeom prst="rect">
            <a:avLst/>
          </a:prstGeom>
        </p:spPr>
      </p:pic>
      <p:sp>
        <p:nvSpPr>
          <p:cNvPr name="AutoShape 9" id="9"/>
          <p:cNvSpPr/>
          <p:nvPr/>
        </p:nvSpPr>
        <p:spPr>
          <a:xfrm rot="0" flipH="false" flipV="false">
            <a:off x="7391400" y="1968500"/>
            <a:ext cx="3683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2F4F4F"/>
                </a:solidFill>
                <a:latin typeface="Noto Sans SC"/>
                <a:ea typeface="Noto Sans SC"/>
                <a:cs typeface="Noto Sans SC"/>
                <a:sym typeface="Noto Sans SC"/>
              </a:rPr>
              <a:t>版本 Diff 直观对比</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300">
                <a:solidFill>
                  <a:srgbClr val="555555"/>
                </a:solidFill>
                <a:latin typeface="Noto Sans SC"/>
                <a:ea typeface="Noto Sans SC"/>
                <a:cs typeface="Noto Sans SC"/>
                <a:sym typeface="Noto Sans SC"/>
              </a:rPr>
              <a:t>支持直观对比任意两个版本的差异，新增节点标绿，删除标红，修改标黄，版本变化一目了然，减少人工核对成本。</a:t>
            </a:r>
          </a:p>
        </p:txBody>
      </p:sp>
      <p:sp>
        <p:nvSpPr>
          <p:cNvPr name="AutoShape 10" id="10"/>
          <p:cNvSpPr/>
          <p:nvPr/>
        </p:nvSpPr>
        <p:spPr>
          <a:xfrm rot="0" flipH="false" flipV="false">
            <a:off x="762000" y="4191000"/>
            <a:ext cx="5207000" cy="2286000"/>
          </a:xfrm>
          <a:prstGeom prst="roundRect">
            <a:avLst>
              <a:gd name="adj" fmla="val 6666"/>
            </a:avLst>
          </a:prstGeom>
          <a:solidFill>
            <a:srgbClr val="FFFFFF">
              <a:alpha val="95000"/>
            </a:srgbClr>
          </a:solidFill>
          <a:ln w="12700" cmpd="sng" cap="flat">
            <a:solidFill>
              <a:srgbClr val="E6E8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66800" y="4572000"/>
            <a:ext cx="609600" cy="609600"/>
          </a:xfrm>
          <a:prstGeom prst="rect">
            <a:avLst/>
          </a:prstGeom>
        </p:spPr>
      </p:pic>
      <p:sp>
        <p:nvSpPr>
          <p:cNvPr name="AutoShape 12" id="12"/>
          <p:cNvSpPr/>
          <p:nvPr/>
        </p:nvSpPr>
        <p:spPr>
          <a:xfrm rot="0" flipH="false" flipV="false">
            <a:off x="1930400" y="4508500"/>
            <a:ext cx="3683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2F4F4F"/>
                </a:solidFill>
                <a:latin typeface="Noto Sans SC"/>
                <a:ea typeface="Noto Sans SC"/>
                <a:cs typeface="Noto Sans SC"/>
                <a:sym typeface="Noto Sans SC"/>
              </a:rPr>
              <a:t>一键极速回滚</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300">
                <a:solidFill>
                  <a:srgbClr val="555555"/>
                </a:solidFill>
                <a:latin typeface="Noto Sans SC"/>
                <a:ea typeface="Noto Sans SC"/>
                <a:cs typeface="Noto Sans SC"/>
                <a:sym typeface="Noto Sans SC"/>
              </a:rPr>
              <a:t>若新版本上线后发现异常，支持在30秒内一键回滚至任意历史稳定版本，快速止损，将业务影响降至最低。</a:t>
            </a:r>
          </a:p>
        </p:txBody>
      </p:sp>
      <p:sp>
        <p:nvSpPr>
          <p:cNvPr name="AutoShape 13" id="13"/>
          <p:cNvSpPr/>
          <p:nvPr/>
        </p:nvSpPr>
        <p:spPr>
          <a:xfrm rot="0" flipH="false" flipV="false">
            <a:off x="6223000" y="4191000"/>
            <a:ext cx="5207000" cy="2286000"/>
          </a:xfrm>
          <a:prstGeom prst="roundRect">
            <a:avLst>
              <a:gd name="adj" fmla="val 6666"/>
            </a:avLst>
          </a:prstGeom>
          <a:solidFill>
            <a:srgbClr val="FFFFFF">
              <a:alpha val="95000"/>
            </a:srgbClr>
          </a:solidFill>
          <a:ln w="12700" cmpd="sng" cap="flat">
            <a:solidFill>
              <a:srgbClr val="E6E8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527800" y="4572000"/>
            <a:ext cx="609600" cy="609600"/>
          </a:xfrm>
          <a:prstGeom prst="rect">
            <a:avLst/>
          </a:prstGeom>
        </p:spPr>
      </p:pic>
      <p:sp>
        <p:nvSpPr>
          <p:cNvPr name="AutoShape 15" id="15"/>
          <p:cNvSpPr/>
          <p:nvPr/>
        </p:nvSpPr>
        <p:spPr>
          <a:xfrm rot="0" flipH="false" flipV="false">
            <a:off x="7391400" y="4508500"/>
            <a:ext cx="3683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2F4F4F"/>
                </a:solidFill>
                <a:latin typeface="Noto Sans SC"/>
                <a:ea typeface="Noto Sans SC"/>
                <a:cs typeface="Noto Sans SC"/>
                <a:sym typeface="Noto Sans SC"/>
              </a:rPr>
              <a:t>草稿 / 发布分离机制</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300">
                <a:solidFill>
                  <a:srgbClr val="555555"/>
                </a:solidFill>
                <a:latin typeface="Noto Sans SC"/>
                <a:ea typeface="Noto Sans SC"/>
                <a:cs typeface="Noto Sans SC"/>
                <a:sym typeface="Noto Sans SC"/>
              </a:rPr>
              <a:t>已发布版本自动锁定，不可直接修改。所有优化在草稿空间进行，确认无误后再正式发布，彻底保障线上业务绝对稳定。</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节点级洞察，精准归因</a:t>
            </a:r>
            <a:endParaRPr lang="en-US" sz="1100"/>
          </a:p>
        </p:txBody>
      </p:sp>
      <p:sp>
        <p:nvSpPr>
          <p:cNvPr name="AutoShape 4" id="4"/>
          <p:cNvSpPr/>
          <p:nvPr/>
        </p:nvSpPr>
        <p:spPr>
          <a:xfrm rot="0" flipH="false" flipV="false">
            <a:off x="762000" y="1651000"/>
            <a:ext cx="5207000" cy="2286000"/>
          </a:xfrm>
          <a:prstGeom prst="roundRect">
            <a:avLst>
              <a:gd name="adj" fmla="val 666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22860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143000" y="2032000"/>
            <a:ext cx="609600" cy="609600"/>
          </a:xfrm>
          <a:prstGeom prst="rect">
            <a:avLst/>
          </a:prstGeom>
        </p:spPr>
      </p:pic>
      <p:sp>
        <p:nvSpPr>
          <p:cNvPr name="AutoShape 7" id="7"/>
          <p:cNvSpPr/>
          <p:nvPr/>
        </p:nvSpPr>
        <p:spPr>
          <a:xfrm rot="0" flipH="false" flipV="false">
            <a:off x="2032000" y="1968500"/>
            <a:ext cx="3683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2F4F4F"/>
                </a:solidFill>
                <a:latin typeface="Noto Sans SC"/>
                <a:ea typeface="Noto Sans SC"/>
                <a:cs typeface="Noto Sans SC"/>
                <a:sym typeface="Noto Sans SC"/>
              </a:rPr>
              <a:t>基础指标监测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false" i="false" strike="noStrike" u="none" sz="1300">
                <a:solidFill>
                  <a:srgbClr val="525252"/>
                </a:solidFill>
                <a:latin typeface="Noto Sans SC"/>
                <a:ea typeface="Noto Sans SC"/>
                <a:cs typeface="Noto Sans SC"/>
                <a:sym typeface="Noto Sans SC"/>
              </a:rPr>
              <a:t>实时展示全渠道通话量、线路接通率、平均通话时长及客户满意度(CSAT)等核心运营KPI，为您提供服务质量的即时快照。</a:t>
            </a:r>
          </a:p>
        </p:txBody>
      </p:sp>
      <p:sp>
        <p:nvSpPr>
          <p:cNvPr name="AutoShape 8" id="8"/>
          <p:cNvSpPr/>
          <p:nvPr/>
        </p:nvSpPr>
        <p:spPr>
          <a:xfrm rot="0" flipH="false" flipV="false">
            <a:off x="6223000" y="1651000"/>
            <a:ext cx="5207000" cy="2286000"/>
          </a:xfrm>
          <a:prstGeom prst="roundRect">
            <a:avLst>
              <a:gd name="adj" fmla="val 666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6223000" y="1651000"/>
            <a:ext cx="76200" cy="22860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04000" y="2032000"/>
            <a:ext cx="609600" cy="609600"/>
          </a:xfrm>
          <a:prstGeom prst="rect">
            <a:avLst/>
          </a:prstGeom>
        </p:spPr>
      </p:pic>
      <p:sp>
        <p:nvSpPr>
          <p:cNvPr name="AutoShape 11" id="11"/>
          <p:cNvSpPr/>
          <p:nvPr/>
        </p:nvSpPr>
        <p:spPr>
          <a:xfrm rot="0" flipH="false" flipV="false">
            <a:off x="7493000" y="1968500"/>
            <a:ext cx="3683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2F4F4F"/>
                </a:solidFill>
                <a:latin typeface="Noto Sans SC"/>
                <a:ea typeface="Noto Sans SC"/>
                <a:cs typeface="Noto Sans SC"/>
                <a:sym typeface="Noto Sans SC"/>
              </a:rPr>
              <a:t>节点转化率热力图</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false" i="false" strike="noStrike" u="none" sz="1300">
                <a:solidFill>
                  <a:srgbClr val="525252"/>
                </a:solidFill>
                <a:latin typeface="Noto Sans SC"/>
                <a:ea typeface="Noto Sans SC"/>
                <a:cs typeface="Noto Sans SC"/>
                <a:sym typeface="Noto Sans SC"/>
              </a:rPr>
              <a:t>通过“绿-黄-红”三色直观展示每一路由节点的转化效率。红色高亮标记高流失节点，帮助您快速识别瓶颈并定位优化方向。</a:t>
            </a:r>
          </a:p>
        </p:txBody>
      </p:sp>
      <p:sp>
        <p:nvSpPr>
          <p:cNvPr name="AutoShape 12" id="12"/>
          <p:cNvSpPr/>
          <p:nvPr/>
        </p:nvSpPr>
        <p:spPr>
          <a:xfrm rot="0" flipH="false" flipV="false">
            <a:off x="762000" y="4191000"/>
            <a:ext cx="5207000" cy="2286000"/>
          </a:xfrm>
          <a:prstGeom prst="roundRect">
            <a:avLst>
              <a:gd name="adj" fmla="val 666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762000" y="4191000"/>
            <a:ext cx="76200" cy="22860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143000" y="4572000"/>
            <a:ext cx="609600" cy="609600"/>
          </a:xfrm>
          <a:prstGeom prst="rect">
            <a:avLst/>
          </a:prstGeom>
        </p:spPr>
      </p:pic>
      <p:sp>
        <p:nvSpPr>
          <p:cNvPr name="AutoShape 15" id="15"/>
          <p:cNvSpPr/>
          <p:nvPr/>
        </p:nvSpPr>
        <p:spPr>
          <a:xfrm rot="0" flipH="false" flipV="false">
            <a:off x="2032000" y="4508500"/>
            <a:ext cx="3683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2F4F4F"/>
                </a:solidFill>
                <a:latin typeface="Noto Sans SC"/>
                <a:ea typeface="Noto Sans SC"/>
                <a:cs typeface="Noto Sans SC"/>
                <a:sym typeface="Noto Sans SC"/>
              </a:rPr>
              <a:t>全链路转化漏斗</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false" i="false" strike="noStrike" u="none" sz="1300">
                <a:solidFill>
                  <a:srgbClr val="525252"/>
                </a:solidFill>
                <a:latin typeface="Noto Sans SC"/>
                <a:ea typeface="Noto Sans SC"/>
                <a:cs typeface="Noto Sans SC"/>
                <a:sym typeface="Noto Sans SC"/>
              </a:rPr>
              <a:t>清晰量化展示从“用户来电”到“IVR接入”、“坐席转接”及最终“问题解决”的每一步流转情况，精准锁定高流失环节。</a:t>
            </a:r>
          </a:p>
        </p:txBody>
      </p:sp>
      <p:sp>
        <p:nvSpPr>
          <p:cNvPr name="AutoShape 16" id="16"/>
          <p:cNvSpPr/>
          <p:nvPr/>
        </p:nvSpPr>
        <p:spPr>
          <a:xfrm rot="0" flipH="false" flipV="false">
            <a:off x="6223000" y="4191000"/>
            <a:ext cx="5207000" cy="2286000"/>
          </a:xfrm>
          <a:prstGeom prst="roundRect">
            <a:avLst>
              <a:gd name="adj" fmla="val 6666"/>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223000" y="4191000"/>
            <a:ext cx="76200" cy="22860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604000" y="4572000"/>
            <a:ext cx="609600" cy="609600"/>
          </a:xfrm>
          <a:prstGeom prst="rect">
            <a:avLst/>
          </a:prstGeom>
        </p:spPr>
      </p:pic>
      <p:sp>
        <p:nvSpPr>
          <p:cNvPr name="AutoShape 19" id="19"/>
          <p:cNvSpPr/>
          <p:nvPr/>
        </p:nvSpPr>
        <p:spPr>
          <a:xfrm rot="0" flipH="false" flipV="false">
            <a:off x="7493000" y="4508500"/>
            <a:ext cx="3683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2F4F4F"/>
                </a:solidFill>
                <a:latin typeface="Noto Sans SC"/>
                <a:ea typeface="Noto Sans SC"/>
                <a:cs typeface="Noto Sans SC"/>
                <a:sym typeface="Noto Sans SC"/>
              </a:rPr>
              <a:t>智能异常告警</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false" i="false" strike="noStrike" u="none" sz="1300">
                <a:solidFill>
                  <a:srgbClr val="525252"/>
                </a:solidFill>
                <a:latin typeface="Noto Sans SC"/>
                <a:ea typeface="Noto Sans SC"/>
                <a:cs typeface="Noto Sans SC"/>
                <a:sym typeface="Noto Sans SC"/>
              </a:rPr>
              <a:t>系统自动监控连续呼叫失败、等待超时、路由配置错误等异常，通过邮件或短信实时触达，帮助团队将问题解决在影响扩大前。</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示例：标准客服分流</a:t>
            </a:r>
            <a:endParaRPr lang="en-US" sz="1100"/>
          </a:p>
        </p:txBody>
      </p:sp>
      <p:sp>
        <p:nvSpPr>
          <p:cNvPr name="AutoShape 3" id="3"/>
          <p:cNvSpPr/>
          <p:nvPr/>
        </p:nvSpPr>
        <p:spPr>
          <a:xfrm rot="0" flipH="false" flipV="false">
            <a:off x="762000" y="1651000"/>
            <a:ext cx="5207000" cy="1905000"/>
          </a:xfrm>
          <a:prstGeom prst="roundRect">
            <a:avLst>
              <a:gd name="adj" fmla="val 8000"/>
            </a:avLst>
          </a:prstGeom>
          <a:solidFill>
            <a:srgbClr val="FFFFFF">
              <a:alpha val="9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05000"/>
            <a:ext cx="406400" cy="406400"/>
          </a:xfrm>
          <a:prstGeom prst="rect">
            <a:avLst/>
          </a:prstGeom>
        </p:spPr>
      </p:pic>
      <p:sp>
        <p:nvSpPr>
          <p:cNvPr name="AutoShape 5" id="5"/>
          <p:cNvSpPr/>
          <p:nvPr/>
        </p:nvSpPr>
        <p:spPr>
          <a:xfrm rot="0" flipH="false" flipV="false">
            <a:off x="1651000" y="1841500"/>
            <a:ext cx="4064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Noto Sans SC"/>
                <a:ea typeface="Noto Sans SC"/>
                <a:cs typeface="Noto Sans SC"/>
                <a:sym typeface="Noto Sans SC"/>
              </a:rPr>
              <a:t>营业中 · 智能分流</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374151"/>
                </a:solidFill>
                <a:latin typeface="Noto Sans SC"/>
                <a:ea typeface="Noto Sans SC"/>
                <a:cs typeface="Noto Sans SC"/>
                <a:sym typeface="Noto Sans SC"/>
              </a:rPr>
              <a:t>1. 系统自动识别用户来电，接入AI意图检测模块。</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374151"/>
                </a:solidFill>
                <a:latin typeface="Noto Sans SC"/>
                <a:ea typeface="Noto Sans SC"/>
                <a:cs typeface="Noto Sans SC"/>
                <a:sym typeface="Noto Sans SC"/>
              </a:rPr>
              <a:t>2. 依据识别结果（咨询 / 预约 / 投诉），精准分配至对应业务处理节点，实现“千人千面”的服务响应。</a:t>
            </a:r>
          </a:p>
        </p:txBody>
      </p:sp>
      <p:sp>
        <p:nvSpPr>
          <p:cNvPr name="AutoShape 6" id="6"/>
          <p:cNvSpPr/>
          <p:nvPr/>
        </p:nvSpPr>
        <p:spPr>
          <a:xfrm rot="0" flipH="false" flipV="false">
            <a:off x="762000" y="3810000"/>
            <a:ext cx="5207000" cy="2413000"/>
          </a:xfrm>
          <a:prstGeom prst="roundRect">
            <a:avLst>
              <a:gd name="adj" fmla="val 6315"/>
            </a:avLst>
          </a:prstGeom>
          <a:solidFill>
            <a:srgbClr val="FFFFFF">
              <a:alpha val="9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4064000"/>
            <a:ext cx="406400" cy="406400"/>
          </a:xfrm>
          <a:prstGeom prst="rect">
            <a:avLst/>
          </a:prstGeom>
        </p:spPr>
      </p:pic>
      <p:sp>
        <p:nvSpPr>
          <p:cNvPr name="AutoShape 8" id="8"/>
          <p:cNvSpPr/>
          <p:nvPr/>
        </p:nvSpPr>
        <p:spPr>
          <a:xfrm rot="0" flipH="false" flipV="false">
            <a:off x="1651000" y="4000500"/>
            <a:ext cx="40640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Noto Sans SC"/>
                <a:ea typeface="Noto Sans SC"/>
                <a:cs typeface="Noto Sans SC"/>
                <a:sym typeface="Noto Sans SC"/>
              </a:rPr>
              <a:t>非营业与预约闭环</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true" i="false" strike="noStrike" u="none" sz="1300">
                <a:solidFill>
                  <a:srgbClr val="374151"/>
                </a:solidFill>
                <a:latin typeface="Noto Sans SC"/>
                <a:ea typeface="Noto Sans SC"/>
                <a:cs typeface="Noto Sans SC"/>
                <a:sym typeface="Noto Sans SC"/>
              </a:rPr>
              <a:t>非营业时间：</a:t>
            </a:r>
            <a:r>
              <a:rPr lang="en-US" b="false" i="false" strike="noStrike" u="none" sz="1300">
                <a:solidFill>
                  <a:srgbClr val="374151"/>
                </a:solidFill>
                <a:latin typeface="Noto Sans SC"/>
                <a:ea typeface="Noto Sans SC"/>
                <a:cs typeface="Noto Sans SC"/>
                <a:sym typeface="Noto Sans SC"/>
              </a:rPr>
              <a:t>自动播放语音提示，并引导客户查阅知识库FAQ或进行语音留言，不错过任何需求。</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true" i="false" strike="noStrike" u="none" sz="1300">
                <a:solidFill>
                  <a:srgbClr val="374151"/>
                </a:solidFill>
                <a:latin typeface="Noto Sans SC"/>
                <a:ea typeface="Noto Sans SC"/>
                <a:cs typeface="Noto Sans SC"/>
                <a:sym typeface="Noto Sans SC"/>
              </a:rPr>
              <a:t>预约分支：</a:t>
            </a:r>
            <a:r>
              <a:rPr lang="en-US" b="false" i="false" strike="noStrike" u="none" sz="1300">
                <a:solidFill>
                  <a:srgbClr val="374151"/>
                </a:solidFill>
                <a:latin typeface="Noto Sans SC"/>
                <a:ea typeface="Noto Sans SC"/>
                <a:cs typeface="Noto Sans SC"/>
                <a:sym typeface="Noto Sans SC"/>
              </a:rPr>
              <a:t>跳转日历预订节点确认时间，自动发送含详情的确认短信至用户手机，形成服务闭环。</a:t>
            </a:r>
          </a:p>
        </p:txBody>
      </p:sp>
      <p:pic>
        <p:nvPicPr>
          <p:cNvPr name="Picture 9" id="9"/>
          <p:cNvPicPr>
            <a:picLocks noChangeAspect="true"/>
          </p:cNvPicPr>
          <p:nvPr/>
        </p:nvPicPr>
        <p:blipFill>
          <a:blip r:embed="rId7"/>
          <a:srcRect l="0" r="0" t="3125" b="3125"/>
          <a:stretch>
            <a:fillRect/>
          </a:stretch>
        </p:blipFill>
        <p:spPr>
          <a:xfrm rot="0" flipH="false" flipV="false">
            <a:off x="6350000" y="1651000"/>
            <a:ext cx="5080000" cy="2667000"/>
          </a:xfrm>
          <a:prstGeom prst="roundRect">
            <a:avLst>
              <a:gd name="adj" fmla="val 5714"/>
            </a:avLst>
          </a:prstGeom>
          <a:noFill/>
          <a:ln w="25400" cmpd="sng" cap="flat">
            <a:solidFill>
              <a:srgbClr val="FFFFFF">
                <a:alpha val="100000"/>
              </a:srgbClr>
            </a:solidFill>
            <a:prstDash val="solid"/>
            <a:round/>
          </a:ln>
          <a:effectLst>
            <a:outerShdw dir="2700000" dist="190500" blurRad="444500" algn="tl" rotWithShape="false">
              <a:srgbClr val="000000">
                <a:alpha val="25000"/>
              </a:srgbClr>
            </a:outerShdw>
          </a:effectLst>
        </p:spPr>
      </p:pic>
      <p:sp>
        <p:nvSpPr>
          <p:cNvPr name="AutoShape 10" id="10"/>
          <p:cNvSpPr/>
          <p:nvPr/>
        </p:nvSpPr>
        <p:spPr>
          <a:xfrm rot="0" flipH="false" flipV="false">
            <a:off x="6350000" y="4572000"/>
            <a:ext cx="5080000" cy="1651000"/>
          </a:xfrm>
          <a:prstGeom prst="roundRect">
            <a:avLst>
              <a:gd name="adj" fmla="val 9230"/>
            </a:avLst>
          </a:prstGeom>
          <a:solidFill>
            <a:srgbClr val="2F4F4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04000" y="4889500"/>
            <a:ext cx="355600" cy="355600"/>
          </a:xfrm>
          <a:prstGeom prst="rect">
            <a:avLst/>
          </a:prstGeom>
        </p:spPr>
      </p:pic>
      <p:sp>
        <p:nvSpPr>
          <p:cNvPr name="AutoShape 12" id="12"/>
          <p:cNvSpPr/>
          <p:nvPr/>
        </p:nvSpPr>
        <p:spPr>
          <a:xfrm rot="0" flipH="false" flipV="false">
            <a:off x="7175500" y="4762500"/>
            <a:ext cx="4000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700">
                <a:solidFill>
                  <a:srgbClr val="FFFFFF"/>
                </a:solidFill>
                <a:latin typeface="Noto Sans SC"/>
                <a:ea typeface="Noto Sans SC"/>
                <a:cs typeface="Noto Sans SC"/>
                <a:sym typeface="Noto Sans SC"/>
              </a:rPr>
              <a:t>关键配置参数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800"/>
              </a:spcBef>
            </a:pPr>
            <a:r>
              <a:rPr lang="en-US" b="false" i="false" strike="noStrike" u="none" sz="1300">
                <a:solidFill>
                  <a:srgbClr val="E5E7EB"/>
                </a:solidFill>
                <a:latin typeface="Noto Sans SC"/>
                <a:ea typeface="Noto Sans SC"/>
                <a:cs typeface="Noto Sans SC"/>
                <a:sym typeface="Noto Sans SC"/>
              </a:rPr>
              <a:t>•</a:t>
            </a:r>
            <a:r>
              <a:rPr lang="en-US" b="true" i="false" strike="noStrike" u="none" sz="1300">
                <a:solidFill>
                  <a:srgbClr val="E5E7EB"/>
                </a:solidFill>
                <a:latin typeface="Noto Sans SC"/>
                <a:ea typeface="Noto Sans SC"/>
                <a:cs typeface="Noto Sans SC"/>
                <a:sym typeface="Noto Sans SC"/>
              </a:rPr>
              <a:t>意图分类：</a:t>
            </a:r>
            <a:r>
              <a:rPr lang="en-US" b="false" i="false" strike="noStrike" u="none" sz="1300">
                <a:solidFill>
                  <a:srgbClr val="E5E7EB"/>
                </a:solidFill>
                <a:latin typeface="Noto Sans SC"/>
                <a:ea typeface="Noto Sans SC"/>
                <a:cs typeface="Noto Sans SC"/>
                <a:sym typeface="Noto Sans SC"/>
              </a:rPr>
              <a:t>预设“咨询、预约、投诉”三大核心意图库</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E5E7EB"/>
                </a:solidFill>
                <a:latin typeface="Noto Sans SC"/>
                <a:ea typeface="Noto Sans SC"/>
                <a:cs typeface="Noto Sans SC"/>
                <a:sym typeface="Noto Sans SC"/>
              </a:rPr>
              <a:t>•</a:t>
            </a:r>
            <a:r>
              <a:rPr lang="en-US" b="true" i="false" strike="noStrike" u="none" sz="1300">
                <a:solidFill>
                  <a:srgbClr val="E5E7EB"/>
                </a:solidFill>
                <a:latin typeface="Noto Sans SC"/>
                <a:ea typeface="Noto Sans SC"/>
                <a:cs typeface="Noto Sans SC"/>
                <a:sym typeface="Noto Sans SC"/>
              </a:rPr>
              <a:t>识别阈值：</a:t>
            </a:r>
            <a:r>
              <a:rPr lang="en-US" b="false" i="false" strike="noStrike" u="none" sz="1300">
                <a:solidFill>
                  <a:srgbClr val="E5E7EB"/>
                </a:solidFill>
                <a:latin typeface="Noto Sans SC"/>
                <a:ea typeface="Noto Sans SC"/>
                <a:cs typeface="Noto Sans SC"/>
                <a:sym typeface="Noto Sans SC"/>
              </a:rPr>
              <a:t>设定 0.7 作为判定标准，平衡准确率与覆盖率</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E5E7EB"/>
                </a:solidFill>
                <a:latin typeface="Noto Sans SC"/>
                <a:ea typeface="Noto Sans SC"/>
                <a:cs typeface="Noto Sans SC"/>
                <a:sym typeface="Noto Sans SC"/>
              </a:rPr>
              <a:t>•</a:t>
            </a:r>
            <a:r>
              <a:rPr lang="en-US" b="true" i="false" strike="noStrike" u="none" sz="1300">
                <a:solidFill>
                  <a:srgbClr val="E5E7EB"/>
                </a:solidFill>
                <a:latin typeface="Noto Sans SC"/>
                <a:ea typeface="Noto Sans SC"/>
                <a:cs typeface="Noto Sans SC"/>
                <a:sym typeface="Noto Sans SC"/>
              </a:rPr>
              <a:t>兜底方案：</a:t>
            </a:r>
            <a:r>
              <a:rPr lang="en-US" b="false" i="false" strike="noStrike" u="none" sz="1300">
                <a:solidFill>
                  <a:srgbClr val="E5E7EB"/>
                </a:solidFill>
                <a:latin typeface="Noto Sans SC"/>
                <a:ea typeface="Noto Sans SC"/>
                <a:cs typeface="Noto Sans SC"/>
                <a:sym typeface="Noto Sans SC"/>
              </a:rPr>
              <a:t>配置“按键降级”机制，当识别失败时自动切回按键导航</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医疗诊所高级自动化</a:t>
            </a:r>
            <a:endParaRPr lang="en-US" sz="1100"/>
          </a:p>
        </p:txBody>
      </p:sp>
      <p:pic>
        <p:nvPicPr>
          <p:cNvPr name="Picture 3" id="3"/>
          <p:cNvPicPr>
            <a:picLocks noChangeAspect="true"/>
          </p:cNvPicPr>
          <p:nvPr/>
        </p:nvPicPr>
        <p:blipFill>
          <a:blip r:embed="rId3"/>
          <a:srcRect l="14685" r="14685" t="0" b="0"/>
          <a:stretch>
            <a:fillRect/>
          </a:stretch>
        </p:blipFill>
        <p:spPr>
          <a:xfrm rot="0" flipH="false" flipV="false">
            <a:off x="762000" y="1778000"/>
            <a:ext cx="5080000" cy="4445000"/>
          </a:xfrm>
          <a:prstGeom prst="roundRect">
            <a:avLst>
              <a:gd name="adj" fmla="val 3428"/>
            </a:avLst>
          </a:prstGeom>
          <a:noFill/>
          <a:ln w="25400" cmpd="sng" cap="flat">
            <a:noFill/>
            <a:prstDash val="solid"/>
            <a:round/>
          </a:ln>
          <a:effectLst>
            <a:outerShdw dir="2700000" dist="190500" blurRad="444500" algn="tl" rotWithShape="false">
              <a:srgbClr val="000000">
                <a:alpha val="25000"/>
              </a:srgbClr>
            </a:outerShdw>
          </a:effectLst>
        </p:spPr>
      </p:pic>
      <p:sp>
        <p:nvSpPr>
          <p:cNvPr name="AutoShape 4" id="4"/>
          <p:cNvSpPr/>
          <p:nvPr/>
        </p:nvSpPr>
        <p:spPr>
          <a:xfrm rot="0" flipH="false" flipV="false">
            <a:off x="6223000" y="1778000"/>
            <a:ext cx="5207000" cy="1079500"/>
          </a:xfrm>
          <a:prstGeom prst="roundRect">
            <a:avLst>
              <a:gd name="adj" fmla="val 9411"/>
            </a:avLst>
          </a:prstGeom>
          <a:solidFill>
            <a:srgbClr val="FFFFFF">
              <a:alpha val="92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2032000"/>
            <a:ext cx="558800" cy="558800"/>
          </a:xfrm>
          <a:prstGeom prst="rect">
            <a:avLst/>
          </a:prstGeom>
        </p:spPr>
      </p:pic>
      <p:sp>
        <p:nvSpPr>
          <p:cNvPr name="AutoShape 6" id="6"/>
          <p:cNvSpPr/>
          <p:nvPr/>
        </p:nvSpPr>
        <p:spPr>
          <a:xfrm rot="0" flipH="false" flipV="false">
            <a:off x="7239000" y="1930400"/>
            <a:ext cx="3937000" cy="825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2F4F4F"/>
                </a:solidFill>
                <a:latin typeface="Noto Sans SC"/>
                <a:ea typeface="Noto Sans SC"/>
                <a:cs typeface="Noto Sans SC"/>
                <a:sym typeface="Noto Sans SC"/>
              </a:rPr>
              <a:t>智能分流与信息同步</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400"/>
              </a:spcBef>
            </a:pPr>
            <a:r>
              <a:rPr lang="en-US" b="false" i="false" strike="noStrike" u="none" sz="1200">
                <a:solidFill>
                  <a:srgbClr val="4B5563"/>
                </a:solidFill>
                <a:latin typeface="Noto Sans SC"/>
                <a:ea typeface="Noto Sans SC"/>
                <a:cs typeface="Noto Sans SC"/>
                <a:sym typeface="Noto Sans SC"/>
              </a:rPr>
              <a:t>自动识别来电类型与患者身份，调用CRM系统实时获取历史就诊记录，并通过AI精准检测用户意图。</a:t>
            </a:r>
          </a:p>
        </p:txBody>
      </p:sp>
      <p:sp>
        <p:nvSpPr>
          <p:cNvPr name="AutoShape 7" id="7"/>
          <p:cNvSpPr/>
          <p:nvPr/>
        </p:nvSpPr>
        <p:spPr>
          <a:xfrm rot="0" flipH="false" flipV="false">
            <a:off x="6223000" y="3048000"/>
            <a:ext cx="5207000" cy="1079500"/>
          </a:xfrm>
          <a:prstGeom prst="roundRect">
            <a:avLst>
              <a:gd name="adj" fmla="val 9411"/>
            </a:avLst>
          </a:prstGeom>
          <a:solidFill>
            <a:srgbClr val="FFFFFF">
              <a:alpha val="92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477000" y="3302000"/>
            <a:ext cx="558800" cy="558800"/>
          </a:xfrm>
          <a:prstGeom prst="rect">
            <a:avLst/>
          </a:prstGeom>
        </p:spPr>
      </p:pic>
      <p:sp>
        <p:nvSpPr>
          <p:cNvPr name="AutoShape 9" id="9"/>
          <p:cNvSpPr/>
          <p:nvPr/>
        </p:nvSpPr>
        <p:spPr>
          <a:xfrm rot="0" flipH="false" flipV="false">
            <a:off x="7239000" y="3200400"/>
            <a:ext cx="3937000" cy="825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2F4F4F"/>
                </a:solidFill>
                <a:latin typeface="Noto Sans SC"/>
                <a:ea typeface="Noto Sans SC"/>
                <a:cs typeface="Noto Sans SC"/>
                <a:sym typeface="Noto Sans SC"/>
              </a:rPr>
              <a:t>紧急情况极速转接</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400"/>
              </a:spcBef>
            </a:pPr>
            <a:r>
              <a:rPr lang="en-US" b="false" i="false" strike="noStrike" u="none" sz="1200">
                <a:solidFill>
                  <a:srgbClr val="4B5563"/>
                </a:solidFill>
                <a:latin typeface="Noto Sans SC"/>
                <a:ea typeface="Noto Sans SC"/>
                <a:cs typeface="Noto Sans SC"/>
                <a:sym typeface="Noto Sans SC"/>
              </a:rPr>
              <a:t>系统一旦识别“急诊”、“急救”等关键词，即刻跳过繁琐的IVR语音菜单，直接进行“暖转接”至急诊室。</a:t>
            </a:r>
          </a:p>
        </p:txBody>
      </p:sp>
      <p:sp>
        <p:nvSpPr>
          <p:cNvPr name="AutoShape 10" id="10"/>
          <p:cNvSpPr/>
          <p:nvPr/>
        </p:nvSpPr>
        <p:spPr>
          <a:xfrm rot="0" flipH="false" flipV="false">
            <a:off x="6223000" y="4254500"/>
            <a:ext cx="5207000" cy="1079500"/>
          </a:xfrm>
          <a:prstGeom prst="roundRect">
            <a:avLst>
              <a:gd name="adj" fmla="val 9411"/>
            </a:avLst>
          </a:prstGeom>
          <a:solidFill>
            <a:srgbClr val="FFFFFF">
              <a:alpha val="92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77000" y="4508500"/>
            <a:ext cx="558800" cy="558800"/>
          </a:xfrm>
          <a:prstGeom prst="rect">
            <a:avLst/>
          </a:prstGeom>
        </p:spPr>
      </p:pic>
      <p:sp>
        <p:nvSpPr>
          <p:cNvPr name="AutoShape 12" id="12"/>
          <p:cNvSpPr/>
          <p:nvPr/>
        </p:nvSpPr>
        <p:spPr>
          <a:xfrm rot="0" flipH="false" flipV="false">
            <a:off x="7239000" y="4406900"/>
            <a:ext cx="3937000" cy="825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2F4F4F"/>
                </a:solidFill>
                <a:latin typeface="Noto Sans SC"/>
                <a:ea typeface="Noto Sans SC"/>
                <a:cs typeface="Noto Sans SC"/>
                <a:sym typeface="Noto Sans SC"/>
              </a:rPr>
              <a:t>智能预约与日程匹配</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400"/>
              </a:spcBef>
            </a:pPr>
            <a:r>
              <a:rPr lang="en-US" b="false" i="false" strike="noStrike" u="none" sz="1200">
                <a:solidFill>
                  <a:srgbClr val="4B5563"/>
                </a:solidFill>
                <a:latin typeface="Noto Sans SC"/>
                <a:ea typeface="Noto Sans SC"/>
                <a:cs typeface="Noto Sans SC"/>
                <a:sym typeface="Noto Sans SC"/>
              </a:rPr>
              <a:t>自动查询并匹配对应科室主治医生的日程表；若首选时段冲突，可实时检索并推荐最近的可预约空档。</a:t>
            </a:r>
          </a:p>
        </p:txBody>
      </p:sp>
      <p:sp>
        <p:nvSpPr>
          <p:cNvPr name="AutoShape 13" id="13"/>
          <p:cNvSpPr/>
          <p:nvPr/>
        </p:nvSpPr>
        <p:spPr>
          <a:xfrm rot="0" flipH="false" flipV="false">
            <a:off x="6223000" y="5461000"/>
            <a:ext cx="5207000" cy="1079500"/>
          </a:xfrm>
          <a:prstGeom prst="roundRect">
            <a:avLst>
              <a:gd name="adj" fmla="val 9411"/>
            </a:avLst>
          </a:prstGeom>
          <a:solidFill>
            <a:srgbClr val="FFFFFF">
              <a:alpha val="92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477000" y="5715000"/>
            <a:ext cx="558800" cy="558800"/>
          </a:xfrm>
          <a:prstGeom prst="rect">
            <a:avLst/>
          </a:prstGeom>
        </p:spPr>
      </p:pic>
      <p:sp>
        <p:nvSpPr>
          <p:cNvPr name="AutoShape 15" id="15"/>
          <p:cNvSpPr/>
          <p:nvPr/>
        </p:nvSpPr>
        <p:spPr>
          <a:xfrm rot="0" flipH="false" flipV="false">
            <a:off x="7239000" y="5613400"/>
            <a:ext cx="3937000" cy="825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2F4F4F"/>
                </a:solidFill>
                <a:latin typeface="Noto Sans SC"/>
                <a:ea typeface="Noto Sans SC"/>
                <a:cs typeface="Noto Sans SC"/>
                <a:sym typeface="Noto Sans SC"/>
              </a:rPr>
              <a:t>常见问题知识库覆盖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400"/>
              </a:spcBef>
            </a:pPr>
            <a:r>
              <a:rPr lang="en-US" b="false" i="false" strike="noStrike" u="none" sz="1200">
                <a:solidFill>
                  <a:srgbClr val="4B5563"/>
                </a:solidFill>
                <a:latin typeface="Noto Sans SC"/>
                <a:ea typeface="Noto Sans SC"/>
                <a:cs typeface="Noto Sans SC"/>
                <a:sym typeface="Noto Sans SC"/>
              </a:rPr>
              <a:t>自动化解答高频问题，涵盖诊所营业时间、医保报销政策、院内停车指引及各专科医生介绍。</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产品定位与竞争力</a:t>
            </a:r>
            <a:endParaRPr lang="en-US" sz="1100"/>
          </a:p>
        </p:txBody>
      </p:sp>
      <p:sp>
        <p:nvSpPr>
          <p:cNvPr name="AutoShape 4" id="4"/>
          <p:cNvSpPr/>
          <p:nvPr/>
        </p:nvSpPr>
        <p:spPr>
          <a:xfrm rot="0" flipH="false" flipV="false">
            <a:off x="762000" y="1651000"/>
            <a:ext cx="5207000" cy="4572000"/>
          </a:xfrm>
          <a:prstGeom prst="roundRect">
            <a:avLst>
              <a:gd name="adj" fmla="val 3333"/>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905000"/>
            <a:ext cx="469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F4F4F"/>
                </a:solidFill>
                <a:latin typeface="Noto Sans SC"/>
                <a:ea typeface="Noto Sans SC"/>
                <a:cs typeface="Noto Sans SC"/>
                <a:sym typeface="Noto Sans SC"/>
              </a:rPr>
              <a:t>差异化优势 · 三大“全市场唯一”</a:t>
            </a:r>
            <a:endParaRPr lang="en-US" sz="1100"/>
          </a:p>
        </p:txBody>
      </p:sp>
      <p:sp>
        <p:nvSpPr>
          <p:cNvPr name="AutoShape 6" id="6"/>
          <p:cNvSpPr/>
          <p:nvPr/>
        </p:nvSpPr>
        <p:spPr>
          <a:xfrm rot="0" flipH="false" flipV="false">
            <a:off x="1016000" y="2667000"/>
            <a:ext cx="4699000" cy="1079500"/>
          </a:xfrm>
          <a:prstGeom prst="roundRect">
            <a:avLst>
              <a:gd name="adj" fmla="val 9411"/>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206500" y="2921000"/>
            <a:ext cx="558800" cy="558800"/>
          </a:xfrm>
          <a:prstGeom prst="rect">
            <a:avLst/>
          </a:prstGeom>
        </p:spPr>
      </p:pic>
      <p:sp>
        <p:nvSpPr>
          <p:cNvPr name="AutoShape 8" id="8"/>
          <p:cNvSpPr/>
          <p:nvPr/>
        </p:nvSpPr>
        <p:spPr>
          <a:xfrm rot="0" flipH="false" flipV="false">
            <a:off x="1968500" y="2819400"/>
            <a:ext cx="3556000" cy="825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2F4F4F"/>
                </a:solidFill>
                <a:latin typeface="Noto Sans SC"/>
                <a:ea typeface="Noto Sans SC"/>
                <a:cs typeface="Noto Sans SC"/>
                <a:sym typeface="Noto Sans SC"/>
              </a:rPr>
              <a:t>全链路融合能力</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300">
                <a:solidFill>
                  <a:srgbClr val="4B5563"/>
                </a:solidFill>
                <a:latin typeface="Noto Sans SC"/>
                <a:ea typeface="Noto Sans SC"/>
                <a:cs typeface="Noto Sans SC"/>
                <a:sym typeface="Noto Sans SC"/>
              </a:rPr>
              <a:t>唯一同时提供</a:t>
            </a:r>
            <a:r>
              <a:rPr lang="en-US" b="true" i="false" strike="noStrike" u="none" sz="1300">
                <a:solidFill>
                  <a:srgbClr val="4B5563"/>
                </a:solidFill>
                <a:latin typeface="Noto Sans SC"/>
                <a:ea typeface="Noto Sans SC"/>
                <a:cs typeface="Noto Sans SC"/>
                <a:sym typeface="Noto Sans SC"/>
              </a:rPr>
              <a:t>三模通信接入</a:t>
            </a:r>
            <a:r>
              <a:rPr lang="en-US" b="false" i="false" strike="noStrike" u="none" sz="1300">
                <a:solidFill>
                  <a:srgbClr val="4B5563"/>
                </a:solidFill>
                <a:latin typeface="Noto Sans SC"/>
                <a:ea typeface="Noto Sans SC"/>
                <a:cs typeface="Noto Sans SC"/>
                <a:sym typeface="Noto Sans SC"/>
              </a:rPr>
              <a:t>与</a:t>
            </a:r>
            <a:r>
              <a:rPr lang="en-US" b="true" i="false" strike="noStrike" u="none" sz="1300">
                <a:solidFill>
                  <a:srgbClr val="4B5563"/>
                </a:solidFill>
                <a:latin typeface="Noto Sans SC"/>
                <a:ea typeface="Noto Sans SC"/>
                <a:cs typeface="Noto Sans SC"/>
                <a:sym typeface="Noto Sans SC"/>
              </a:rPr>
              <a:t>双模模拟测试</a:t>
            </a:r>
            <a:r>
              <a:rPr lang="en-US" b="false" i="false" strike="noStrike" u="none" sz="1300">
                <a:solidFill>
                  <a:srgbClr val="4B5563"/>
                </a:solidFill>
                <a:latin typeface="Noto Sans SC"/>
                <a:ea typeface="Noto Sans SC"/>
                <a:cs typeface="Noto Sans SC"/>
                <a:sym typeface="Noto Sans SC"/>
              </a:rPr>
              <a:t>的平台，一站式解决连接与验证难题。</a:t>
            </a:r>
          </a:p>
        </p:txBody>
      </p:sp>
      <p:sp>
        <p:nvSpPr>
          <p:cNvPr name="AutoShape 9" id="9"/>
          <p:cNvSpPr/>
          <p:nvPr/>
        </p:nvSpPr>
        <p:spPr>
          <a:xfrm rot="0" flipH="false" flipV="false">
            <a:off x="1016000" y="3937000"/>
            <a:ext cx="4699000" cy="1079500"/>
          </a:xfrm>
          <a:prstGeom prst="roundRect">
            <a:avLst>
              <a:gd name="adj" fmla="val 9411"/>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206500" y="4191000"/>
            <a:ext cx="558800" cy="558800"/>
          </a:xfrm>
          <a:prstGeom prst="rect">
            <a:avLst/>
          </a:prstGeom>
        </p:spPr>
      </p:pic>
      <p:sp>
        <p:nvSpPr>
          <p:cNvPr name="AutoShape 11" id="11"/>
          <p:cNvSpPr/>
          <p:nvPr/>
        </p:nvSpPr>
        <p:spPr>
          <a:xfrm rot="0" flipH="false" flipV="false">
            <a:off x="1968500" y="4089400"/>
            <a:ext cx="3556000" cy="825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2F4F4F"/>
                </a:solidFill>
                <a:latin typeface="Noto Sans SC"/>
                <a:ea typeface="Noto Sans SC"/>
                <a:cs typeface="Noto Sans SC"/>
                <a:sym typeface="Noto Sans SC"/>
              </a:rPr>
              <a:t>AI 增强的分层节点体系</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300">
                <a:solidFill>
                  <a:srgbClr val="4B5563"/>
                </a:solidFill>
                <a:latin typeface="Noto Sans SC"/>
                <a:ea typeface="Noto Sans SC"/>
                <a:cs typeface="Noto Sans SC"/>
                <a:sym typeface="Noto Sans SC"/>
              </a:rPr>
              <a:t>唯一提供“</a:t>
            </a:r>
            <a:r>
              <a:rPr lang="en-US" b="true" i="false" strike="noStrike" u="none" sz="1300">
                <a:solidFill>
                  <a:srgbClr val="4B5563"/>
                </a:solidFill>
                <a:latin typeface="Noto Sans SC"/>
                <a:ea typeface="Noto Sans SC"/>
                <a:cs typeface="Noto Sans SC"/>
                <a:sym typeface="Noto Sans SC"/>
              </a:rPr>
              <a:t>规则优先 + AI增强</a:t>
            </a:r>
            <a:r>
              <a:rPr lang="en-US" b="false" i="false" strike="noStrike" u="none" sz="1300">
                <a:solidFill>
                  <a:srgbClr val="4B5563"/>
                </a:solidFill>
                <a:latin typeface="Noto Sans SC"/>
                <a:ea typeface="Noto Sans SC"/>
                <a:cs typeface="Noto Sans SC"/>
                <a:sym typeface="Noto Sans SC"/>
              </a:rPr>
              <a:t>”的混合架构，在保证业务逻辑灵活可控的同时兼顾易用性。</a:t>
            </a:r>
          </a:p>
        </p:txBody>
      </p:sp>
      <p:sp>
        <p:nvSpPr>
          <p:cNvPr name="AutoShape 12" id="12"/>
          <p:cNvSpPr/>
          <p:nvPr/>
        </p:nvSpPr>
        <p:spPr>
          <a:xfrm rot="0" flipH="false" flipV="false">
            <a:off x="1016000" y="5080000"/>
            <a:ext cx="4699000" cy="1079500"/>
          </a:xfrm>
          <a:prstGeom prst="roundRect">
            <a:avLst>
              <a:gd name="adj" fmla="val 9411"/>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206500" y="5334000"/>
            <a:ext cx="558800" cy="558800"/>
          </a:xfrm>
          <a:prstGeom prst="rect">
            <a:avLst/>
          </a:prstGeom>
        </p:spPr>
      </p:pic>
      <p:sp>
        <p:nvSpPr>
          <p:cNvPr name="AutoShape 14" id="14"/>
          <p:cNvSpPr/>
          <p:nvPr/>
        </p:nvSpPr>
        <p:spPr>
          <a:xfrm rot="0" flipH="false" flipV="false">
            <a:off x="1968500" y="5232400"/>
            <a:ext cx="3556000" cy="825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2F4F4F"/>
                </a:solidFill>
                <a:latin typeface="Noto Sans SC"/>
                <a:ea typeface="Noto Sans SC"/>
                <a:cs typeface="Noto Sans SC"/>
                <a:sym typeface="Noto Sans SC"/>
              </a:rPr>
              <a:t>节点级运营洞察看板</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300">
                <a:solidFill>
                  <a:srgbClr val="4B5563"/>
                </a:solidFill>
                <a:latin typeface="Noto Sans SC"/>
                <a:ea typeface="Noto Sans SC"/>
                <a:cs typeface="Noto Sans SC"/>
                <a:sym typeface="Noto Sans SC"/>
              </a:rPr>
              <a:t>唯一提供“热力图+漏斗归因”组合看板，实现从单纯开发工具到业务价值赋能平台的跃迁。</a:t>
            </a:r>
          </a:p>
        </p:txBody>
      </p:sp>
      <p:sp>
        <p:nvSpPr>
          <p:cNvPr name="AutoShape 15" id="15"/>
          <p:cNvSpPr/>
          <p:nvPr/>
        </p:nvSpPr>
        <p:spPr>
          <a:xfrm rot="0" flipH="false" flipV="false">
            <a:off x="6223000" y="1651000"/>
            <a:ext cx="5207000" cy="4572000"/>
          </a:xfrm>
          <a:prstGeom prst="roundRect">
            <a:avLst>
              <a:gd name="adj" fmla="val 3333"/>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477000" y="1905000"/>
            <a:ext cx="469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F4F4F"/>
                </a:solidFill>
                <a:latin typeface="Noto Sans SC"/>
                <a:ea typeface="Noto Sans SC"/>
                <a:cs typeface="Noto Sans SC"/>
                <a:sym typeface="Noto Sans SC"/>
              </a:rPr>
              <a:t>市场定位 · 核心竞争力对比</a:t>
            </a:r>
            <a:endParaRPr lang="en-US" sz="1100"/>
          </a:p>
        </p:txBody>
      </p:sp>
      <p:sp>
        <p:nvSpPr>
          <p:cNvPr name="AutoShape 17" id="17"/>
          <p:cNvSpPr/>
          <p:nvPr/>
        </p:nvSpPr>
        <p:spPr>
          <a:xfrm rot="0" flipH="false" flipV="false">
            <a:off x="6477000" y="2667000"/>
            <a:ext cx="4699000" cy="1651000"/>
          </a:xfrm>
          <a:prstGeom prst="roundRect">
            <a:avLst>
              <a:gd name="adj" fmla="val 6153"/>
            </a:avLst>
          </a:prstGeom>
          <a:solidFill>
            <a:srgbClr val="ECF5F5">
              <a:alpha val="100000"/>
            </a:srgbClr>
          </a:solidFill>
          <a:ln w="12700" cmpd="sng" cap="flat">
            <a:solidFill>
              <a:srgbClr val="2F4F4F">
                <a:alpha val="2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731000" y="2857500"/>
            <a:ext cx="4191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600">
                <a:solidFill>
                  <a:srgbClr val="2F4F4F"/>
                </a:solidFill>
                <a:latin typeface="Noto Sans SC"/>
                <a:ea typeface="Noto Sans SC"/>
                <a:cs typeface="Noto Sans SC"/>
                <a:sym typeface="Noto Sans SC"/>
              </a:rPr>
              <a:t>VS. Bland / Vapi / Retell</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300">
                <a:solidFill>
                  <a:srgbClr val="3C3C3C"/>
                </a:solidFill>
                <a:latin typeface="Noto Sans SC"/>
                <a:ea typeface="Noto Sans SC"/>
                <a:cs typeface="Noto Sans SC"/>
                <a:sym typeface="Noto Sans SC"/>
              </a:rPr>
              <a:t>行业唯一实现“</a:t>
            </a:r>
            <a:r>
              <a:rPr lang="en-US" b="true" i="false" strike="noStrike" u="none" sz="1300">
                <a:solidFill>
                  <a:srgbClr val="3C3C3C"/>
                </a:solidFill>
                <a:latin typeface="Noto Sans SC"/>
                <a:ea typeface="Noto Sans SC"/>
                <a:cs typeface="Noto Sans SC"/>
                <a:sym typeface="Noto Sans SC"/>
              </a:rPr>
              <a:t>非技术人员友好</a:t>
            </a:r>
            <a:r>
              <a:rPr lang="en-US" b="false" i="false" strike="noStrike" u="none" sz="1300">
                <a:solidFill>
                  <a:srgbClr val="3C3C3C"/>
                </a:solidFill>
                <a:latin typeface="Noto Sans SC"/>
                <a:ea typeface="Noto Sans SC"/>
                <a:cs typeface="Noto Sans SC"/>
                <a:sym typeface="Noto Sans SC"/>
              </a:rPr>
              <a:t>”的平台，无需专业代码能力，普通业务人员仅需10分钟即可上手并快速搭建出满足实际需求的完整流程。</a:t>
            </a:r>
          </a:p>
        </p:txBody>
      </p:sp>
      <p:sp>
        <p:nvSpPr>
          <p:cNvPr name="AutoShape 19" id="19"/>
          <p:cNvSpPr/>
          <p:nvPr/>
        </p:nvSpPr>
        <p:spPr>
          <a:xfrm rot="0" flipH="false" flipV="false">
            <a:off x="6477000" y="4508500"/>
            <a:ext cx="4699000" cy="1651000"/>
          </a:xfrm>
          <a:prstGeom prst="roundRect">
            <a:avLst>
              <a:gd name="adj" fmla="val 6153"/>
            </a:avLst>
          </a:prstGeom>
          <a:solidFill>
            <a:srgbClr val="ECF5F5">
              <a:alpha val="100000"/>
            </a:srgbClr>
          </a:solidFill>
          <a:ln w="12700" cmpd="sng" cap="flat">
            <a:solidFill>
              <a:srgbClr val="2F4F4F">
                <a:alpha val="2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731000" y="4699000"/>
            <a:ext cx="4191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600">
                <a:solidFill>
                  <a:srgbClr val="2F4F4F"/>
                </a:solidFill>
                <a:latin typeface="Noto Sans SC"/>
                <a:ea typeface="Noto Sans SC"/>
                <a:cs typeface="Noto Sans SC"/>
                <a:sym typeface="Noto Sans SC"/>
              </a:rPr>
              <a:t>VS. Synthflow</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300">
                <a:solidFill>
                  <a:srgbClr val="3C3C3C"/>
                </a:solidFill>
                <a:latin typeface="Noto Sans SC"/>
                <a:ea typeface="Noto Sans SC"/>
                <a:cs typeface="Noto Sans SC"/>
                <a:sym typeface="Noto Sans SC"/>
              </a:rPr>
              <a:t>优势在于：</a:t>
            </a:r>
            <a:r>
              <a:rPr lang="en-US" b="true" i="false" strike="noStrike" u="none" sz="1300">
                <a:solidFill>
                  <a:srgbClr val="3C3C3C"/>
                </a:solidFill>
                <a:latin typeface="Noto Sans SC"/>
                <a:ea typeface="Noto Sans SC"/>
                <a:cs typeface="Noto Sans SC"/>
                <a:sym typeface="Noto Sans SC"/>
              </a:rPr>
              <a:t>更透明的节点逻辑体系</a:t>
            </a:r>
            <a:r>
              <a:rPr lang="en-US" b="false" i="false" strike="noStrike" u="none" sz="1300">
                <a:solidFill>
                  <a:srgbClr val="3C3C3C"/>
                </a:solidFill>
                <a:latin typeface="Noto Sans SC"/>
                <a:ea typeface="Noto Sans SC"/>
                <a:cs typeface="Noto Sans SC"/>
                <a:sym typeface="Noto Sans SC"/>
              </a:rPr>
              <a:t>、</a:t>
            </a:r>
            <a:r>
              <a:rPr lang="en-US" b="true" i="false" strike="noStrike" u="none" sz="1300">
                <a:solidFill>
                  <a:srgbClr val="3C3C3C"/>
                </a:solidFill>
                <a:latin typeface="Noto Sans SC"/>
                <a:ea typeface="Noto Sans SC"/>
                <a:cs typeface="Noto Sans SC"/>
                <a:sym typeface="Noto Sans SC"/>
              </a:rPr>
              <a:t>更全面的通信接入方式</a:t>
            </a:r>
            <a:r>
              <a:rPr lang="en-US" b="false" i="false" strike="noStrike" u="none" sz="1300">
                <a:solidFill>
                  <a:srgbClr val="3C3C3C"/>
                </a:solidFill>
                <a:latin typeface="Noto Sans SC"/>
                <a:ea typeface="Noto Sans SC"/>
                <a:cs typeface="Noto Sans SC"/>
                <a:sym typeface="Noto Sans SC"/>
              </a:rPr>
              <a:t>以及深度的</a:t>
            </a:r>
            <a:r>
              <a:rPr lang="en-US" b="true" i="false" strike="noStrike" u="none" sz="1300">
                <a:solidFill>
                  <a:srgbClr val="3C3C3C"/>
                </a:solidFill>
                <a:latin typeface="Noto Sans SC"/>
                <a:ea typeface="Noto Sans SC"/>
                <a:cs typeface="Noto Sans SC"/>
                <a:sym typeface="Noto Sans SC"/>
              </a:rPr>
              <a:t>业务运营洞察能力</a:t>
            </a:r>
            <a:r>
              <a:rPr lang="en-US" b="false" i="false" strike="noStrike" u="none" sz="1300">
                <a:solidFill>
                  <a:srgbClr val="3C3C3C"/>
                </a:solidFill>
                <a:latin typeface="Noto Sans SC"/>
                <a:ea typeface="Noto Sans SC"/>
                <a:cs typeface="Noto Sans SC"/>
                <a:sym typeface="Noto Sans SC"/>
              </a:rPr>
              <a:t>，助力企业更好地掌控与优化AI业务。</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产品蓝图与路线图</a:t>
            </a:r>
            <a:endParaRPr lang="en-US" sz="1100"/>
          </a:p>
        </p:txBody>
      </p:sp>
      <p:sp>
        <p:nvSpPr>
          <p:cNvPr name="AutoShape 4" id="4"/>
          <p:cNvSpPr/>
          <p:nvPr/>
        </p:nvSpPr>
        <p:spPr>
          <a:xfrm rot="0" flipH="false" flipV="false">
            <a:off x="762000" y="1905000"/>
            <a:ext cx="3302000" cy="4064000"/>
          </a:xfrm>
          <a:prstGeom prst="roundRect">
            <a:avLst>
              <a:gd name="adj" fmla="val 4615"/>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905000"/>
            <a:ext cx="3302000" cy="762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2362200"/>
            <a:ext cx="457200" cy="457200"/>
          </a:xfrm>
          <a:prstGeom prst="rect">
            <a:avLst/>
          </a:prstGeom>
        </p:spPr>
      </p:pic>
      <p:sp>
        <p:nvSpPr>
          <p:cNvPr name="AutoShape 7" id="7"/>
          <p:cNvSpPr/>
          <p:nvPr/>
        </p:nvSpPr>
        <p:spPr>
          <a:xfrm rot="0" flipH="false" flipV="false">
            <a:off x="1651000" y="2311400"/>
            <a:ext cx="2032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2F4F4F"/>
                </a:solidFill>
                <a:latin typeface="Noto Sans SC"/>
                <a:ea typeface="Noto Sans SC"/>
                <a:cs typeface="Noto Sans SC"/>
                <a:sym typeface="Noto Sans SC"/>
              </a:rPr>
              <a:t>MVP</a:t>
            </a:r>
            <a:endParaRPr lang="en-US" sz="1100"/>
          </a:p>
        </p:txBody>
      </p:sp>
      <p:sp>
        <p:nvSpPr>
          <p:cNvPr name="AutoShape 8" id="8"/>
          <p:cNvSpPr/>
          <p:nvPr/>
        </p:nvSpPr>
        <p:spPr>
          <a:xfrm rot="0" flipH="false" flipV="false">
            <a:off x="1016000" y="3175000"/>
            <a:ext cx="279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4B5563"/>
                </a:solidFill>
                <a:latin typeface="Noto Sans SC"/>
                <a:ea typeface="Noto Sans SC"/>
                <a:cs typeface="Noto Sans SC"/>
                <a:sym typeface="Noto Sans SC"/>
              </a:rPr>
              <a:t>基础功能构建期</a:t>
            </a:r>
            <a:endParaRPr lang="en-US" sz="1100"/>
          </a:p>
        </p:txBody>
      </p:sp>
      <p:sp>
        <p:nvSpPr>
          <p:cNvPr name="AutoShape 9" id="9"/>
          <p:cNvSpPr/>
          <p:nvPr/>
        </p:nvSpPr>
        <p:spPr>
          <a:xfrm rot="0" flipH="false" flipV="false">
            <a:off x="1016000" y="4064000"/>
            <a:ext cx="2794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6B7280"/>
                </a:solidFill>
                <a:latin typeface="Noto Sans SC"/>
                <a:ea typeface="Noto Sans SC"/>
                <a:cs typeface="Noto Sans SC"/>
                <a:sym typeface="Noto Sans SC"/>
              </a:rPr>
              <a:t>• 核心业务层与底层逻辑层架构搭建</a:t>
            </a:r>
            <a:r>
              <a:rPr lang="en-US" b="false" i="false" strike="noStrike" u="none" sz="1300">
                <a:solidFill>
                  <a:srgbClr val="6B7280"/>
                </a:solidFill>
                <a:latin typeface="Noto Sans SC"/>
                <a:ea typeface="Noto Sans SC"/>
                <a:cs typeface="Noto Sans SC"/>
                <a:sym typeface="Noto Sans SC"/>
              </a:rPr>
              <a:t/>
            </a:r>
            <a:br>
              <a:rPr lang="en-US" b="false" i="false" strike="noStrike" u="none" sz="1300">
                <a:solidFill>
                  <a:srgbClr val="6B7280"/>
                </a:solidFill>
                <a:latin typeface="Noto Sans SC"/>
                <a:ea typeface="Noto Sans SC"/>
                <a:cs typeface="Noto Sans SC"/>
                <a:sym typeface="Noto Sans SC"/>
              </a:rPr>
            </a:br>
            <a:r>
              <a:rPr lang="en-US" b="false" i="false" strike="noStrike" u="none" sz="1300">
                <a:solidFill>
                  <a:srgbClr val="6B7280"/>
                </a:solidFill>
                <a:latin typeface="Noto Sans SC"/>
                <a:ea typeface="Noto Sans SC"/>
                <a:cs typeface="Noto Sans SC"/>
                <a:sym typeface="Noto Sans SC"/>
              </a:rPr>
              <a:t>• 可视化画布与基础数据看板</a:t>
            </a:r>
            <a:r>
              <a:rPr lang="en-US" b="false" i="false" strike="noStrike" u="none" sz="1300">
                <a:solidFill>
                  <a:srgbClr val="6B7280"/>
                </a:solidFill>
                <a:latin typeface="Noto Sans SC"/>
                <a:ea typeface="Noto Sans SC"/>
                <a:cs typeface="Noto Sans SC"/>
                <a:sym typeface="Noto Sans SC"/>
              </a:rPr>
              <a:t/>
            </a:r>
            <a:br>
              <a:rPr lang="en-US" b="false" i="false" strike="noStrike" u="none" sz="1300">
                <a:solidFill>
                  <a:srgbClr val="6B7280"/>
                </a:solidFill>
                <a:latin typeface="Noto Sans SC"/>
                <a:ea typeface="Noto Sans SC"/>
                <a:cs typeface="Noto Sans SC"/>
                <a:sym typeface="Noto Sans SC"/>
              </a:rPr>
            </a:br>
            <a:r>
              <a:rPr lang="en-US" b="false" i="false" strike="noStrike" u="none" sz="1300">
                <a:solidFill>
                  <a:srgbClr val="6B7280"/>
                </a:solidFill>
                <a:latin typeface="Noto Sans SC"/>
                <a:ea typeface="Noto Sans SC"/>
                <a:cs typeface="Noto Sans SC"/>
                <a:sym typeface="Noto Sans SC"/>
              </a:rPr>
              <a:t>• 平台托管号码服务</a:t>
            </a:r>
            <a:r>
              <a:rPr lang="en-US" b="false" i="false" strike="noStrike" u="none" sz="1300">
                <a:solidFill>
                  <a:srgbClr val="6B7280"/>
                </a:solidFill>
                <a:latin typeface="Noto Sans SC"/>
                <a:ea typeface="Noto Sans SC"/>
                <a:cs typeface="Noto Sans SC"/>
                <a:sym typeface="Noto Sans SC"/>
              </a:rPr>
              <a:t/>
            </a:r>
            <a:br>
              <a:rPr lang="en-US" b="false" i="false" strike="noStrike" u="none" sz="1300">
                <a:solidFill>
                  <a:srgbClr val="6B7280"/>
                </a:solidFill>
                <a:latin typeface="Noto Sans SC"/>
                <a:ea typeface="Noto Sans SC"/>
                <a:cs typeface="Noto Sans SC"/>
                <a:sym typeface="Noto Sans SC"/>
              </a:rPr>
            </a:br>
            <a:r>
              <a:rPr lang="en-US" b="false" i="false" strike="noStrike" u="none" sz="1300">
                <a:solidFill>
                  <a:srgbClr val="6B7280"/>
                </a:solidFill>
                <a:latin typeface="Noto Sans SC"/>
                <a:ea typeface="Noto Sans SC"/>
                <a:cs typeface="Noto Sans SC"/>
                <a:sym typeface="Noto Sans SC"/>
              </a:rPr>
              <a:t>• 文字消息模拟功能支持</a:t>
            </a:r>
            <a:endParaRPr lang="en-US" sz="1100"/>
          </a:p>
        </p:txBody>
      </p:sp>
      <p:sp>
        <p:nvSpPr>
          <p:cNvPr name="AutoShape 10" id="10"/>
          <p:cNvSpPr/>
          <p:nvPr/>
        </p:nvSpPr>
        <p:spPr>
          <a:xfrm rot="0" flipH="false" flipV="false">
            <a:off x="4445000" y="1905000"/>
            <a:ext cx="3302000" cy="4064000"/>
          </a:xfrm>
          <a:prstGeom prst="roundRect">
            <a:avLst>
              <a:gd name="adj" fmla="val 4615"/>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445000" y="1905000"/>
            <a:ext cx="3302000" cy="76200"/>
          </a:xfrm>
          <a:prstGeom prst="roundRect">
            <a:avLst>
              <a:gd name="adj" fmla="val 0"/>
            </a:avLst>
          </a:prstGeom>
          <a:solidFill>
            <a:srgbClr val="44727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749800" y="2362200"/>
            <a:ext cx="457200" cy="457200"/>
          </a:xfrm>
          <a:prstGeom prst="rect">
            <a:avLst/>
          </a:prstGeom>
        </p:spPr>
      </p:pic>
      <p:sp>
        <p:nvSpPr>
          <p:cNvPr name="AutoShape 13" id="13"/>
          <p:cNvSpPr/>
          <p:nvPr/>
        </p:nvSpPr>
        <p:spPr>
          <a:xfrm rot="0" flipH="false" flipV="false">
            <a:off x="5334000" y="2311400"/>
            <a:ext cx="2032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447272"/>
                </a:solidFill>
                <a:latin typeface="Noto Sans SC"/>
                <a:ea typeface="Noto Sans SC"/>
                <a:cs typeface="Noto Sans SC"/>
                <a:sym typeface="Noto Sans SC"/>
              </a:rPr>
              <a:t>V 1.0</a:t>
            </a:r>
            <a:endParaRPr lang="en-US" sz="1100"/>
          </a:p>
        </p:txBody>
      </p:sp>
      <p:sp>
        <p:nvSpPr>
          <p:cNvPr name="AutoShape 14" id="14"/>
          <p:cNvSpPr/>
          <p:nvPr/>
        </p:nvSpPr>
        <p:spPr>
          <a:xfrm rot="0" flipH="false" flipV="false">
            <a:off x="4699000" y="3175000"/>
            <a:ext cx="279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4B5563"/>
                </a:solidFill>
                <a:latin typeface="Noto Sans SC"/>
                <a:ea typeface="Noto Sans SC"/>
                <a:cs typeface="Noto Sans SC"/>
                <a:sym typeface="Noto Sans SC"/>
              </a:rPr>
              <a:t>能力增强与运营期</a:t>
            </a:r>
            <a:endParaRPr lang="en-US" sz="1100"/>
          </a:p>
        </p:txBody>
      </p:sp>
      <p:sp>
        <p:nvSpPr>
          <p:cNvPr name="AutoShape 15" id="15"/>
          <p:cNvSpPr/>
          <p:nvPr/>
        </p:nvSpPr>
        <p:spPr>
          <a:xfrm rot="0" flipH="false" flipV="false">
            <a:off x="4699000" y="4064000"/>
            <a:ext cx="2794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6B7280"/>
                </a:solidFill>
                <a:latin typeface="Noto Sans SC"/>
                <a:ea typeface="Noto Sans SC"/>
                <a:cs typeface="Noto Sans SC"/>
                <a:sym typeface="Noto Sans SC"/>
              </a:rPr>
              <a:t>• 新增AI增强层(3节点)与集成层(4节点)</a:t>
            </a:r>
            <a:r>
              <a:rPr lang="en-US" b="false" i="false" strike="noStrike" u="none" sz="1300">
                <a:solidFill>
                  <a:srgbClr val="6B7280"/>
                </a:solidFill>
                <a:latin typeface="Noto Sans SC"/>
                <a:ea typeface="Noto Sans SC"/>
                <a:cs typeface="Noto Sans SC"/>
                <a:sym typeface="Noto Sans SC"/>
              </a:rPr>
              <a:t/>
            </a:r>
            <a:br>
              <a:rPr lang="en-US" b="false" i="false" strike="noStrike" u="none" sz="1300">
                <a:solidFill>
                  <a:srgbClr val="6B7280"/>
                </a:solidFill>
                <a:latin typeface="Noto Sans SC"/>
                <a:ea typeface="Noto Sans SC"/>
                <a:cs typeface="Noto Sans SC"/>
                <a:sym typeface="Noto Sans SC"/>
              </a:rPr>
            </a:br>
            <a:r>
              <a:rPr lang="en-US" b="false" i="false" strike="noStrike" u="none" sz="1300">
                <a:solidFill>
                  <a:srgbClr val="6B7280"/>
                </a:solidFill>
                <a:latin typeface="Noto Sans SC"/>
                <a:ea typeface="Noto Sans SC"/>
                <a:cs typeface="Noto Sans SC"/>
                <a:sym typeface="Noto Sans SC"/>
              </a:rPr>
              <a:t>• 支持企业自带号码接入与真实通话模拟</a:t>
            </a:r>
            <a:r>
              <a:rPr lang="en-US" b="false" i="false" strike="noStrike" u="none" sz="1300">
                <a:solidFill>
                  <a:srgbClr val="6B7280"/>
                </a:solidFill>
                <a:latin typeface="Noto Sans SC"/>
                <a:ea typeface="Noto Sans SC"/>
                <a:cs typeface="Noto Sans SC"/>
                <a:sym typeface="Noto Sans SC"/>
              </a:rPr>
              <a:t/>
            </a:r>
            <a:br>
              <a:rPr lang="en-US" b="false" i="false" strike="noStrike" u="none" sz="1300">
                <a:solidFill>
                  <a:srgbClr val="6B7280"/>
                </a:solidFill>
                <a:latin typeface="Noto Sans SC"/>
                <a:ea typeface="Noto Sans SC"/>
                <a:cs typeface="Noto Sans SC"/>
                <a:sym typeface="Noto Sans SC"/>
              </a:rPr>
            </a:br>
            <a:r>
              <a:rPr lang="en-US" b="false" i="false" strike="noStrike" u="none" sz="1300">
                <a:solidFill>
                  <a:srgbClr val="6B7280"/>
                </a:solidFill>
                <a:latin typeface="Noto Sans SC"/>
                <a:ea typeface="Noto Sans SC"/>
                <a:cs typeface="Noto Sans SC"/>
                <a:sym typeface="Noto Sans SC"/>
              </a:rPr>
              <a:t>• 功能迭代版本管理</a:t>
            </a:r>
            <a:r>
              <a:rPr lang="en-US" b="false" i="false" strike="noStrike" u="none" sz="1300">
                <a:solidFill>
                  <a:srgbClr val="6B7280"/>
                </a:solidFill>
                <a:latin typeface="Noto Sans SC"/>
                <a:ea typeface="Noto Sans SC"/>
                <a:cs typeface="Noto Sans SC"/>
                <a:sym typeface="Noto Sans SC"/>
              </a:rPr>
              <a:t/>
            </a:r>
            <a:br>
              <a:rPr lang="en-US" b="false" i="false" strike="noStrike" u="none" sz="1300">
                <a:solidFill>
                  <a:srgbClr val="6B7280"/>
                </a:solidFill>
                <a:latin typeface="Noto Sans SC"/>
                <a:ea typeface="Noto Sans SC"/>
                <a:cs typeface="Noto Sans SC"/>
                <a:sym typeface="Noto Sans SC"/>
              </a:rPr>
            </a:br>
            <a:r>
              <a:rPr lang="en-US" b="false" i="false" strike="noStrike" u="none" sz="1300">
                <a:solidFill>
                  <a:srgbClr val="6B7280"/>
                </a:solidFill>
                <a:latin typeface="Noto Sans SC"/>
                <a:ea typeface="Noto Sans SC"/>
                <a:cs typeface="Noto Sans SC"/>
                <a:sym typeface="Noto Sans SC"/>
              </a:rPr>
              <a:t>• 节点数据热力图分析</a:t>
            </a:r>
            <a:endParaRPr lang="en-US" sz="1100"/>
          </a:p>
        </p:txBody>
      </p:sp>
      <p:sp>
        <p:nvSpPr>
          <p:cNvPr name="AutoShape 16" id="16"/>
          <p:cNvSpPr/>
          <p:nvPr/>
        </p:nvSpPr>
        <p:spPr>
          <a:xfrm rot="0" flipH="false" flipV="false">
            <a:off x="8128000" y="1905000"/>
            <a:ext cx="3302000" cy="4064000"/>
          </a:xfrm>
          <a:prstGeom prst="roundRect">
            <a:avLst>
              <a:gd name="adj" fmla="val 4615"/>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128000" y="1905000"/>
            <a:ext cx="3302000" cy="76200"/>
          </a:xfrm>
          <a:prstGeom prst="roundRect">
            <a:avLst>
              <a:gd name="adj" fmla="val 0"/>
            </a:avLst>
          </a:prstGeom>
          <a:solidFill>
            <a:srgbClr val="70929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432800" y="2362200"/>
            <a:ext cx="457200" cy="457200"/>
          </a:xfrm>
          <a:prstGeom prst="rect">
            <a:avLst/>
          </a:prstGeom>
        </p:spPr>
      </p:pic>
      <p:sp>
        <p:nvSpPr>
          <p:cNvPr name="AutoShape 19" id="19"/>
          <p:cNvSpPr/>
          <p:nvPr/>
        </p:nvSpPr>
        <p:spPr>
          <a:xfrm rot="0" flipH="false" flipV="false">
            <a:off x="9017000" y="2311400"/>
            <a:ext cx="2032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709292"/>
                </a:solidFill>
                <a:latin typeface="Noto Sans SC"/>
                <a:ea typeface="Noto Sans SC"/>
                <a:cs typeface="Noto Sans SC"/>
                <a:sym typeface="Noto Sans SC"/>
              </a:rPr>
              <a:t>V 2.0</a:t>
            </a:r>
            <a:endParaRPr lang="en-US" sz="1100"/>
          </a:p>
        </p:txBody>
      </p:sp>
      <p:sp>
        <p:nvSpPr>
          <p:cNvPr name="AutoShape 20" id="20"/>
          <p:cNvSpPr/>
          <p:nvPr/>
        </p:nvSpPr>
        <p:spPr>
          <a:xfrm rot="0" flipH="false" flipV="false">
            <a:off x="8382000" y="3175000"/>
            <a:ext cx="279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4B5563"/>
                </a:solidFill>
                <a:latin typeface="Noto Sans SC"/>
                <a:ea typeface="Noto Sans SC"/>
                <a:cs typeface="Noto Sans SC"/>
                <a:sym typeface="Noto Sans SC"/>
              </a:rPr>
              <a:t>平台化与智能化扩展</a:t>
            </a:r>
            <a:endParaRPr lang="en-US" sz="1100"/>
          </a:p>
        </p:txBody>
      </p:sp>
      <p:sp>
        <p:nvSpPr>
          <p:cNvPr name="AutoShape 21" id="21"/>
          <p:cNvSpPr/>
          <p:nvPr/>
        </p:nvSpPr>
        <p:spPr>
          <a:xfrm rot="0" flipH="false" flipV="false">
            <a:off x="8382000" y="4064000"/>
            <a:ext cx="2794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6B7280"/>
                </a:solidFill>
                <a:latin typeface="Noto Sans SC"/>
                <a:ea typeface="Noto Sans SC"/>
                <a:cs typeface="Noto Sans SC"/>
                <a:sym typeface="Noto Sans SC"/>
              </a:rPr>
              <a:t>• WebRTC浏览器原生通话支持</a:t>
            </a:r>
            <a:r>
              <a:rPr lang="en-US" b="false" i="false" strike="noStrike" u="none" sz="1300">
                <a:solidFill>
                  <a:srgbClr val="6B7280"/>
                </a:solidFill>
                <a:latin typeface="Noto Sans SC"/>
                <a:ea typeface="Noto Sans SC"/>
                <a:cs typeface="Noto Sans SC"/>
                <a:sym typeface="Noto Sans SC"/>
              </a:rPr>
              <a:t/>
            </a:r>
            <a:br>
              <a:rPr lang="en-US" b="false" i="false" strike="noStrike" u="none" sz="1300">
                <a:solidFill>
                  <a:srgbClr val="6B7280"/>
                </a:solidFill>
                <a:latin typeface="Noto Sans SC"/>
                <a:ea typeface="Noto Sans SC"/>
                <a:cs typeface="Noto Sans SC"/>
                <a:sym typeface="Noto Sans SC"/>
              </a:rPr>
            </a:br>
            <a:r>
              <a:rPr lang="en-US" b="false" i="false" strike="noStrike" u="none" sz="1300">
                <a:solidFill>
                  <a:srgbClr val="6B7280"/>
                </a:solidFill>
                <a:latin typeface="Noto Sans SC"/>
                <a:ea typeface="Noto Sans SC"/>
                <a:cs typeface="Noto Sans SC"/>
                <a:sym typeface="Noto Sans SC"/>
              </a:rPr>
              <a:t>• 语音情感智能检测与智能路由</a:t>
            </a:r>
            <a:r>
              <a:rPr lang="en-US" b="false" i="false" strike="noStrike" u="none" sz="1300">
                <a:solidFill>
                  <a:srgbClr val="6B7280"/>
                </a:solidFill>
                <a:latin typeface="Noto Sans SC"/>
                <a:ea typeface="Noto Sans SC"/>
                <a:cs typeface="Noto Sans SC"/>
                <a:sym typeface="Noto Sans SC"/>
              </a:rPr>
              <a:t/>
            </a:r>
            <a:br>
              <a:rPr lang="en-US" b="false" i="false" strike="noStrike" u="none" sz="1300">
                <a:solidFill>
                  <a:srgbClr val="6B7280"/>
                </a:solidFill>
                <a:latin typeface="Noto Sans SC"/>
                <a:ea typeface="Noto Sans SC"/>
                <a:cs typeface="Noto Sans SC"/>
                <a:sym typeface="Noto Sans SC"/>
              </a:rPr>
            </a:br>
            <a:r>
              <a:rPr lang="en-US" b="false" i="false" strike="noStrike" u="none" sz="1300">
                <a:solidFill>
                  <a:srgbClr val="6B7280"/>
                </a:solidFill>
                <a:latin typeface="Noto Sans SC"/>
                <a:ea typeface="Noto Sans SC"/>
                <a:cs typeface="Noto Sans SC"/>
                <a:sym typeface="Noto Sans SC"/>
              </a:rPr>
              <a:t>• 多租户RBAC精细化权限管理</a:t>
            </a:r>
            <a:r>
              <a:rPr lang="en-US" b="false" i="false" strike="noStrike" u="none" sz="1300">
                <a:solidFill>
                  <a:srgbClr val="6B7280"/>
                </a:solidFill>
                <a:latin typeface="Noto Sans SC"/>
                <a:ea typeface="Noto Sans SC"/>
                <a:cs typeface="Noto Sans SC"/>
                <a:sym typeface="Noto Sans SC"/>
              </a:rPr>
              <a:t/>
            </a:r>
            <a:br>
              <a:rPr lang="en-US" b="false" i="false" strike="noStrike" u="none" sz="1300">
                <a:solidFill>
                  <a:srgbClr val="6B7280"/>
                </a:solidFill>
                <a:latin typeface="Noto Sans SC"/>
                <a:ea typeface="Noto Sans SC"/>
                <a:cs typeface="Noto Sans SC"/>
                <a:sym typeface="Noto Sans SC"/>
              </a:rPr>
            </a:br>
            <a:r>
              <a:rPr lang="en-US" b="false" i="false" strike="noStrike" u="none" sz="1300">
                <a:solidFill>
                  <a:srgbClr val="6B7280"/>
                </a:solidFill>
                <a:latin typeface="Noto Sans SC"/>
                <a:ea typeface="Noto Sans SC"/>
                <a:cs typeface="Noto Sans SC"/>
                <a:sym typeface="Noto Sans SC"/>
              </a:rPr>
              <a:t>• 开放API平台，支持生态连接</a:t>
            </a:r>
            <a:endParaRPr lang="en-US" sz="1100"/>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用户操作全旅程</a:t>
            </a:r>
            <a:endParaRPr lang="en-US" sz="1100"/>
          </a:p>
        </p:txBody>
      </p:sp>
      <p:sp>
        <p:nvSpPr>
          <p:cNvPr name="AutoShape 4" id="4"/>
          <p:cNvSpPr/>
          <p:nvPr/>
        </p:nvSpPr>
        <p:spPr>
          <a:xfrm rot="0" flipH="false" flipV="false">
            <a:off x="762000" y="1778000"/>
            <a:ext cx="1397000" cy="812800"/>
          </a:xfrm>
          <a:prstGeom prst="roundRect">
            <a:avLst>
              <a:gd name="adj" fmla="val 1250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1397000" cy="812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注册</a:t>
            </a:r>
            <a:endParaRPr lang="en-US" sz="1100"/>
          </a:p>
        </p:txBody>
      </p:sp>
      <p:sp>
        <p:nvSpPr>
          <p:cNvPr name="AutoShape 6" id="6"/>
          <p:cNvSpPr/>
          <p:nvPr/>
        </p:nvSpPr>
        <p:spPr>
          <a:xfrm rot="0" flipH="false" flipV="false">
            <a:off x="2413000" y="1778000"/>
            <a:ext cx="1397000" cy="812800"/>
          </a:xfrm>
          <a:prstGeom prst="roundRect">
            <a:avLst>
              <a:gd name="adj" fmla="val 1250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2413000" y="1778000"/>
            <a:ext cx="1397000" cy="812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创建</a:t>
            </a:r>
            <a:endParaRPr lang="en-US" sz="1100"/>
          </a:p>
        </p:txBody>
      </p:sp>
      <p:sp>
        <p:nvSpPr>
          <p:cNvPr name="AutoShape 8" id="8"/>
          <p:cNvSpPr/>
          <p:nvPr/>
        </p:nvSpPr>
        <p:spPr>
          <a:xfrm rot="0" flipH="false" flipV="false">
            <a:off x="4064000" y="1778000"/>
            <a:ext cx="1397000" cy="812800"/>
          </a:xfrm>
          <a:prstGeom prst="roundRect">
            <a:avLst>
              <a:gd name="adj" fmla="val 1250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064000" y="1778000"/>
            <a:ext cx="1397000" cy="812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配置</a:t>
            </a:r>
            <a:endParaRPr lang="en-US" sz="1100"/>
          </a:p>
        </p:txBody>
      </p:sp>
      <p:sp>
        <p:nvSpPr>
          <p:cNvPr name="AutoShape 10" id="10"/>
          <p:cNvSpPr/>
          <p:nvPr/>
        </p:nvSpPr>
        <p:spPr>
          <a:xfrm rot="0" flipH="false" flipV="false">
            <a:off x="5715000" y="1778000"/>
            <a:ext cx="1397000" cy="812800"/>
          </a:xfrm>
          <a:prstGeom prst="roundRect">
            <a:avLst>
              <a:gd name="adj" fmla="val 1250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5715000" y="1778000"/>
            <a:ext cx="1397000" cy="812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测试</a:t>
            </a:r>
            <a:endParaRPr lang="en-US" sz="1100"/>
          </a:p>
        </p:txBody>
      </p:sp>
      <p:sp>
        <p:nvSpPr>
          <p:cNvPr name="AutoShape 12" id="12"/>
          <p:cNvSpPr/>
          <p:nvPr/>
        </p:nvSpPr>
        <p:spPr>
          <a:xfrm rot="0" flipH="false" flipV="false">
            <a:off x="7366000" y="1778000"/>
            <a:ext cx="1397000" cy="812800"/>
          </a:xfrm>
          <a:prstGeom prst="roundRect">
            <a:avLst>
              <a:gd name="adj" fmla="val 1250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7366000" y="1778000"/>
            <a:ext cx="1397000" cy="812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发布</a:t>
            </a:r>
            <a:endParaRPr lang="en-US" sz="1100"/>
          </a:p>
        </p:txBody>
      </p:sp>
      <p:sp>
        <p:nvSpPr>
          <p:cNvPr name="AutoShape 14" id="14"/>
          <p:cNvSpPr/>
          <p:nvPr/>
        </p:nvSpPr>
        <p:spPr>
          <a:xfrm rot="0" flipH="false" flipV="false">
            <a:off x="9017000" y="1778000"/>
            <a:ext cx="1206500" cy="812800"/>
          </a:xfrm>
          <a:prstGeom prst="roundRect">
            <a:avLst>
              <a:gd name="adj" fmla="val 1250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9017000" y="1778000"/>
            <a:ext cx="1206500" cy="812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运营</a:t>
            </a:r>
            <a:endParaRPr lang="en-US" sz="1100"/>
          </a:p>
        </p:txBody>
      </p:sp>
      <p:sp>
        <p:nvSpPr>
          <p:cNvPr name="AutoShape 16" id="16"/>
          <p:cNvSpPr/>
          <p:nvPr/>
        </p:nvSpPr>
        <p:spPr>
          <a:xfrm rot="0" flipH="false" flipV="false">
            <a:off x="10350500" y="1778000"/>
            <a:ext cx="1206500" cy="812800"/>
          </a:xfrm>
          <a:prstGeom prst="roundRect">
            <a:avLst>
              <a:gd name="adj" fmla="val 1250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10350500" y="1778000"/>
            <a:ext cx="1206500" cy="812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迭代</a:t>
            </a:r>
            <a:endParaRPr lang="en-US" sz="1100"/>
          </a:p>
        </p:txBody>
      </p:sp>
      <p:sp>
        <p:nvSpPr>
          <p:cNvPr name="AutoShape 18" id="18"/>
          <p:cNvSpPr/>
          <p:nvPr/>
        </p:nvSpPr>
        <p:spPr>
          <a:xfrm rot="0" flipH="false" flipV="false">
            <a:off x="762000" y="3175000"/>
            <a:ext cx="3302000" cy="2794000"/>
          </a:xfrm>
          <a:prstGeom prst="roundRect">
            <a:avLst>
              <a:gd name="adj" fmla="val 5454"/>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3429000"/>
            <a:ext cx="457200" cy="457200"/>
          </a:xfrm>
          <a:prstGeom prst="rect">
            <a:avLst/>
          </a:prstGeom>
        </p:spPr>
      </p:pic>
      <p:sp>
        <p:nvSpPr>
          <p:cNvPr name="AutoShape 20" id="20"/>
          <p:cNvSpPr/>
          <p:nvPr/>
        </p:nvSpPr>
        <p:spPr>
          <a:xfrm rot="0" flipH="false" flipV="false">
            <a:off x="1651000" y="34036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Noto Sans SC"/>
                <a:ea typeface="Noto Sans SC"/>
                <a:cs typeface="Noto Sans SC"/>
                <a:sym typeface="Noto Sans SC"/>
              </a:rPr>
              <a:t>从“畏惧”到“释然”</a:t>
            </a:r>
            <a:endParaRPr lang="en-US" sz="1100"/>
          </a:p>
        </p:txBody>
      </p:sp>
      <p:sp>
        <p:nvSpPr>
          <p:cNvPr name="AutoShape 21" id="21"/>
          <p:cNvSpPr/>
          <p:nvPr/>
        </p:nvSpPr>
        <p:spPr>
          <a:xfrm rot="0" flipH="false" flipV="false">
            <a:off x="1016000" y="4318000"/>
            <a:ext cx="2794000" cy="1397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300">
                <a:solidFill>
                  <a:srgbClr val="4B5563"/>
                </a:solidFill>
                <a:latin typeface="Noto Sans SC"/>
                <a:ea typeface="Noto Sans SC"/>
                <a:cs typeface="Noto Sans SC"/>
                <a:sym typeface="Noto Sans SC"/>
              </a:rPr>
              <a:t>用户面对空白画布时可能会感到畏惧，我们通过提供丰富的模板，让用户一键开始，感到释然，快速进入创作状态。</a:t>
            </a:r>
            <a:endParaRPr lang="en-US" sz="1100"/>
          </a:p>
        </p:txBody>
      </p:sp>
      <p:sp>
        <p:nvSpPr>
          <p:cNvPr name="AutoShape 22" id="22"/>
          <p:cNvSpPr/>
          <p:nvPr/>
        </p:nvSpPr>
        <p:spPr>
          <a:xfrm rot="0" flipH="false" flipV="false">
            <a:off x="4445000" y="3175000"/>
            <a:ext cx="3302000" cy="2794000"/>
          </a:xfrm>
          <a:prstGeom prst="roundRect">
            <a:avLst>
              <a:gd name="adj" fmla="val 5454"/>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3429000"/>
            <a:ext cx="457200" cy="457200"/>
          </a:xfrm>
          <a:prstGeom prst="rect">
            <a:avLst/>
          </a:prstGeom>
        </p:spPr>
      </p:pic>
      <p:sp>
        <p:nvSpPr>
          <p:cNvPr name="AutoShape 24" id="24"/>
          <p:cNvSpPr/>
          <p:nvPr/>
        </p:nvSpPr>
        <p:spPr>
          <a:xfrm rot="0" flipH="false" flipV="false">
            <a:off x="5334000" y="34036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Noto Sans SC"/>
                <a:ea typeface="Noto Sans SC"/>
                <a:cs typeface="Noto Sans SC"/>
                <a:sym typeface="Noto Sans SC"/>
              </a:rPr>
              <a:t>消除“不确定性”焦虑</a:t>
            </a:r>
            <a:endParaRPr lang="en-US" sz="1100"/>
          </a:p>
        </p:txBody>
      </p:sp>
      <p:sp>
        <p:nvSpPr>
          <p:cNvPr name="AutoShape 25" id="25"/>
          <p:cNvSpPr/>
          <p:nvPr/>
        </p:nvSpPr>
        <p:spPr>
          <a:xfrm rot="0" flipH="false" flipV="false">
            <a:off x="4699000" y="4318000"/>
            <a:ext cx="2794000" cy="1397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300">
                <a:solidFill>
                  <a:srgbClr val="4B5563"/>
                </a:solidFill>
                <a:latin typeface="Noto Sans SC"/>
                <a:ea typeface="Noto Sans SC"/>
                <a:cs typeface="Noto Sans SC"/>
                <a:sym typeface="Noto Sans SC"/>
              </a:rPr>
              <a:t>强大的模拟测试功能，让用户在正式发布前即可全方位确认效果，有效消除“不知配置是否正确”的操作焦虑。</a:t>
            </a:r>
            <a:endParaRPr lang="en-US" sz="1100"/>
          </a:p>
        </p:txBody>
      </p:sp>
      <p:sp>
        <p:nvSpPr>
          <p:cNvPr name="AutoShape 26" id="26"/>
          <p:cNvSpPr/>
          <p:nvPr/>
        </p:nvSpPr>
        <p:spPr>
          <a:xfrm rot="0" flipH="false" flipV="false">
            <a:off x="8128000" y="3175000"/>
            <a:ext cx="3302000" cy="2794000"/>
          </a:xfrm>
          <a:prstGeom prst="roundRect">
            <a:avLst>
              <a:gd name="adj" fmla="val 5454"/>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27" id="27"/>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3429000"/>
            <a:ext cx="457200" cy="457200"/>
          </a:xfrm>
          <a:prstGeom prst="rect">
            <a:avLst/>
          </a:prstGeom>
        </p:spPr>
      </p:pic>
      <p:sp>
        <p:nvSpPr>
          <p:cNvPr name="AutoShape 28" id="28"/>
          <p:cNvSpPr/>
          <p:nvPr/>
        </p:nvSpPr>
        <p:spPr>
          <a:xfrm rot="0" flipH="false" flipV="false">
            <a:off x="9017000" y="34036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Noto Sans SC"/>
                <a:ea typeface="Noto Sans SC"/>
                <a:cs typeface="Noto Sans SC"/>
                <a:sym typeface="Noto Sans SC"/>
              </a:rPr>
              <a:t>消除“迭代”恐惧</a:t>
            </a:r>
            <a:endParaRPr lang="en-US" sz="1100"/>
          </a:p>
        </p:txBody>
      </p:sp>
      <p:sp>
        <p:nvSpPr>
          <p:cNvPr name="AutoShape 29" id="29"/>
          <p:cNvSpPr/>
          <p:nvPr/>
        </p:nvSpPr>
        <p:spPr>
          <a:xfrm rot="0" flipH="false" flipV="false">
            <a:off x="8382000" y="4318000"/>
            <a:ext cx="2794000" cy="1397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300">
                <a:solidFill>
                  <a:srgbClr val="4B5563"/>
                </a:solidFill>
                <a:latin typeface="Noto Sans SC"/>
                <a:ea typeface="Noto Sans SC"/>
                <a:cs typeface="Noto Sans SC"/>
                <a:sym typeface="Noto Sans SC"/>
              </a:rPr>
              <a:t>可靠的版本管理功能支持回溯与对比，让用户可以大胆尝试优化新流程，彻底消除“修改后效果反而变差”的心理恐惧。</a:t>
            </a:r>
            <a:endParaRPr lang="en-US" sz="1100"/>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技术架构全景</a:t>
            </a:r>
            <a:endParaRPr lang="en-US" sz="1100"/>
          </a:p>
        </p:txBody>
      </p:sp>
      <p:sp>
        <p:nvSpPr>
          <p:cNvPr name="AutoShape 4" id="4"/>
          <p:cNvSpPr/>
          <p:nvPr/>
        </p:nvSpPr>
        <p:spPr>
          <a:xfrm rot="0" flipH="false" flipV="false">
            <a:off x="762000" y="1778000"/>
            <a:ext cx="2032000" cy="4318000"/>
          </a:xfrm>
          <a:prstGeom prst="roundRect">
            <a:avLst>
              <a:gd name="adj" fmla="val 75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2032000" cy="762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358900" y="2235200"/>
            <a:ext cx="838200" cy="838200"/>
          </a:xfrm>
          <a:prstGeom prst="rect">
            <a:avLst/>
          </a:prstGeom>
        </p:spPr>
      </p:pic>
      <p:sp>
        <p:nvSpPr>
          <p:cNvPr name="AutoShape 7" id="7"/>
          <p:cNvSpPr/>
          <p:nvPr/>
        </p:nvSpPr>
        <p:spPr>
          <a:xfrm rot="0" flipH="false" flipV="false">
            <a:off x="889000" y="3302000"/>
            <a:ext cx="177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900">
                <a:solidFill>
                  <a:srgbClr val="2F4F4F"/>
                </a:solidFill>
                <a:latin typeface="Noto Sans SC"/>
                <a:ea typeface="Noto Sans SC"/>
                <a:cs typeface="Noto Sans SC"/>
                <a:sym typeface="Noto Sans SC"/>
              </a:rPr>
              <a:t>前端交互层</a:t>
            </a:r>
            <a:endParaRPr lang="en-US" sz="1100"/>
          </a:p>
        </p:txBody>
      </p:sp>
      <p:sp>
        <p:nvSpPr>
          <p:cNvPr name="AutoShape 8" id="8"/>
          <p:cNvSpPr/>
          <p:nvPr/>
        </p:nvSpPr>
        <p:spPr>
          <a:xfrm rot="0" flipH="false" flipV="false">
            <a:off x="889000" y="4064000"/>
            <a:ext cx="1778000" cy="177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300">
                <a:solidFill>
                  <a:srgbClr val="4B5563"/>
                </a:solidFill>
                <a:latin typeface="Noto Sans SC"/>
                <a:ea typeface="Noto Sans SC"/>
                <a:cs typeface="Noto Sans SC"/>
                <a:sym typeface="Noto Sans SC"/>
              </a:rPr>
              <a:t>React Flow 可视化画布</a:t>
            </a:r>
            <a:r>
              <a:rPr lang="en-US" b="false" i="false" strike="noStrike" u="none" sz="1300">
                <a:solidFill>
                  <a:srgbClr val="4B5563"/>
                </a:solidFill>
                <a:latin typeface="Noto Sans SC"/>
                <a:ea typeface="Noto Sans SC"/>
                <a:cs typeface="Noto Sans SC"/>
                <a:sym typeface="Noto Sans SC"/>
              </a:rPr>
              <a:t/>
            </a:r>
            <a:br>
              <a:rPr lang="en-US" b="false" i="false" strike="noStrike" u="none" sz="1300">
                <a:solidFill>
                  <a:srgbClr val="4B5563"/>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Zustand 全局状态管理</a:t>
            </a:r>
            <a:r>
              <a:rPr lang="en-US" b="false" i="false" strike="noStrike" u="none" sz="1300">
                <a:solidFill>
                  <a:srgbClr val="4B5563"/>
                </a:solidFill>
                <a:latin typeface="Noto Sans SC"/>
                <a:ea typeface="Noto Sans SC"/>
                <a:cs typeface="Noto Sans SC"/>
                <a:sym typeface="Noto Sans SC"/>
              </a:rPr>
              <a:t/>
            </a:r>
            <a:br>
              <a:rPr lang="en-US" b="false" i="false" strike="noStrike" u="none" sz="1300">
                <a:solidFill>
                  <a:srgbClr val="4B5563"/>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WebRTC (V2.0) 实时音视频</a:t>
            </a:r>
            <a:endParaRPr lang="en-US" sz="1100"/>
          </a:p>
        </p:txBody>
      </p:sp>
      <p:sp>
        <p:nvSpPr>
          <p:cNvPr name="AutoShape 9" id="9"/>
          <p:cNvSpPr/>
          <p:nvPr/>
        </p:nvSpPr>
        <p:spPr>
          <a:xfrm rot="0" flipH="false" flipV="false">
            <a:off x="3048000" y="1778000"/>
            <a:ext cx="2032000" cy="4318000"/>
          </a:xfrm>
          <a:prstGeom prst="roundRect">
            <a:avLst>
              <a:gd name="adj" fmla="val 75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048000" y="1778000"/>
            <a:ext cx="2032000" cy="762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644900" y="2235200"/>
            <a:ext cx="838200" cy="838200"/>
          </a:xfrm>
          <a:prstGeom prst="rect">
            <a:avLst/>
          </a:prstGeom>
        </p:spPr>
      </p:pic>
      <p:sp>
        <p:nvSpPr>
          <p:cNvPr name="AutoShape 12" id="12"/>
          <p:cNvSpPr/>
          <p:nvPr/>
        </p:nvSpPr>
        <p:spPr>
          <a:xfrm rot="0" flipH="false" flipV="false">
            <a:off x="3175000" y="3302000"/>
            <a:ext cx="177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900">
                <a:solidFill>
                  <a:srgbClr val="2F4F4F"/>
                </a:solidFill>
                <a:latin typeface="Noto Sans SC"/>
                <a:ea typeface="Noto Sans SC"/>
                <a:cs typeface="Noto Sans SC"/>
                <a:sym typeface="Noto Sans SC"/>
              </a:rPr>
              <a:t>核心引擎层</a:t>
            </a:r>
            <a:endParaRPr lang="en-US" sz="1100"/>
          </a:p>
        </p:txBody>
      </p:sp>
      <p:sp>
        <p:nvSpPr>
          <p:cNvPr name="AutoShape 13" id="13"/>
          <p:cNvSpPr/>
          <p:nvPr/>
        </p:nvSpPr>
        <p:spPr>
          <a:xfrm rot="0" flipH="false" flipV="false">
            <a:off x="3175000" y="4064000"/>
            <a:ext cx="1778000" cy="177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300">
                <a:solidFill>
                  <a:srgbClr val="4B5563"/>
                </a:solidFill>
                <a:latin typeface="Noto Sans SC"/>
                <a:ea typeface="Noto Sans SC"/>
                <a:cs typeface="Noto Sans SC"/>
                <a:sym typeface="Noto Sans SC"/>
              </a:rPr>
              <a:t>Node.js 自研流程解释器</a:t>
            </a:r>
            <a:r>
              <a:rPr lang="en-US" b="false" i="false" strike="noStrike" u="none" sz="1300">
                <a:solidFill>
                  <a:srgbClr val="4B5563"/>
                </a:solidFill>
                <a:latin typeface="Noto Sans SC"/>
                <a:ea typeface="Noto Sans SC"/>
                <a:cs typeface="Noto Sans SC"/>
                <a:sym typeface="Noto Sans SC"/>
              </a:rPr>
              <a:t/>
            </a:r>
            <a:br>
              <a:rPr lang="en-US" b="false" i="false" strike="noStrike" u="none" sz="1300">
                <a:solidFill>
                  <a:srgbClr val="4B5563"/>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Redis 高性能缓存</a:t>
            </a:r>
            <a:r>
              <a:rPr lang="en-US" b="false" i="false" strike="noStrike" u="none" sz="1300">
                <a:solidFill>
                  <a:srgbClr val="4B5563"/>
                </a:solidFill>
                <a:latin typeface="Noto Sans SC"/>
                <a:ea typeface="Noto Sans SC"/>
                <a:cs typeface="Noto Sans SC"/>
                <a:sym typeface="Noto Sans SC"/>
              </a:rPr>
              <a:t/>
            </a:r>
            <a:br>
              <a:rPr lang="en-US" b="false" i="false" strike="noStrike" u="none" sz="1300">
                <a:solidFill>
                  <a:srgbClr val="4B5563"/>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分布式锁机制</a:t>
            </a:r>
            <a:endParaRPr lang="en-US" sz="1100"/>
          </a:p>
        </p:txBody>
      </p:sp>
      <p:sp>
        <p:nvSpPr>
          <p:cNvPr name="AutoShape 14" id="14"/>
          <p:cNvSpPr/>
          <p:nvPr/>
        </p:nvSpPr>
        <p:spPr>
          <a:xfrm rot="0" flipH="false" flipV="false">
            <a:off x="5334000" y="1778000"/>
            <a:ext cx="2032000" cy="4318000"/>
          </a:xfrm>
          <a:prstGeom prst="roundRect">
            <a:avLst>
              <a:gd name="adj" fmla="val 75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5334000" y="1778000"/>
            <a:ext cx="2032000" cy="762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5930900" y="2235200"/>
            <a:ext cx="838200" cy="838200"/>
          </a:xfrm>
          <a:prstGeom prst="rect">
            <a:avLst/>
          </a:prstGeom>
        </p:spPr>
      </p:pic>
      <p:sp>
        <p:nvSpPr>
          <p:cNvPr name="AutoShape 17" id="17"/>
          <p:cNvSpPr/>
          <p:nvPr/>
        </p:nvSpPr>
        <p:spPr>
          <a:xfrm rot="0" flipH="false" flipV="false">
            <a:off x="5461000" y="3302000"/>
            <a:ext cx="177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900">
                <a:solidFill>
                  <a:srgbClr val="2F4F4F"/>
                </a:solidFill>
                <a:latin typeface="Noto Sans SC"/>
                <a:ea typeface="Noto Sans SC"/>
                <a:cs typeface="Noto Sans SC"/>
                <a:sym typeface="Noto Sans SC"/>
              </a:rPr>
              <a:t>通信接入层</a:t>
            </a:r>
            <a:endParaRPr lang="en-US" sz="1100"/>
          </a:p>
        </p:txBody>
      </p:sp>
      <p:sp>
        <p:nvSpPr>
          <p:cNvPr name="AutoShape 18" id="18"/>
          <p:cNvSpPr/>
          <p:nvPr/>
        </p:nvSpPr>
        <p:spPr>
          <a:xfrm rot="0" flipH="false" flipV="false">
            <a:off x="5461000" y="4064000"/>
            <a:ext cx="1778000" cy="177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300">
                <a:solidFill>
                  <a:srgbClr val="4B5563"/>
                </a:solidFill>
                <a:latin typeface="Noto Sans SC"/>
                <a:ea typeface="Noto Sans SC"/>
                <a:cs typeface="Noto Sans SC"/>
                <a:sym typeface="Noto Sans SC"/>
              </a:rPr>
              <a:t>Twilio 全球云通信集成</a:t>
            </a:r>
            <a:r>
              <a:rPr lang="en-US" b="false" i="false" strike="noStrike" u="none" sz="1300">
                <a:solidFill>
                  <a:srgbClr val="4B5563"/>
                </a:solidFill>
                <a:latin typeface="Noto Sans SC"/>
                <a:ea typeface="Noto Sans SC"/>
                <a:cs typeface="Noto Sans SC"/>
                <a:sym typeface="Noto Sans SC"/>
              </a:rPr>
              <a:t/>
            </a:r>
            <a:br>
              <a:rPr lang="en-US" b="false" i="false" strike="noStrike" u="none" sz="1300">
                <a:solidFill>
                  <a:srgbClr val="4B5563"/>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SIP 网关协议适配</a:t>
            </a:r>
            <a:r>
              <a:rPr lang="en-US" b="false" i="false" strike="noStrike" u="none" sz="1300">
                <a:solidFill>
                  <a:srgbClr val="4B5563"/>
                </a:solidFill>
                <a:latin typeface="Noto Sans SC"/>
                <a:ea typeface="Noto Sans SC"/>
                <a:cs typeface="Noto Sans SC"/>
                <a:sym typeface="Noto Sans SC"/>
              </a:rPr>
              <a:t/>
            </a:r>
            <a:br>
              <a:rPr lang="en-US" b="false" i="false" strike="noStrike" u="none" sz="1300">
                <a:solidFill>
                  <a:srgbClr val="4B5563"/>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WebRTC 纯浏览器接入</a:t>
            </a:r>
            <a:endParaRPr lang="en-US" sz="1100"/>
          </a:p>
        </p:txBody>
      </p:sp>
      <p:sp>
        <p:nvSpPr>
          <p:cNvPr name="AutoShape 19" id="19"/>
          <p:cNvSpPr/>
          <p:nvPr/>
        </p:nvSpPr>
        <p:spPr>
          <a:xfrm rot="0" flipH="false" flipV="false">
            <a:off x="7620000" y="1778000"/>
            <a:ext cx="2032000" cy="4318000"/>
          </a:xfrm>
          <a:prstGeom prst="roundRect">
            <a:avLst>
              <a:gd name="adj" fmla="val 75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7620000" y="1778000"/>
            <a:ext cx="2032000" cy="762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8216900" y="2235200"/>
            <a:ext cx="838200" cy="838200"/>
          </a:xfrm>
          <a:prstGeom prst="rect">
            <a:avLst/>
          </a:prstGeom>
        </p:spPr>
      </p:pic>
      <p:sp>
        <p:nvSpPr>
          <p:cNvPr name="AutoShape 22" id="22"/>
          <p:cNvSpPr/>
          <p:nvPr/>
        </p:nvSpPr>
        <p:spPr>
          <a:xfrm rot="0" flipH="false" flipV="false">
            <a:off x="7747000" y="3302000"/>
            <a:ext cx="177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900">
                <a:solidFill>
                  <a:srgbClr val="2F4F4F"/>
                </a:solidFill>
                <a:latin typeface="Noto Sans SC"/>
                <a:ea typeface="Noto Sans SC"/>
                <a:cs typeface="Noto Sans SC"/>
                <a:sym typeface="Noto Sans SC"/>
              </a:rPr>
              <a:t>智能能力层</a:t>
            </a:r>
            <a:endParaRPr lang="en-US" sz="1100"/>
          </a:p>
        </p:txBody>
      </p:sp>
      <p:sp>
        <p:nvSpPr>
          <p:cNvPr name="AutoShape 23" id="23"/>
          <p:cNvSpPr/>
          <p:nvPr/>
        </p:nvSpPr>
        <p:spPr>
          <a:xfrm rot="0" flipH="false" flipV="false">
            <a:off x="7747000" y="4064000"/>
            <a:ext cx="1778000" cy="177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300">
                <a:solidFill>
                  <a:srgbClr val="4B5563"/>
                </a:solidFill>
                <a:latin typeface="Noto Sans SC"/>
                <a:ea typeface="Noto Sans SC"/>
                <a:cs typeface="Noto Sans SC"/>
                <a:sym typeface="Noto Sans SC"/>
              </a:rPr>
              <a:t>LLM 多模型聚合网关</a:t>
            </a:r>
            <a:r>
              <a:rPr lang="en-US" b="false" i="false" strike="noStrike" u="none" sz="1300">
                <a:solidFill>
                  <a:srgbClr val="4B5563"/>
                </a:solidFill>
                <a:latin typeface="Noto Sans SC"/>
                <a:ea typeface="Noto Sans SC"/>
                <a:cs typeface="Noto Sans SC"/>
                <a:sym typeface="Noto Sans SC"/>
              </a:rPr>
              <a:t/>
            </a:r>
            <a:br>
              <a:rPr lang="en-US" b="false" i="false" strike="noStrike" u="none" sz="1300">
                <a:solidFill>
                  <a:srgbClr val="4B5563"/>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Deepgram 语音识别(ASR)</a:t>
            </a:r>
            <a:r>
              <a:rPr lang="en-US" b="false" i="false" strike="noStrike" u="none" sz="1300">
                <a:solidFill>
                  <a:srgbClr val="4B5563"/>
                </a:solidFill>
                <a:latin typeface="Noto Sans SC"/>
                <a:ea typeface="Noto Sans SC"/>
                <a:cs typeface="Noto Sans SC"/>
                <a:sym typeface="Noto Sans SC"/>
              </a:rPr>
              <a:t/>
            </a:r>
            <a:br>
              <a:rPr lang="en-US" b="false" i="false" strike="noStrike" u="none" sz="1300">
                <a:solidFill>
                  <a:srgbClr val="4B5563"/>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ElevenLabs 语音合成(TTS)</a:t>
            </a:r>
            <a:r>
              <a:rPr lang="en-US" b="false" i="false" strike="noStrike" u="none" sz="1300">
                <a:solidFill>
                  <a:srgbClr val="4B5563"/>
                </a:solidFill>
                <a:latin typeface="Noto Sans SC"/>
                <a:ea typeface="Noto Sans SC"/>
                <a:cs typeface="Noto Sans SC"/>
                <a:sym typeface="Noto Sans SC"/>
              </a:rPr>
              <a:t/>
            </a:r>
            <a:br>
              <a:rPr lang="en-US" b="false" i="false" strike="noStrike" u="none" sz="1300">
                <a:solidFill>
                  <a:srgbClr val="4B5563"/>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Pinecone 向量检索(RAG)</a:t>
            </a:r>
            <a:endParaRPr lang="en-US" sz="1100"/>
          </a:p>
        </p:txBody>
      </p:sp>
      <p:sp>
        <p:nvSpPr>
          <p:cNvPr name="AutoShape 24" id="24"/>
          <p:cNvSpPr/>
          <p:nvPr/>
        </p:nvSpPr>
        <p:spPr>
          <a:xfrm rot="0" flipH="false" flipV="false">
            <a:off x="9906000" y="1778000"/>
            <a:ext cx="2032000" cy="4318000"/>
          </a:xfrm>
          <a:prstGeom prst="roundRect">
            <a:avLst>
              <a:gd name="adj" fmla="val 75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9906000" y="1778000"/>
            <a:ext cx="2032000" cy="762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502900" y="2235200"/>
            <a:ext cx="838200" cy="838200"/>
          </a:xfrm>
          <a:prstGeom prst="rect">
            <a:avLst/>
          </a:prstGeom>
        </p:spPr>
      </p:pic>
      <p:sp>
        <p:nvSpPr>
          <p:cNvPr name="AutoShape 27" id="27"/>
          <p:cNvSpPr/>
          <p:nvPr/>
        </p:nvSpPr>
        <p:spPr>
          <a:xfrm rot="0" flipH="false" flipV="false">
            <a:off x="10033000" y="3302000"/>
            <a:ext cx="177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900">
                <a:solidFill>
                  <a:srgbClr val="2F4F4F"/>
                </a:solidFill>
                <a:latin typeface="Noto Sans SC"/>
                <a:ea typeface="Noto Sans SC"/>
                <a:cs typeface="Noto Sans SC"/>
                <a:sym typeface="Noto Sans SC"/>
              </a:rPr>
              <a:t>数据持久层</a:t>
            </a:r>
            <a:endParaRPr lang="en-US" sz="1100"/>
          </a:p>
        </p:txBody>
      </p:sp>
      <p:sp>
        <p:nvSpPr>
          <p:cNvPr name="AutoShape 28" id="28"/>
          <p:cNvSpPr/>
          <p:nvPr/>
        </p:nvSpPr>
        <p:spPr>
          <a:xfrm rot="0" flipH="false" flipV="false">
            <a:off x="10033000" y="4064000"/>
            <a:ext cx="1778000" cy="177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300">
                <a:solidFill>
                  <a:srgbClr val="4B5563"/>
                </a:solidFill>
                <a:latin typeface="Noto Sans SC"/>
                <a:ea typeface="Noto Sans SC"/>
                <a:cs typeface="Noto Sans SC"/>
                <a:sym typeface="Noto Sans SC"/>
              </a:rPr>
              <a:t>PostgreSQL (JSONB)</a:t>
            </a:r>
            <a:r>
              <a:rPr lang="en-US" b="false" i="false" strike="noStrike" u="none" sz="1300">
                <a:solidFill>
                  <a:srgbClr val="4B5563"/>
                </a:solidFill>
                <a:latin typeface="Noto Sans SC"/>
                <a:ea typeface="Noto Sans SC"/>
                <a:cs typeface="Noto Sans SC"/>
                <a:sym typeface="Noto Sans SC"/>
              </a:rPr>
              <a:t/>
            </a:r>
            <a:br>
              <a:rPr lang="en-US" b="false" i="false" strike="noStrike" u="none" sz="1300">
                <a:solidFill>
                  <a:srgbClr val="4B5563"/>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Redis 高速KV存储</a:t>
            </a:r>
            <a:r>
              <a:rPr lang="en-US" b="false" i="false" strike="noStrike" u="none" sz="1300">
                <a:solidFill>
                  <a:srgbClr val="4B5563"/>
                </a:solidFill>
                <a:latin typeface="Noto Sans SC"/>
                <a:ea typeface="Noto Sans SC"/>
                <a:cs typeface="Noto Sans SC"/>
                <a:sym typeface="Noto Sans SC"/>
              </a:rPr>
              <a:t/>
            </a:r>
            <a:br>
              <a:rPr lang="en-US" b="false" i="false" strike="noStrike" u="none" sz="1300">
                <a:solidFill>
                  <a:srgbClr val="4B5563"/>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AWS S3 海量录音归档</a:t>
            </a:r>
            <a:r>
              <a:rPr lang="en-US" b="false" i="false" strike="noStrike" u="none" sz="1300">
                <a:solidFill>
                  <a:srgbClr val="4B5563"/>
                </a:solidFill>
                <a:latin typeface="Noto Sans SC"/>
                <a:ea typeface="Noto Sans SC"/>
                <a:cs typeface="Noto Sans SC"/>
                <a:sym typeface="Noto Sans SC"/>
              </a:rPr>
              <a:t/>
            </a:r>
            <a:br>
              <a:rPr lang="en-US" b="false" i="false" strike="noStrike" u="none" sz="1300">
                <a:solidFill>
                  <a:srgbClr val="4B5563"/>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Pinecone 向量数据库</a:t>
            </a:r>
            <a:endParaRPr lang="en-US" sz="1100"/>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功能优先级矩阵</a:t>
            </a:r>
            <a:endParaRPr lang="en-US" sz="1100"/>
          </a:p>
        </p:txBody>
      </p:sp>
      <p:sp>
        <p:nvSpPr>
          <p:cNvPr name="AutoShape 4" id="4"/>
          <p:cNvSpPr/>
          <p:nvPr/>
        </p:nvSpPr>
        <p:spPr>
          <a:xfrm rot="0" flipH="false" flipV="false">
            <a:off x="762000" y="1651000"/>
            <a:ext cx="5207000" cy="2286000"/>
          </a:xfrm>
          <a:prstGeom prst="roundRect">
            <a:avLst>
              <a:gd name="adj" fmla="val 6666"/>
            </a:avLst>
          </a:prstGeom>
          <a:solidFill>
            <a:srgbClr val="FFFFFF">
              <a:alpha val="100000"/>
            </a:srgbClr>
          </a:solidFill>
          <a:ln w="12700" cmpd="sng" cap="flat">
            <a:solidFill>
              <a:srgbClr val="EBEB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05000"/>
            <a:ext cx="355600" cy="355600"/>
          </a:xfrm>
          <a:prstGeom prst="rect">
            <a:avLst/>
          </a:prstGeom>
        </p:spPr>
      </p:pic>
      <p:sp>
        <p:nvSpPr>
          <p:cNvPr name="AutoShape 6" id="6"/>
          <p:cNvSpPr/>
          <p:nvPr/>
        </p:nvSpPr>
        <p:spPr>
          <a:xfrm rot="0" flipH="false" flipV="false">
            <a:off x="1524000" y="1879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Noto Sans SC"/>
                <a:ea typeface="Noto Sans SC"/>
                <a:cs typeface="Noto Sans SC"/>
                <a:sym typeface="Noto Sans SC"/>
              </a:rPr>
              <a:t>Q1 (P0)</a:t>
            </a:r>
            <a:r>
              <a:rPr lang="en-US" b="false" i="false" strike="noStrike" u="none" sz="1600">
                <a:solidFill>
                  <a:srgbClr val="666666"/>
                </a:solidFill>
                <a:latin typeface="Noto Sans SC"/>
                <a:ea typeface="Noto Sans SC"/>
                <a:cs typeface="Noto Sans SC"/>
                <a:sym typeface="Noto Sans SC"/>
              </a:rPr>
              <a:t>· 高价值 / 低复杂度</a:t>
            </a:r>
            <a:endParaRPr lang="en-US" sz="1100"/>
          </a:p>
        </p:txBody>
      </p:sp>
      <p:sp>
        <p:nvSpPr>
          <p:cNvPr name="AutoShape 7" id="7"/>
          <p:cNvSpPr/>
          <p:nvPr/>
        </p:nvSpPr>
        <p:spPr>
          <a:xfrm rot="0" flipH="false" flipV="false">
            <a:off x="1016000" y="2540000"/>
            <a:ext cx="4699000" cy="12700"/>
          </a:xfrm>
          <a:prstGeom prst="roundRect">
            <a:avLst>
              <a:gd name="adj" fmla="val 0"/>
            </a:avLst>
          </a:prstGeom>
          <a:solidFill>
            <a:srgbClr val="E5E7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016000" y="2794000"/>
            <a:ext cx="4699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4B5563"/>
                </a:solidFill>
                <a:latin typeface="Noto Sans SC"/>
                <a:ea typeface="Noto Sans SC"/>
                <a:cs typeface="Noto Sans SC"/>
                <a:sym typeface="Noto Sans SC"/>
              </a:rPr>
              <a:t>核心层 8 节点 + 逻辑层 4 节点 + 画布 + 文字模拟 + 基础看板</a:t>
            </a:r>
            <a:endParaRPr lang="en-US" sz="1100"/>
          </a:p>
        </p:txBody>
      </p:sp>
      <p:sp>
        <p:nvSpPr>
          <p:cNvPr name="AutoShape 9" id="9"/>
          <p:cNvSpPr/>
          <p:nvPr/>
        </p:nvSpPr>
        <p:spPr>
          <a:xfrm rot="0" flipH="false" flipV="false">
            <a:off x="6223000" y="1651000"/>
            <a:ext cx="5207000" cy="2286000"/>
          </a:xfrm>
          <a:prstGeom prst="roundRect">
            <a:avLst>
              <a:gd name="adj" fmla="val 6666"/>
            </a:avLst>
          </a:prstGeom>
          <a:solidFill>
            <a:srgbClr val="FFFFFF">
              <a:alpha val="100000"/>
            </a:srgbClr>
          </a:solidFill>
          <a:ln w="12700" cmpd="sng" cap="flat">
            <a:solidFill>
              <a:srgbClr val="EBEB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1905000"/>
            <a:ext cx="355600" cy="355600"/>
          </a:xfrm>
          <a:prstGeom prst="rect">
            <a:avLst/>
          </a:prstGeom>
        </p:spPr>
      </p:pic>
      <p:sp>
        <p:nvSpPr>
          <p:cNvPr name="AutoShape 11" id="11"/>
          <p:cNvSpPr/>
          <p:nvPr/>
        </p:nvSpPr>
        <p:spPr>
          <a:xfrm rot="0" flipH="false" flipV="false">
            <a:off x="6985000" y="1879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D97706"/>
                </a:solidFill>
                <a:latin typeface="Noto Sans SC"/>
                <a:ea typeface="Noto Sans SC"/>
                <a:cs typeface="Noto Sans SC"/>
                <a:sym typeface="Noto Sans SC"/>
              </a:rPr>
              <a:t>Q2 (P1)</a:t>
            </a:r>
            <a:r>
              <a:rPr lang="en-US" b="false" i="false" strike="noStrike" u="none" sz="1600">
                <a:solidFill>
                  <a:srgbClr val="666666"/>
                </a:solidFill>
                <a:latin typeface="Noto Sans SC"/>
                <a:ea typeface="Noto Sans SC"/>
                <a:cs typeface="Noto Sans SC"/>
                <a:sym typeface="Noto Sans SC"/>
              </a:rPr>
              <a:t>· 高价值 / 高复杂度</a:t>
            </a:r>
            <a:endParaRPr lang="en-US" sz="1100"/>
          </a:p>
        </p:txBody>
      </p:sp>
      <p:sp>
        <p:nvSpPr>
          <p:cNvPr name="AutoShape 12" id="12"/>
          <p:cNvSpPr/>
          <p:nvPr/>
        </p:nvSpPr>
        <p:spPr>
          <a:xfrm rot="0" flipH="false" flipV="false">
            <a:off x="6477000" y="2540000"/>
            <a:ext cx="4699000" cy="12700"/>
          </a:xfrm>
          <a:prstGeom prst="roundRect">
            <a:avLst>
              <a:gd name="adj" fmla="val 0"/>
            </a:avLst>
          </a:prstGeom>
          <a:solidFill>
            <a:srgbClr val="E5E7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477000" y="2794000"/>
            <a:ext cx="4699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4B5563"/>
                </a:solidFill>
                <a:latin typeface="Noto Sans SC"/>
                <a:ea typeface="Noto Sans SC"/>
                <a:cs typeface="Noto Sans SC"/>
                <a:sym typeface="Noto Sans SC"/>
              </a:rPr>
              <a:t>AI 3 节点 + 集成 4 节点 + 真实通话模拟 + 版本管理 + 热力图</a:t>
            </a:r>
            <a:endParaRPr lang="en-US" sz="1100"/>
          </a:p>
        </p:txBody>
      </p:sp>
      <p:sp>
        <p:nvSpPr>
          <p:cNvPr name="AutoShape 14" id="14"/>
          <p:cNvSpPr/>
          <p:nvPr/>
        </p:nvSpPr>
        <p:spPr>
          <a:xfrm rot="0" flipH="false" flipV="false">
            <a:off x="762000" y="4191000"/>
            <a:ext cx="5207000" cy="2286000"/>
          </a:xfrm>
          <a:prstGeom prst="roundRect">
            <a:avLst>
              <a:gd name="adj" fmla="val 6666"/>
            </a:avLst>
          </a:prstGeom>
          <a:solidFill>
            <a:srgbClr val="FFFFFF">
              <a:alpha val="100000"/>
            </a:srgbClr>
          </a:solidFill>
          <a:ln w="12700" cmpd="sng" cap="flat">
            <a:solidFill>
              <a:srgbClr val="EBEB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445000"/>
            <a:ext cx="355600" cy="355600"/>
          </a:xfrm>
          <a:prstGeom prst="rect">
            <a:avLst/>
          </a:prstGeom>
        </p:spPr>
      </p:pic>
      <p:sp>
        <p:nvSpPr>
          <p:cNvPr name="AutoShape 16" id="16"/>
          <p:cNvSpPr/>
          <p:nvPr/>
        </p:nvSpPr>
        <p:spPr>
          <a:xfrm rot="0" flipH="false" flipV="false">
            <a:off x="1524000" y="4419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563EB"/>
                </a:solidFill>
                <a:latin typeface="Noto Sans SC"/>
                <a:ea typeface="Noto Sans SC"/>
                <a:cs typeface="Noto Sans SC"/>
                <a:sym typeface="Noto Sans SC"/>
              </a:rPr>
              <a:t>Q3 (P2)</a:t>
            </a:r>
            <a:r>
              <a:rPr lang="en-US" b="false" i="false" strike="noStrike" u="none" sz="1600">
                <a:solidFill>
                  <a:srgbClr val="666666"/>
                </a:solidFill>
                <a:latin typeface="Noto Sans SC"/>
                <a:ea typeface="Noto Sans SC"/>
                <a:cs typeface="Noto Sans SC"/>
                <a:sym typeface="Noto Sans SC"/>
              </a:rPr>
              <a:t>· 低价值 / 低复杂度</a:t>
            </a:r>
            <a:endParaRPr lang="en-US" sz="1100"/>
          </a:p>
        </p:txBody>
      </p:sp>
      <p:sp>
        <p:nvSpPr>
          <p:cNvPr name="AutoShape 17" id="17"/>
          <p:cNvSpPr/>
          <p:nvPr/>
        </p:nvSpPr>
        <p:spPr>
          <a:xfrm rot="0" flipH="false" flipV="false">
            <a:off x="1016000" y="5080000"/>
            <a:ext cx="4699000" cy="12700"/>
          </a:xfrm>
          <a:prstGeom prst="roundRect">
            <a:avLst>
              <a:gd name="adj" fmla="val 0"/>
            </a:avLst>
          </a:prstGeom>
          <a:solidFill>
            <a:srgbClr val="E5E7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1016000" y="5334000"/>
            <a:ext cx="4699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4B5563"/>
                </a:solidFill>
                <a:latin typeface="Noto Sans SC"/>
                <a:ea typeface="Noto Sans SC"/>
                <a:cs typeface="Noto Sans SC"/>
                <a:sym typeface="Noto Sans SC"/>
              </a:rPr>
              <a:t>并行分支 + 自定义看板</a:t>
            </a:r>
            <a:endParaRPr lang="en-US" sz="1100"/>
          </a:p>
        </p:txBody>
      </p:sp>
      <p:sp>
        <p:nvSpPr>
          <p:cNvPr name="AutoShape 19" id="19"/>
          <p:cNvSpPr/>
          <p:nvPr/>
        </p:nvSpPr>
        <p:spPr>
          <a:xfrm rot="0" flipH="false" flipV="false">
            <a:off x="6223000" y="4191000"/>
            <a:ext cx="5207000" cy="2286000"/>
          </a:xfrm>
          <a:prstGeom prst="roundRect">
            <a:avLst>
              <a:gd name="adj" fmla="val 6666"/>
            </a:avLst>
          </a:prstGeom>
          <a:solidFill>
            <a:srgbClr val="FFFFFF">
              <a:alpha val="100000"/>
            </a:srgbClr>
          </a:solidFill>
          <a:ln w="12700" cmpd="sng" cap="flat">
            <a:solidFill>
              <a:srgbClr val="EBEB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77000" y="4445000"/>
            <a:ext cx="355600" cy="355600"/>
          </a:xfrm>
          <a:prstGeom prst="rect">
            <a:avLst/>
          </a:prstGeom>
        </p:spPr>
      </p:pic>
      <p:sp>
        <p:nvSpPr>
          <p:cNvPr name="AutoShape 21" id="21"/>
          <p:cNvSpPr/>
          <p:nvPr/>
        </p:nvSpPr>
        <p:spPr>
          <a:xfrm rot="0" flipH="false" flipV="false">
            <a:off x="6985000" y="4419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6B7280"/>
                </a:solidFill>
                <a:latin typeface="Noto Sans SC"/>
                <a:ea typeface="Noto Sans SC"/>
                <a:cs typeface="Noto Sans SC"/>
                <a:sym typeface="Noto Sans SC"/>
              </a:rPr>
              <a:t>Q4 (P2)</a:t>
            </a:r>
            <a:r>
              <a:rPr lang="en-US" b="false" i="false" strike="noStrike" u="none" sz="1600">
                <a:solidFill>
                  <a:srgbClr val="666666"/>
                </a:solidFill>
                <a:latin typeface="Noto Sans SC"/>
                <a:ea typeface="Noto Sans SC"/>
                <a:cs typeface="Noto Sans SC"/>
                <a:sym typeface="Noto Sans SC"/>
              </a:rPr>
              <a:t>· 低价值 / 高复杂度</a:t>
            </a:r>
            <a:endParaRPr lang="en-US" sz="1100"/>
          </a:p>
        </p:txBody>
      </p:sp>
      <p:sp>
        <p:nvSpPr>
          <p:cNvPr name="AutoShape 22" id="22"/>
          <p:cNvSpPr/>
          <p:nvPr/>
        </p:nvSpPr>
        <p:spPr>
          <a:xfrm rot="0" flipH="false" flipV="false">
            <a:off x="6477000" y="5080000"/>
            <a:ext cx="4699000" cy="12700"/>
          </a:xfrm>
          <a:prstGeom prst="roundRect">
            <a:avLst>
              <a:gd name="adj" fmla="val 0"/>
            </a:avLst>
          </a:prstGeom>
          <a:solidFill>
            <a:srgbClr val="E5E7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6477000" y="5334000"/>
            <a:ext cx="4699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4B5563"/>
                </a:solidFill>
                <a:latin typeface="Noto Sans SC"/>
                <a:ea typeface="Noto Sans SC"/>
                <a:cs typeface="Noto Sans SC"/>
                <a:sym typeface="Noto Sans SC"/>
              </a:rPr>
              <a:t>情感检测 + 智能路由 + 多 Agent</a:t>
            </a:r>
            <a:endParaRPr lang="en-US" sz="1100"/>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可交互原型预览</a:t>
            </a:r>
            <a:endParaRPr lang="en-US" sz="1100"/>
          </a:p>
        </p:txBody>
      </p:sp>
      <p:sp>
        <p:nvSpPr>
          <p:cNvPr name="AutoShape 4" id="4"/>
          <p:cNvSpPr/>
          <p:nvPr/>
        </p:nvSpPr>
        <p:spPr>
          <a:xfrm rot="0" flipH="false" flipV="false">
            <a:off x="762000" y="1778000"/>
            <a:ext cx="2476500" cy="4318000"/>
          </a:xfrm>
          <a:prstGeom prst="roundRect">
            <a:avLst>
              <a:gd name="adj" fmla="val 4102"/>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2476500" cy="1143000"/>
          </a:xfrm>
          <a:prstGeom prst="roundRect">
            <a:avLst>
              <a:gd name="adj" fmla="val 8888"/>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600200" y="2032000"/>
            <a:ext cx="762000" cy="762000"/>
          </a:xfrm>
          <a:prstGeom prst="rect">
            <a:avLst/>
          </a:prstGeom>
        </p:spPr>
      </p:pic>
      <p:sp>
        <p:nvSpPr>
          <p:cNvPr name="AutoShape 7" id="7"/>
          <p:cNvSpPr/>
          <p:nvPr/>
        </p:nvSpPr>
        <p:spPr>
          <a:xfrm rot="0" flipH="false" flipV="false">
            <a:off x="762000" y="3175000"/>
            <a:ext cx="24765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900">
                <a:solidFill>
                  <a:srgbClr val="2F4F4F"/>
                </a:solidFill>
                <a:latin typeface="Noto Sans SC"/>
                <a:ea typeface="Noto Sans SC"/>
                <a:cs typeface="Noto Sans SC"/>
                <a:sym typeface="Noto Sans SC"/>
              </a:rPr>
              <a:t>工作流画布页</a:t>
            </a:r>
            <a:endParaRPr lang="en-US" sz="1100"/>
          </a:p>
        </p:txBody>
      </p:sp>
      <p:sp>
        <p:nvSpPr>
          <p:cNvPr name="AutoShape 8" id="8"/>
          <p:cNvSpPr/>
          <p:nvPr/>
        </p:nvSpPr>
        <p:spPr>
          <a:xfrm rot="0" flipH="false" flipV="false">
            <a:off x="952500" y="4064000"/>
            <a:ext cx="2095500" cy="177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300">
                <a:solidFill>
                  <a:srgbClr val="505050"/>
                </a:solidFill>
                <a:latin typeface="Noto Sans SC"/>
                <a:ea typeface="Noto Sans SC"/>
                <a:cs typeface="Noto Sans SC"/>
                <a:sym typeface="Noto Sans SC"/>
              </a:rPr>
              <a:t>支持节点的自由拖拽与智能连线，可实时配置节点参数并进行语法校验，确保流程逻辑的正确性与灵活性。</a:t>
            </a:r>
            <a:endParaRPr lang="en-US" sz="1100"/>
          </a:p>
        </p:txBody>
      </p:sp>
      <p:sp>
        <p:nvSpPr>
          <p:cNvPr name="AutoShape 9" id="9"/>
          <p:cNvSpPr/>
          <p:nvPr/>
        </p:nvSpPr>
        <p:spPr>
          <a:xfrm rot="0" flipH="false" flipV="false">
            <a:off x="3492500" y="1778000"/>
            <a:ext cx="2476500" cy="4318000"/>
          </a:xfrm>
          <a:prstGeom prst="roundRect">
            <a:avLst>
              <a:gd name="adj" fmla="val 4102"/>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492500" y="1778000"/>
            <a:ext cx="2476500" cy="1143000"/>
          </a:xfrm>
          <a:prstGeom prst="roundRect">
            <a:avLst>
              <a:gd name="adj" fmla="val 8888"/>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330700" y="2032000"/>
            <a:ext cx="762000" cy="762000"/>
          </a:xfrm>
          <a:prstGeom prst="rect">
            <a:avLst/>
          </a:prstGeom>
        </p:spPr>
      </p:pic>
      <p:sp>
        <p:nvSpPr>
          <p:cNvPr name="AutoShape 12" id="12"/>
          <p:cNvSpPr/>
          <p:nvPr/>
        </p:nvSpPr>
        <p:spPr>
          <a:xfrm rot="0" flipH="false" flipV="false">
            <a:off x="3492500" y="3175000"/>
            <a:ext cx="24765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900">
                <a:solidFill>
                  <a:srgbClr val="2F4F4F"/>
                </a:solidFill>
                <a:latin typeface="Noto Sans SC"/>
                <a:ea typeface="Noto Sans SC"/>
                <a:cs typeface="Noto Sans SC"/>
                <a:sym typeface="Noto Sans SC"/>
              </a:rPr>
              <a:t>模拟测试页</a:t>
            </a:r>
            <a:endParaRPr lang="en-US" sz="1100"/>
          </a:p>
        </p:txBody>
      </p:sp>
      <p:sp>
        <p:nvSpPr>
          <p:cNvPr name="AutoShape 13" id="13"/>
          <p:cNvSpPr/>
          <p:nvPr/>
        </p:nvSpPr>
        <p:spPr>
          <a:xfrm rot="0" flipH="false" flipV="false">
            <a:off x="3683000" y="4064000"/>
            <a:ext cx="2095500" cy="177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300">
                <a:solidFill>
                  <a:srgbClr val="505050"/>
                </a:solidFill>
                <a:latin typeface="Noto Sans SC"/>
                <a:ea typeface="Noto Sans SC"/>
                <a:cs typeface="Noto Sans SC"/>
                <a:sym typeface="Noto Sans SC"/>
              </a:rPr>
              <a:t>提供文字对话模拟功能，实时高亮显示当前对话命中的节点路径，帮助您直观验证流程走向与回复准确性。</a:t>
            </a:r>
            <a:endParaRPr lang="en-US" sz="1100"/>
          </a:p>
        </p:txBody>
      </p:sp>
      <p:sp>
        <p:nvSpPr>
          <p:cNvPr name="AutoShape 14" id="14"/>
          <p:cNvSpPr/>
          <p:nvPr/>
        </p:nvSpPr>
        <p:spPr>
          <a:xfrm rot="0" flipH="false" flipV="false">
            <a:off x="6223000" y="1778000"/>
            <a:ext cx="2476500" cy="4318000"/>
          </a:xfrm>
          <a:prstGeom prst="roundRect">
            <a:avLst>
              <a:gd name="adj" fmla="val 4102"/>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223000" y="1778000"/>
            <a:ext cx="2476500" cy="1143000"/>
          </a:xfrm>
          <a:prstGeom prst="roundRect">
            <a:avLst>
              <a:gd name="adj" fmla="val 8888"/>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7061200" y="2032000"/>
            <a:ext cx="762000" cy="762000"/>
          </a:xfrm>
          <a:prstGeom prst="rect">
            <a:avLst/>
          </a:prstGeom>
        </p:spPr>
      </p:pic>
      <p:sp>
        <p:nvSpPr>
          <p:cNvPr name="AutoShape 17" id="17"/>
          <p:cNvSpPr/>
          <p:nvPr/>
        </p:nvSpPr>
        <p:spPr>
          <a:xfrm rot="0" flipH="false" flipV="false">
            <a:off x="6223000" y="3175000"/>
            <a:ext cx="24765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900">
                <a:solidFill>
                  <a:srgbClr val="2F4F4F"/>
                </a:solidFill>
                <a:latin typeface="Noto Sans SC"/>
                <a:ea typeface="Noto Sans SC"/>
                <a:cs typeface="Noto Sans SC"/>
                <a:sym typeface="Noto Sans SC"/>
              </a:rPr>
              <a:t>运营看板页</a:t>
            </a:r>
            <a:endParaRPr lang="en-US" sz="1100"/>
          </a:p>
        </p:txBody>
      </p:sp>
      <p:sp>
        <p:nvSpPr>
          <p:cNvPr name="AutoShape 18" id="18"/>
          <p:cNvSpPr/>
          <p:nvPr/>
        </p:nvSpPr>
        <p:spPr>
          <a:xfrm rot="0" flipH="false" flipV="false">
            <a:off x="6413500" y="4064000"/>
            <a:ext cx="2095500" cy="177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300">
                <a:solidFill>
                  <a:srgbClr val="505050"/>
                </a:solidFill>
                <a:latin typeface="Noto Sans SC"/>
                <a:ea typeface="Noto Sans SC"/>
                <a:cs typeface="Noto Sans SC"/>
                <a:sym typeface="Noto Sans SC"/>
              </a:rPr>
              <a:t>聚合展示核心KPI卡片、趋势图、交互热力图及转化漏斗，为业务表现提供全方位、可视化的数据洞察支持。</a:t>
            </a:r>
            <a:endParaRPr lang="en-US" sz="1100"/>
          </a:p>
        </p:txBody>
      </p:sp>
      <p:sp>
        <p:nvSpPr>
          <p:cNvPr name="AutoShape 19" id="19"/>
          <p:cNvSpPr/>
          <p:nvPr/>
        </p:nvSpPr>
        <p:spPr>
          <a:xfrm rot="0" flipH="false" flipV="false">
            <a:off x="8953500" y="1778000"/>
            <a:ext cx="2476500" cy="4318000"/>
          </a:xfrm>
          <a:prstGeom prst="roundRect">
            <a:avLst>
              <a:gd name="adj" fmla="val 4102"/>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8953500" y="1778000"/>
            <a:ext cx="2476500" cy="1143000"/>
          </a:xfrm>
          <a:prstGeom prst="roundRect">
            <a:avLst>
              <a:gd name="adj" fmla="val 8888"/>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791700" y="2032000"/>
            <a:ext cx="762000" cy="762000"/>
          </a:xfrm>
          <a:prstGeom prst="rect">
            <a:avLst/>
          </a:prstGeom>
        </p:spPr>
      </p:pic>
      <p:sp>
        <p:nvSpPr>
          <p:cNvPr name="AutoShape 22" id="22"/>
          <p:cNvSpPr/>
          <p:nvPr/>
        </p:nvSpPr>
        <p:spPr>
          <a:xfrm rot="0" flipH="false" flipV="false">
            <a:off x="8953500" y="3175000"/>
            <a:ext cx="24765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900">
                <a:solidFill>
                  <a:srgbClr val="2F4F4F"/>
                </a:solidFill>
                <a:latin typeface="Noto Sans SC"/>
                <a:ea typeface="Noto Sans SC"/>
                <a:cs typeface="Noto Sans SC"/>
                <a:sym typeface="Noto Sans SC"/>
              </a:rPr>
              <a:t>通信接入页</a:t>
            </a:r>
            <a:endParaRPr lang="en-US" sz="1100"/>
          </a:p>
        </p:txBody>
      </p:sp>
      <p:sp>
        <p:nvSpPr>
          <p:cNvPr name="AutoShape 23" id="23"/>
          <p:cNvSpPr/>
          <p:nvPr/>
        </p:nvSpPr>
        <p:spPr>
          <a:xfrm rot="0" flipH="false" flipV="false">
            <a:off x="9144000" y="4064000"/>
            <a:ext cx="2095500" cy="177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300">
                <a:solidFill>
                  <a:srgbClr val="505050"/>
                </a:solidFill>
                <a:latin typeface="Noto Sans SC"/>
                <a:ea typeface="Noto Sans SC"/>
                <a:cs typeface="Noto Sans SC"/>
                <a:sym typeface="Noto Sans SC"/>
              </a:rPr>
              <a:t>直观展示三种通信接入模式的切换界面，提供各模式间的成本与性能对比分析，助力技术架构决策。</a:t>
            </a:r>
            <a:endParaRPr lang="en-US" sz="1100"/>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09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竞品功能矩阵</a:t>
            </a:r>
            <a:endParaRPr lang="en-US" sz="1100"/>
          </a:p>
        </p:txBody>
      </p:sp>
      <p:sp>
        <p:nvSpPr>
          <p:cNvPr name="AutoShape 4" id="4"/>
          <p:cNvSpPr/>
          <p:nvPr/>
        </p:nvSpPr>
        <p:spPr>
          <a:xfrm rot="0" flipH="false" flipV="false">
            <a:off x="762000" y="1524000"/>
            <a:ext cx="2032000" cy="1397000"/>
          </a:xfrm>
          <a:prstGeom prst="roundRect">
            <a:avLst>
              <a:gd name="adj" fmla="val 909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0" r="0" t="16666" b="16666"/>
          <a:stretch>
            <a:fillRect/>
          </a:stretch>
        </p:blipFill>
        <p:spPr>
          <a:xfrm rot="0" flipH="false" flipV="false">
            <a:off x="1016000" y="1714500"/>
            <a:ext cx="1524000" cy="1016000"/>
          </a:xfrm>
          <a:prstGeom prst="rect">
            <a:avLst/>
          </a:prstGeom>
          <a:noFill/>
          <a:ln w="25400" cmpd="sng" cap="flat">
            <a:noFill/>
            <a:prstDash val="solid"/>
            <a:round/>
          </a:ln>
        </p:spPr>
      </p:pic>
      <p:sp>
        <p:nvSpPr>
          <p:cNvPr name="AutoShape 6" id="6"/>
          <p:cNvSpPr/>
          <p:nvPr/>
        </p:nvSpPr>
        <p:spPr>
          <a:xfrm rot="0" flipH="false" flipV="false">
            <a:off x="3048000" y="1524000"/>
            <a:ext cx="2032000" cy="1397000"/>
          </a:xfrm>
          <a:prstGeom prst="roundRect">
            <a:avLst>
              <a:gd name="adj" fmla="val 909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4"/>
          <a:srcRect l="0" r="0" t="16666" b="16666"/>
          <a:stretch>
            <a:fillRect/>
          </a:stretch>
        </p:blipFill>
        <p:spPr>
          <a:xfrm rot="0" flipH="false" flipV="false">
            <a:off x="3302000" y="1714500"/>
            <a:ext cx="1524000" cy="1016000"/>
          </a:xfrm>
          <a:prstGeom prst="rect">
            <a:avLst/>
          </a:prstGeom>
          <a:noFill/>
          <a:ln w="25400" cmpd="sng" cap="flat">
            <a:noFill/>
            <a:prstDash val="solid"/>
            <a:round/>
          </a:ln>
        </p:spPr>
      </p:pic>
      <p:sp>
        <p:nvSpPr>
          <p:cNvPr name="AutoShape 8" id="8"/>
          <p:cNvSpPr/>
          <p:nvPr/>
        </p:nvSpPr>
        <p:spPr>
          <a:xfrm rot="0" flipH="false" flipV="false">
            <a:off x="5334000" y="1524000"/>
            <a:ext cx="2032000" cy="1397000"/>
          </a:xfrm>
          <a:prstGeom prst="roundRect">
            <a:avLst>
              <a:gd name="adj" fmla="val 909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srcRect l="0" r="0" t="16666" b="16666"/>
          <a:stretch>
            <a:fillRect/>
          </a:stretch>
        </p:blipFill>
        <p:spPr>
          <a:xfrm rot="0" flipH="false" flipV="false">
            <a:off x="5588000" y="1714500"/>
            <a:ext cx="1524000" cy="1016000"/>
          </a:xfrm>
          <a:prstGeom prst="rect">
            <a:avLst/>
          </a:prstGeom>
          <a:noFill/>
          <a:ln w="25400" cmpd="sng" cap="flat">
            <a:noFill/>
            <a:prstDash val="solid"/>
            <a:round/>
          </a:ln>
        </p:spPr>
      </p:pic>
      <p:sp>
        <p:nvSpPr>
          <p:cNvPr name="AutoShape 10" id="10"/>
          <p:cNvSpPr/>
          <p:nvPr/>
        </p:nvSpPr>
        <p:spPr>
          <a:xfrm rot="0" flipH="false" flipV="false">
            <a:off x="7620000" y="1524000"/>
            <a:ext cx="2032000" cy="1397000"/>
          </a:xfrm>
          <a:prstGeom prst="roundRect">
            <a:avLst>
              <a:gd name="adj" fmla="val 909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srcRect l="0" r="0" t="5555" b="5555"/>
          <a:stretch>
            <a:fillRect/>
          </a:stretch>
        </p:blipFill>
        <p:spPr>
          <a:xfrm rot="0" flipH="false" flipV="false">
            <a:off x="7874000" y="1714500"/>
            <a:ext cx="1524000" cy="1016000"/>
          </a:xfrm>
          <a:prstGeom prst="rect">
            <a:avLst/>
          </a:prstGeom>
          <a:noFill/>
          <a:ln w="25400" cmpd="sng" cap="flat">
            <a:noFill/>
            <a:prstDash val="solid"/>
            <a:round/>
          </a:ln>
        </p:spPr>
      </p:pic>
      <p:sp>
        <p:nvSpPr>
          <p:cNvPr name="AutoShape 12" id="12"/>
          <p:cNvSpPr/>
          <p:nvPr/>
        </p:nvSpPr>
        <p:spPr>
          <a:xfrm rot="0" flipH="false" flipV="false">
            <a:off x="9652000" y="1524000"/>
            <a:ext cx="2032000" cy="1397000"/>
          </a:xfrm>
          <a:prstGeom prst="roundRect">
            <a:avLst>
              <a:gd name="adj" fmla="val 909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srcRect l="0" r="0" t="16666" b="16666"/>
          <a:stretch>
            <a:fillRect/>
          </a:stretch>
        </p:blipFill>
        <p:spPr>
          <a:xfrm rot="0" flipH="false" flipV="false">
            <a:off x="9906000" y="1714500"/>
            <a:ext cx="1524000" cy="1016000"/>
          </a:xfrm>
          <a:prstGeom prst="rect">
            <a:avLst/>
          </a:prstGeom>
          <a:noFill/>
          <a:ln w="25400" cmpd="sng" cap="flat">
            <a:noFill/>
            <a:prstDash val="solid"/>
            <a:round/>
          </a:ln>
        </p:spPr>
      </p:pic>
      <p:sp>
        <p:nvSpPr>
          <p:cNvPr name="AutoShape 14" id="14"/>
          <p:cNvSpPr/>
          <p:nvPr/>
        </p:nvSpPr>
        <p:spPr>
          <a:xfrm rot="0" flipH="false" flipV="false">
            <a:off x="762000" y="3429000"/>
            <a:ext cx="3302000" cy="2794000"/>
          </a:xfrm>
          <a:prstGeom prst="roundRect">
            <a:avLst>
              <a:gd name="adj" fmla="val 5454"/>
            </a:avLst>
          </a:prstGeom>
          <a:solidFill>
            <a:srgbClr val="2F4F4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3746500"/>
            <a:ext cx="508000" cy="508000"/>
          </a:xfrm>
          <a:prstGeom prst="rect">
            <a:avLst/>
          </a:prstGeom>
        </p:spPr>
      </p:pic>
      <p:sp>
        <p:nvSpPr>
          <p:cNvPr name="AutoShape 16" id="16"/>
          <p:cNvSpPr/>
          <p:nvPr/>
        </p:nvSpPr>
        <p:spPr>
          <a:xfrm rot="0" flipH="false" flipV="false">
            <a:off x="1651000" y="3708400"/>
            <a:ext cx="2159000" cy="584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全链路接入与测试</a:t>
            </a:r>
            <a:endParaRPr lang="en-US" sz="1100"/>
          </a:p>
        </p:txBody>
      </p:sp>
      <p:sp>
        <p:nvSpPr>
          <p:cNvPr name="AutoShape 17" id="17"/>
          <p:cNvSpPr/>
          <p:nvPr/>
        </p:nvSpPr>
        <p:spPr>
          <a:xfrm rot="0" flipH="false" flipV="false">
            <a:off x="1016000" y="46990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FFFFFF">
                    <a:alpha val="90196"/>
                  </a:srgbClr>
                </a:solidFill>
                <a:latin typeface="Noto Sans SC"/>
                <a:ea typeface="Noto Sans SC"/>
                <a:cs typeface="Noto Sans SC"/>
                <a:sym typeface="Noto Sans SC"/>
              </a:rPr>
              <a:t>唯一同时提供三模通信接入和双模模拟测试，实现通信与AI能力的无缝协同，覆盖各类复杂场景需求。</a:t>
            </a:r>
            <a:endParaRPr lang="en-US" sz="1100"/>
          </a:p>
        </p:txBody>
      </p:sp>
      <p:sp>
        <p:nvSpPr>
          <p:cNvPr name="AutoShape 18" id="18"/>
          <p:cNvSpPr/>
          <p:nvPr/>
        </p:nvSpPr>
        <p:spPr>
          <a:xfrm rot="0" flipH="false" flipV="false">
            <a:off x="4445000" y="3429000"/>
            <a:ext cx="3302000" cy="2794000"/>
          </a:xfrm>
          <a:prstGeom prst="roundRect">
            <a:avLst>
              <a:gd name="adj" fmla="val 5454"/>
            </a:avLst>
          </a:prstGeom>
          <a:solidFill>
            <a:srgbClr val="2F4F4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4699000" y="3746500"/>
            <a:ext cx="508000" cy="508000"/>
          </a:xfrm>
          <a:prstGeom prst="rect">
            <a:avLst/>
          </a:prstGeom>
        </p:spPr>
      </p:pic>
      <p:sp>
        <p:nvSpPr>
          <p:cNvPr name="AutoShape 20" id="20"/>
          <p:cNvSpPr/>
          <p:nvPr/>
        </p:nvSpPr>
        <p:spPr>
          <a:xfrm rot="0" flipH="false" flipV="false">
            <a:off x="5334000" y="3708400"/>
            <a:ext cx="2159000" cy="584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深度运营洞察能力</a:t>
            </a:r>
            <a:endParaRPr lang="en-US" sz="1100"/>
          </a:p>
        </p:txBody>
      </p:sp>
      <p:sp>
        <p:nvSpPr>
          <p:cNvPr name="AutoShape 21" id="21"/>
          <p:cNvSpPr/>
          <p:nvPr/>
        </p:nvSpPr>
        <p:spPr>
          <a:xfrm rot="0" flipH="false" flipV="false">
            <a:off x="4699000" y="46990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FFFFFF">
                    <a:alpha val="90196"/>
                  </a:srgbClr>
                </a:solidFill>
                <a:latin typeface="Noto Sans SC"/>
                <a:ea typeface="Noto Sans SC"/>
                <a:cs typeface="Noto Sans SC"/>
                <a:sym typeface="Noto Sans SC"/>
              </a:rPr>
              <a:t>唯一提供节点级运营洞察（热力图+漏斗分析），精准定位对话中的体验卡点，为产品优化提供数据支撑。</a:t>
            </a:r>
            <a:endParaRPr lang="en-US" sz="1100"/>
          </a:p>
        </p:txBody>
      </p:sp>
      <p:sp>
        <p:nvSpPr>
          <p:cNvPr name="AutoShape 22" id="22"/>
          <p:cNvSpPr/>
          <p:nvPr/>
        </p:nvSpPr>
        <p:spPr>
          <a:xfrm rot="0" flipH="false" flipV="false">
            <a:off x="8128000" y="3429000"/>
            <a:ext cx="3302000" cy="2794000"/>
          </a:xfrm>
          <a:prstGeom prst="roundRect">
            <a:avLst>
              <a:gd name="adj" fmla="val 5454"/>
            </a:avLst>
          </a:prstGeom>
          <a:solidFill>
            <a:srgbClr val="2F4F4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8382000" y="3746500"/>
            <a:ext cx="508000" cy="508000"/>
          </a:xfrm>
          <a:prstGeom prst="rect">
            <a:avLst/>
          </a:prstGeom>
        </p:spPr>
      </p:pic>
      <p:sp>
        <p:nvSpPr>
          <p:cNvPr name="AutoShape 24" id="24"/>
          <p:cNvSpPr/>
          <p:nvPr/>
        </p:nvSpPr>
        <p:spPr>
          <a:xfrm rot="0" flipH="false" flipV="false">
            <a:off x="9017000" y="3708400"/>
            <a:ext cx="2159000" cy="584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原生WebRTC支持</a:t>
            </a:r>
            <a:endParaRPr lang="en-US" sz="1100"/>
          </a:p>
        </p:txBody>
      </p:sp>
      <p:sp>
        <p:nvSpPr>
          <p:cNvPr name="AutoShape 25" id="25"/>
          <p:cNvSpPr/>
          <p:nvPr/>
        </p:nvSpPr>
        <p:spPr>
          <a:xfrm rot="0" flipH="false" flipV="false">
            <a:off x="8382000" y="46990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FFFFFF">
                    <a:alpha val="90196"/>
                  </a:srgbClr>
                </a:solidFill>
                <a:latin typeface="Noto Sans SC"/>
                <a:ea typeface="Noto Sans SC"/>
                <a:cs typeface="Noto Sans SC"/>
                <a:sym typeface="Noto Sans SC"/>
              </a:rPr>
              <a:t>唯一原生支持WebRTC浏览器通话，大幅降低开发与接入成本，无需复杂适配即可实现高质量的实时语音交互。</a:t>
            </a:r>
            <a:endParaRPr lang="en-US" sz="1100"/>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混合计费模型：灵活、透明</a:t>
            </a:r>
            <a:endParaRPr lang="en-US" sz="1100"/>
          </a:p>
        </p:txBody>
      </p:sp>
      <p:sp>
        <p:nvSpPr>
          <p:cNvPr name="AutoShape 4" id="4"/>
          <p:cNvSpPr/>
          <p:nvPr/>
        </p:nvSpPr>
        <p:spPr>
          <a:xfrm rot="0" flipH="false" flipV="false">
            <a:off x="762000" y="1651000"/>
            <a:ext cx="3302000" cy="4445000"/>
          </a:xfrm>
          <a:prstGeom prst="roundRect">
            <a:avLst>
              <a:gd name="adj" fmla="val 3076"/>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3302000" cy="8890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854200"/>
            <a:ext cx="406400" cy="406400"/>
          </a:xfrm>
          <a:prstGeom prst="rect">
            <a:avLst/>
          </a:prstGeom>
        </p:spPr>
      </p:pic>
      <p:sp>
        <p:nvSpPr>
          <p:cNvPr name="AutoShape 7" id="7"/>
          <p:cNvSpPr/>
          <p:nvPr/>
        </p:nvSpPr>
        <p:spPr>
          <a:xfrm rot="0" flipH="false" flipV="false">
            <a:off x="1524000" y="1778000"/>
            <a:ext cx="2286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基础套餐</a:t>
            </a:r>
            <a:endParaRPr lang="en-US" sz="1100"/>
          </a:p>
        </p:txBody>
      </p:sp>
      <p:sp>
        <p:nvSpPr>
          <p:cNvPr name="AutoShape 8" id="8"/>
          <p:cNvSpPr/>
          <p:nvPr/>
        </p:nvSpPr>
        <p:spPr>
          <a:xfrm rot="0" flipH="false" flipV="false">
            <a:off x="952500" y="2794000"/>
            <a:ext cx="2921000" cy="2921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3600">
                <a:solidFill>
                  <a:srgbClr val="2F4F4F"/>
                </a:solidFill>
                <a:latin typeface="Noto Sans SC"/>
                <a:ea typeface="Noto Sans SC"/>
                <a:cs typeface="Noto Sans SC"/>
                <a:sym typeface="Noto Sans SC"/>
              </a:rPr>
              <a:t>$29</a:t>
            </a:r>
            <a:r>
              <a:rPr lang="en-US" b="false" i="false" strike="noStrike" u="none" sz="1600">
                <a:solidFill>
                  <a:srgbClr val="6B7280"/>
                </a:solidFill>
                <a:latin typeface="Noto Sans SC"/>
                <a:ea typeface="Noto Sans SC"/>
                <a:cs typeface="Noto Sans SC"/>
                <a:sym typeface="Noto Sans SC"/>
              </a:rPr>
              <a:t>/ 月</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spcBef>
                <a:spcPts val="1600"/>
              </a:spcBef>
            </a:pPr>
            <a:r>
              <a:rPr lang="en-US" b="false" i="false" strike="noStrike" u="none" sz="1400">
                <a:solidFill>
                  <a:srgbClr val="374151"/>
                </a:solidFill>
                <a:latin typeface="Noto Sans SC"/>
                <a:ea typeface="Noto Sans SC"/>
                <a:cs typeface="Noto Sans SC"/>
                <a:sym typeface="Noto Sans SC"/>
              </a:rPr>
              <a:t>包含 100 分钟通话时长</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374151"/>
                </a:solidFill>
                <a:latin typeface="Noto Sans SC"/>
                <a:ea typeface="Noto Sans SC"/>
                <a:cs typeface="Noto Sans SC"/>
                <a:sym typeface="Noto Sans SC"/>
              </a:rPr>
              <a:t>赠送 1 个平台托管号码</a:t>
            </a:r>
            <a:r>
              <a:rPr lang="en-US" b="false" i="false" strike="noStrike" u="none" sz="1600">
                <a:solidFill>
                  <a:srgbClr val="1F2329"/>
                </a:solidFill>
                <a:latin typeface="Noto Sans SC"/>
                <a:ea typeface="Noto Sans SC"/>
                <a:cs typeface="Noto Sans SC"/>
                <a:sym typeface="Noto Sans SC"/>
              </a:rPr>
              <a:t/>
            </a:r>
          </a:p>
          <a:p>
            <a:pPr algn="ctr" indent="0">
              <a:lnSpc>
                <a:spcPct val="116666"/>
              </a:lnSpc>
              <a:spcBef>
                <a:spcPts val="2400"/>
              </a:spcBef>
            </a:pPr>
            <a:r>
              <a:rPr lang="en-US" b="false" i="false" strike="noStrike" u="none" sz="1200">
                <a:solidFill>
                  <a:srgbClr val="6B7280"/>
                </a:solidFill>
                <a:latin typeface="Noto Sans SC"/>
                <a:ea typeface="Noto Sans SC"/>
                <a:cs typeface="Noto Sans SC"/>
                <a:sym typeface="Noto Sans SC"/>
              </a:rPr>
              <a:t>• 超出部分按实际用量计费</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 AI 智能功能模块单独计费</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 无隐形消费，账单清晰透明</a:t>
            </a:r>
          </a:p>
        </p:txBody>
      </p:sp>
      <p:sp>
        <p:nvSpPr>
          <p:cNvPr name="AutoShape 9" id="9"/>
          <p:cNvSpPr/>
          <p:nvPr/>
        </p:nvSpPr>
        <p:spPr>
          <a:xfrm rot="0" flipH="false" flipV="false">
            <a:off x="4445000" y="1651000"/>
            <a:ext cx="3302000" cy="4445000"/>
          </a:xfrm>
          <a:prstGeom prst="roundRect">
            <a:avLst>
              <a:gd name="adj" fmla="val 3076"/>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445000" y="1651000"/>
            <a:ext cx="3302000" cy="8890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1854200"/>
            <a:ext cx="406400" cy="406400"/>
          </a:xfrm>
          <a:prstGeom prst="rect">
            <a:avLst/>
          </a:prstGeom>
        </p:spPr>
      </p:pic>
      <p:sp>
        <p:nvSpPr>
          <p:cNvPr name="AutoShape 12" id="12"/>
          <p:cNvSpPr/>
          <p:nvPr/>
        </p:nvSpPr>
        <p:spPr>
          <a:xfrm rot="0" flipH="false" flipV="false">
            <a:off x="5207000" y="1778000"/>
            <a:ext cx="2286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阶梯套餐体系</a:t>
            </a:r>
            <a:endParaRPr lang="en-US" sz="1100"/>
          </a:p>
        </p:txBody>
      </p:sp>
      <p:sp>
        <p:nvSpPr>
          <p:cNvPr name="AutoShape 13" id="13"/>
          <p:cNvSpPr/>
          <p:nvPr/>
        </p:nvSpPr>
        <p:spPr>
          <a:xfrm rot="0" flipH="false" flipV="false">
            <a:off x="4635500" y="2794000"/>
            <a:ext cx="2921000" cy="2921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600">
                <a:solidFill>
                  <a:srgbClr val="2F4F4F"/>
                </a:solidFill>
                <a:latin typeface="Noto Sans SC"/>
                <a:ea typeface="Noto Sans SC"/>
                <a:cs typeface="Noto Sans SC"/>
                <a:sym typeface="Noto Sans SC"/>
              </a:rPr>
              <a:t>🏁 Starter 起步版</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4B5563"/>
                </a:solidFill>
                <a:latin typeface="Noto Sans SC"/>
                <a:ea typeface="Noto Sans SC"/>
                <a:cs typeface="Noto Sans SC"/>
                <a:sym typeface="Noto Sans SC"/>
              </a:rPr>
              <a:t>$49 / 月 | 包含 200 分钟通话时长，满足小型团队初期需求</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600"/>
              </a:spcBef>
            </a:pPr>
            <a:r>
              <a:rPr lang="en-US" b="true" i="false" strike="noStrike" u="none" sz="1600">
                <a:solidFill>
                  <a:srgbClr val="2F4F4F"/>
                </a:solidFill>
                <a:latin typeface="Noto Sans SC"/>
                <a:ea typeface="Noto Sans SC"/>
                <a:cs typeface="Noto Sans SC"/>
                <a:sym typeface="Noto Sans SC"/>
              </a:rPr>
              <a:t>🚀 Pro 专业版</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4B5563"/>
                </a:solidFill>
                <a:latin typeface="Noto Sans SC"/>
                <a:ea typeface="Noto Sans SC"/>
                <a:cs typeface="Noto Sans SC"/>
                <a:sym typeface="Noto Sans SC"/>
              </a:rPr>
              <a:t>$149 / 月 | 包含 1000 分钟通话时长，覆盖标准业务场景</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600"/>
              </a:spcBef>
            </a:pPr>
            <a:r>
              <a:rPr lang="en-US" b="true" i="false" strike="noStrike" u="none" sz="1600">
                <a:solidFill>
                  <a:srgbClr val="2F4F4F"/>
                </a:solidFill>
                <a:latin typeface="Noto Sans SC"/>
                <a:ea typeface="Noto Sans SC"/>
                <a:cs typeface="Noto Sans SC"/>
                <a:sym typeface="Noto Sans SC"/>
              </a:rPr>
              <a:t>🏢 Enterprise 企业版</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4B5563"/>
                </a:solidFill>
                <a:latin typeface="Noto Sans SC"/>
                <a:ea typeface="Noto Sans SC"/>
                <a:cs typeface="Noto Sans SC"/>
                <a:sym typeface="Noto Sans SC"/>
              </a:rPr>
              <a:t>定制化方案 | 支持无限并发与专属客服，满足大型企业需求</a:t>
            </a:r>
          </a:p>
        </p:txBody>
      </p:sp>
      <p:sp>
        <p:nvSpPr>
          <p:cNvPr name="AutoShape 14" id="14"/>
          <p:cNvSpPr/>
          <p:nvPr/>
        </p:nvSpPr>
        <p:spPr>
          <a:xfrm rot="0" flipH="false" flipV="false">
            <a:off x="8128000" y="1651000"/>
            <a:ext cx="3302000" cy="4445000"/>
          </a:xfrm>
          <a:prstGeom prst="roundRect">
            <a:avLst>
              <a:gd name="adj" fmla="val 3076"/>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128000" y="1651000"/>
            <a:ext cx="3302000" cy="8890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1854200"/>
            <a:ext cx="406400" cy="406400"/>
          </a:xfrm>
          <a:prstGeom prst="rect">
            <a:avLst/>
          </a:prstGeom>
        </p:spPr>
      </p:pic>
      <p:sp>
        <p:nvSpPr>
          <p:cNvPr name="AutoShape 17" id="17"/>
          <p:cNvSpPr/>
          <p:nvPr/>
        </p:nvSpPr>
        <p:spPr>
          <a:xfrm rot="0" flipH="false" flipV="false">
            <a:off x="8890000" y="1778000"/>
            <a:ext cx="2286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预期收入构成</a:t>
            </a:r>
            <a:endParaRPr lang="en-US" sz="1100"/>
          </a:p>
        </p:txBody>
      </p:sp>
      <p:sp>
        <p:nvSpPr>
          <p:cNvPr name="AutoShape 18" id="18"/>
          <p:cNvSpPr/>
          <p:nvPr/>
        </p:nvSpPr>
        <p:spPr>
          <a:xfrm rot="0" flipH="false" flipV="false">
            <a:off x="8318500" y="2794000"/>
            <a:ext cx="2921000" cy="292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400">
                <a:solidFill>
                  <a:srgbClr val="2F4F4F"/>
                </a:solidFill>
                <a:latin typeface="Noto Sans SC"/>
                <a:ea typeface="Noto Sans SC"/>
                <a:cs typeface="Noto Sans SC"/>
                <a:sym typeface="Noto Sans SC"/>
              </a:rPr>
              <a:t>60%</a:t>
            </a:r>
            <a:r>
              <a:rPr lang="en-US" b="true" i="false" strike="noStrike" u="none" sz="1400">
                <a:solidFill>
                  <a:srgbClr val="374151"/>
                </a:solidFill>
                <a:latin typeface="Noto Sans SC"/>
                <a:ea typeface="Noto Sans SC"/>
                <a:cs typeface="Noto Sans SC"/>
                <a:sym typeface="Noto Sans SC"/>
              </a:rPr>
              <a:t>套餐订阅费</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稳定的核心现金流来源，保障业务可持续性</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spcBef>
                <a:spcPts val="2000"/>
              </a:spcBef>
            </a:pPr>
            <a:r>
              <a:rPr lang="en-US" b="true" i="false" strike="noStrike" u="none" sz="2400">
                <a:solidFill>
                  <a:srgbClr val="F59E0B"/>
                </a:solidFill>
                <a:latin typeface="Noto Sans SC"/>
                <a:ea typeface="Noto Sans SC"/>
                <a:cs typeface="Noto Sans SC"/>
                <a:sym typeface="Noto Sans SC"/>
              </a:rPr>
              <a:t>25%</a:t>
            </a:r>
            <a:r>
              <a:rPr lang="en-US" b="true" i="false" strike="noStrike" u="none" sz="1400">
                <a:solidFill>
                  <a:srgbClr val="374151"/>
                </a:solidFill>
                <a:latin typeface="Noto Sans SC"/>
                <a:ea typeface="Noto Sans SC"/>
                <a:cs typeface="Noto Sans SC"/>
                <a:sym typeface="Noto Sans SC"/>
              </a:rPr>
              <a:t>超额通话费</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随用户业务增长同步增长，具有高扩展性</a:t>
            </a:r>
            <a:r>
              <a:rPr lang="en-US" b="false" i="false" strike="noStrike" u="none" sz="1600">
                <a:solidFill>
                  <a:srgbClr val="1F2329"/>
                </a:solidFill>
                <a:latin typeface="Noto Sans SC"/>
                <a:ea typeface="Noto Sans SC"/>
                <a:cs typeface="Noto Sans SC"/>
                <a:sym typeface="Noto Sans SC"/>
              </a:rPr>
              <a:t/>
            </a:r>
          </a:p>
          <a:p>
            <a:pPr algn="l" indent="0">
              <a:lnSpc>
                <a:spcPct val="100000"/>
              </a:lnSpc>
              <a:spcBef>
                <a:spcPts val="2000"/>
              </a:spcBef>
            </a:pPr>
            <a:r>
              <a:rPr lang="en-US" b="true" i="false" strike="noStrike" u="none" sz="2400">
                <a:solidFill>
                  <a:srgbClr val="10B981"/>
                </a:solidFill>
                <a:latin typeface="Noto Sans SC"/>
                <a:ea typeface="Noto Sans SC"/>
                <a:cs typeface="Noto Sans SC"/>
                <a:sym typeface="Noto Sans SC"/>
              </a:rPr>
              <a:t>15%</a:t>
            </a:r>
            <a:r>
              <a:rPr lang="en-US" b="true" i="false" strike="noStrike" u="none" sz="1400">
                <a:solidFill>
                  <a:srgbClr val="374151"/>
                </a:solidFill>
                <a:latin typeface="Noto Sans SC"/>
                <a:ea typeface="Noto Sans SC"/>
                <a:cs typeface="Noto Sans SC"/>
                <a:sym typeface="Noto Sans SC"/>
              </a:rPr>
              <a:t>AI 增值服务费</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高附加值业务收入，随着AI应用普及快速提升</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核心收获</a:t>
            </a:r>
            <a:endParaRPr lang="en-US" sz="1100"/>
          </a:p>
        </p:txBody>
      </p:sp>
      <p:sp>
        <p:nvSpPr>
          <p:cNvPr name="AutoShape 4" id="4"/>
          <p:cNvSpPr/>
          <p:nvPr/>
        </p:nvSpPr>
        <p:spPr>
          <a:xfrm rot="0" flipH="false" flipV="false">
            <a:off x="762000" y="1651000"/>
            <a:ext cx="3302000" cy="2222500"/>
          </a:xfrm>
          <a:prstGeom prst="roundRect">
            <a:avLst>
              <a:gd name="adj" fmla="val 6857"/>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05000"/>
            <a:ext cx="457200" cy="457200"/>
          </a:xfrm>
          <a:prstGeom prst="rect">
            <a:avLst/>
          </a:prstGeom>
        </p:spPr>
      </p:pic>
      <p:sp>
        <p:nvSpPr>
          <p:cNvPr name="AutoShape 6" id="6"/>
          <p:cNvSpPr/>
          <p:nvPr/>
        </p:nvSpPr>
        <p:spPr>
          <a:xfrm rot="0" flipH="false" flipV="false">
            <a:off x="1651000" y="1905000"/>
            <a:ext cx="2159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Noto Sans SC"/>
                <a:ea typeface="Noto Sans SC"/>
                <a:cs typeface="Noto Sans SC"/>
                <a:sym typeface="Noto Sans SC"/>
              </a:rPr>
              <a:t>AI不是越多越好</a:t>
            </a:r>
            <a:endParaRPr lang="en-US" sz="1100"/>
          </a:p>
        </p:txBody>
      </p:sp>
      <p:sp>
        <p:nvSpPr>
          <p:cNvPr name="AutoShape 7" id="7"/>
          <p:cNvSpPr/>
          <p:nvPr/>
        </p:nvSpPr>
        <p:spPr>
          <a:xfrm rot="0" flipH="false" flipV="false">
            <a:off x="1016000" y="2667000"/>
            <a:ext cx="2794000" cy="1016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三个质变点就够了，“规则优先，AI增强”是现阶段最务实、最具性价比的策略。</a:t>
            </a:r>
            <a:endParaRPr lang="en-US" sz="1100"/>
          </a:p>
        </p:txBody>
      </p:sp>
      <p:sp>
        <p:nvSpPr>
          <p:cNvPr name="AutoShape 8" id="8"/>
          <p:cNvSpPr/>
          <p:nvPr/>
        </p:nvSpPr>
        <p:spPr>
          <a:xfrm rot="0" flipH="false" flipV="false">
            <a:off x="4445000" y="1651000"/>
            <a:ext cx="3302000" cy="2222500"/>
          </a:xfrm>
          <a:prstGeom prst="roundRect">
            <a:avLst>
              <a:gd name="adj" fmla="val 6857"/>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1905000"/>
            <a:ext cx="457200" cy="457200"/>
          </a:xfrm>
          <a:prstGeom prst="rect">
            <a:avLst/>
          </a:prstGeom>
        </p:spPr>
      </p:pic>
      <p:sp>
        <p:nvSpPr>
          <p:cNvPr name="AutoShape 10" id="10"/>
          <p:cNvSpPr/>
          <p:nvPr/>
        </p:nvSpPr>
        <p:spPr>
          <a:xfrm rot="0" flipH="false" flipV="false">
            <a:off x="5334000" y="1905000"/>
            <a:ext cx="2159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Noto Sans SC"/>
                <a:ea typeface="Noto Sans SC"/>
                <a:cs typeface="Noto Sans SC"/>
                <a:sym typeface="Noto Sans SC"/>
              </a:rPr>
              <a:t>文字模拟是杀手功能</a:t>
            </a:r>
            <a:endParaRPr lang="en-US" sz="1100"/>
          </a:p>
        </p:txBody>
      </p:sp>
      <p:sp>
        <p:nvSpPr>
          <p:cNvPr name="AutoShape 11" id="11"/>
          <p:cNvSpPr/>
          <p:nvPr/>
        </p:nvSpPr>
        <p:spPr>
          <a:xfrm rot="0" flipH="false" flipV="false">
            <a:off x="4699000" y="2667000"/>
            <a:ext cx="2794000" cy="1016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秒级迭代能力是解决“10分钟可用”这一核心命题的关键。</a:t>
            </a:r>
            <a:endParaRPr lang="en-US" sz="1100"/>
          </a:p>
        </p:txBody>
      </p:sp>
      <p:sp>
        <p:nvSpPr>
          <p:cNvPr name="AutoShape 12" id="12"/>
          <p:cNvSpPr/>
          <p:nvPr/>
        </p:nvSpPr>
        <p:spPr>
          <a:xfrm rot="0" flipH="false" flipV="false">
            <a:off x="8128000" y="1651000"/>
            <a:ext cx="3302000" cy="2222500"/>
          </a:xfrm>
          <a:prstGeom prst="roundRect">
            <a:avLst>
              <a:gd name="adj" fmla="val 6857"/>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1905000"/>
            <a:ext cx="457200" cy="457200"/>
          </a:xfrm>
          <a:prstGeom prst="rect">
            <a:avLst/>
          </a:prstGeom>
        </p:spPr>
      </p:pic>
      <p:sp>
        <p:nvSpPr>
          <p:cNvPr name="AutoShape 14" id="14"/>
          <p:cNvSpPr/>
          <p:nvPr/>
        </p:nvSpPr>
        <p:spPr>
          <a:xfrm rot="0" flipH="false" flipV="false">
            <a:off x="9017000" y="1905000"/>
            <a:ext cx="2159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Noto Sans SC"/>
                <a:ea typeface="Noto Sans SC"/>
                <a:cs typeface="Noto Sans SC"/>
                <a:sym typeface="Noto Sans SC"/>
              </a:rPr>
              <a:t>节点级洞察价值巨大</a:t>
            </a:r>
            <a:endParaRPr lang="en-US" sz="1100"/>
          </a:p>
        </p:txBody>
      </p:sp>
      <p:sp>
        <p:nvSpPr>
          <p:cNvPr name="AutoShape 15" id="15"/>
          <p:cNvSpPr/>
          <p:nvPr/>
        </p:nvSpPr>
        <p:spPr>
          <a:xfrm rot="0" flipH="false" flipV="false">
            <a:off x="8382000" y="2667000"/>
            <a:ext cx="2794000" cy="1016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运营数据比AI本身更有商业价值，是实现从工具到平台升级的关键。</a:t>
            </a:r>
            <a:endParaRPr lang="en-US" sz="1100"/>
          </a:p>
        </p:txBody>
      </p:sp>
      <p:sp>
        <p:nvSpPr>
          <p:cNvPr name="AutoShape 16" id="16"/>
          <p:cNvSpPr/>
          <p:nvPr/>
        </p:nvSpPr>
        <p:spPr>
          <a:xfrm rot="0" flipH="false" flipV="false">
            <a:off x="1778000" y="4191000"/>
            <a:ext cx="4191000" cy="2159000"/>
          </a:xfrm>
          <a:prstGeom prst="roundRect">
            <a:avLst>
              <a:gd name="adj" fmla="val 7058"/>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2032000" y="4445000"/>
            <a:ext cx="457200" cy="457200"/>
          </a:xfrm>
          <a:prstGeom prst="rect">
            <a:avLst/>
          </a:prstGeom>
        </p:spPr>
      </p:pic>
      <p:sp>
        <p:nvSpPr>
          <p:cNvPr name="AutoShape 18" id="18"/>
          <p:cNvSpPr/>
          <p:nvPr/>
        </p:nvSpPr>
        <p:spPr>
          <a:xfrm rot="0" flipH="false" flipV="false">
            <a:off x="2667000" y="4445000"/>
            <a:ext cx="3048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Noto Sans SC"/>
                <a:ea typeface="Noto Sans SC"/>
                <a:cs typeface="Noto Sans SC"/>
                <a:sym typeface="Noto Sans SC"/>
              </a:rPr>
              <a:t>WebRTC开辟新市场</a:t>
            </a:r>
            <a:endParaRPr lang="en-US" sz="1100"/>
          </a:p>
        </p:txBody>
      </p:sp>
      <p:sp>
        <p:nvSpPr>
          <p:cNvPr name="AutoShape 19" id="19"/>
          <p:cNvSpPr/>
          <p:nvPr/>
        </p:nvSpPr>
        <p:spPr>
          <a:xfrm rot="0" flipH="false" flipV="false">
            <a:off x="2032000" y="5207000"/>
            <a:ext cx="3683000" cy="1016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“无电话号码”的浏览器通话模式，为在线业务开辟了全新的沟通渠道。</a:t>
            </a:r>
            <a:endParaRPr lang="en-US" sz="1100"/>
          </a:p>
        </p:txBody>
      </p:sp>
      <p:sp>
        <p:nvSpPr>
          <p:cNvPr name="AutoShape 20" id="20"/>
          <p:cNvSpPr/>
          <p:nvPr/>
        </p:nvSpPr>
        <p:spPr>
          <a:xfrm rot="0" flipH="false" flipV="false">
            <a:off x="6223000" y="4191000"/>
            <a:ext cx="4191000" cy="2159000"/>
          </a:xfrm>
          <a:prstGeom prst="roundRect">
            <a:avLst>
              <a:gd name="adj" fmla="val 7058"/>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477000" y="4445000"/>
            <a:ext cx="457200" cy="457200"/>
          </a:xfrm>
          <a:prstGeom prst="rect">
            <a:avLst/>
          </a:prstGeom>
        </p:spPr>
      </p:pic>
      <p:sp>
        <p:nvSpPr>
          <p:cNvPr name="AutoShape 22" id="22"/>
          <p:cNvSpPr/>
          <p:nvPr/>
        </p:nvSpPr>
        <p:spPr>
          <a:xfrm rot="0" flipH="false" flipV="false">
            <a:off x="7112000" y="4445000"/>
            <a:ext cx="3048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Noto Sans SC"/>
                <a:ea typeface="Noto Sans SC"/>
                <a:cs typeface="Noto Sans SC"/>
                <a:sym typeface="Noto Sans SC"/>
              </a:rPr>
              <a:t>版本管理是业务保障</a:t>
            </a:r>
            <a:endParaRPr lang="en-US" sz="1100"/>
          </a:p>
        </p:txBody>
      </p:sp>
      <p:sp>
        <p:nvSpPr>
          <p:cNvPr name="AutoShape 23" id="23"/>
          <p:cNvSpPr/>
          <p:nvPr/>
        </p:nvSpPr>
        <p:spPr>
          <a:xfrm rot="0" flipH="false" flipV="false">
            <a:off x="6477000" y="5207000"/>
            <a:ext cx="3683000" cy="1016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它不是一个工程功能，而是消除用户迭代恐惧、保障业务连续性的核心机制。</a:t>
            </a:r>
            <a:endParaRPr lang="en-US" sz="1100"/>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Noto Sans SC"/>
                <a:ea typeface="Noto Sans SC"/>
                <a:cs typeface="Noto Sans SC"/>
                <a:sym typeface="Noto Sans SC"/>
              </a:rPr>
              <a:t>下一步行动</a:t>
            </a:r>
            <a:endParaRPr lang="en-US" sz="1100"/>
          </a:p>
        </p:txBody>
      </p:sp>
      <p:sp>
        <p:nvSpPr>
          <p:cNvPr name="AutoShape 4" id="4"/>
          <p:cNvSpPr/>
          <p:nvPr/>
        </p:nvSpPr>
        <p:spPr>
          <a:xfrm rot="0" flipH="false" flipV="false">
            <a:off x="762000" y="1778000"/>
            <a:ext cx="5207000" cy="2159000"/>
          </a:xfrm>
          <a:prstGeom prst="roundRect">
            <a:avLst>
              <a:gd name="adj" fmla="val 7058"/>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2222500"/>
            <a:ext cx="1270000" cy="1270000"/>
          </a:xfrm>
          <a:prstGeom prst="ellipse">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333500" y="2540000"/>
            <a:ext cx="635000" cy="635000"/>
          </a:xfrm>
          <a:prstGeom prst="rect">
            <a:avLst/>
          </a:prstGeom>
        </p:spPr>
      </p:pic>
      <p:sp>
        <p:nvSpPr>
          <p:cNvPr name="AutoShape 7" id="7"/>
          <p:cNvSpPr/>
          <p:nvPr/>
        </p:nvSpPr>
        <p:spPr>
          <a:xfrm rot="0" flipH="false" flipV="false">
            <a:off x="2476500" y="2095500"/>
            <a:ext cx="32385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2F4F4F"/>
                </a:solidFill>
                <a:latin typeface="Noto Sans SC"/>
                <a:ea typeface="Noto Sans SC"/>
                <a:cs typeface="Noto Sans SC"/>
                <a:sym typeface="Noto Sans SC"/>
              </a:rPr>
              <a:t>01. MVP开发启动</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false" i="false" strike="noStrike" u="none" sz="1300">
                <a:solidFill>
                  <a:srgbClr val="555555"/>
                </a:solidFill>
                <a:latin typeface="Noto Sans SC"/>
                <a:ea typeface="Noto Sans SC"/>
                <a:cs typeface="Noto Sans SC"/>
                <a:sym typeface="Noto Sans SC"/>
              </a:rPr>
              <a:t>立即启动核心层、逻辑层、画布、平台托管号码和文字模拟功能的开发，夯实产品基础。</a:t>
            </a:r>
          </a:p>
        </p:txBody>
      </p:sp>
      <p:sp>
        <p:nvSpPr>
          <p:cNvPr name="AutoShape 8" id="8"/>
          <p:cNvSpPr/>
          <p:nvPr/>
        </p:nvSpPr>
        <p:spPr>
          <a:xfrm rot="0" flipH="false" flipV="false">
            <a:off x="6223000" y="1778000"/>
            <a:ext cx="5207000" cy="2159000"/>
          </a:xfrm>
          <a:prstGeom prst="roundRect">
            <a:avLst>
              <a:gd name="adj" fmla="val 7058"/>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6477000" y="2222500"/>
            <a:ext cx="1270000" cy="1270000"/>
          </a:xfrm>
          <a:prstGeom prst="ellipse">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794500" y="2540000"/>
            <a:ext cx="635000" cy="635000"/>
          </a:xfrm>
          <a:prstGeom prst="rect">
            <a:avLst/>
          </a:prstGeom>
        </p:spPr>
      </p:pic>
      <p:sp>
        <p:nvSpPr>
          <p:cNvPr name="AutoShape 11" id="11"/>
          <p:cNvSpPr/>
          <p:nvPr/>
        </p:nvSpPr>
        <p:spPr>
          <a:xfrm rot="0" flipH="false" flipV="false">
            <a:off x="7937500" y="2095500"/>
            <a:ext cx="32385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2F4F4F"/>
                </a:solidFill>
                <a:latin typeface="Noto Sans SC"/>
                <a:ea typeface="Noto Sans SC"/>
                <a:cs typeface="Noto Sans SC"/>
                <a:sym typeface="Noto Sans SC"/>
              </a:rPr>
              <a:t>02. 种子用户招募</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false" i="false" strike="noStrike" u="none" sz="1300">
                <a:solidFill>
                  <a:srgbClr val="555555"/>
                </a:solidFill>
                <a:latin typeface="Noto Sans SC"/>
                <a:ea typeface="Noto Sans SC"/>
                <a:cs typeface="Noto Sans SC"/>
                <a:sym typeface="Noto Sans SC"/>
              </a:rPr>
              <a:t>定向招募50家中小企业参与内测，深度收集用户在真实业务场景中的反馈，快速迭代产品。</a:t>
            </a:r>
          </a:p>
        </p:txBody>
      </p:sp>
      <p:sp>
        <p:nvSpPr>
          <p:cNvPr name="AutoShape 12" id="12"/>
          <p:cNvSpPr/>
          <p:nvPr/>
        </p:nvSpPr>
        <p:spPr>
          <a:xfrm rot="0" flipH="false" flipV="false">
            <a:off x="762000" y="4191000"/>
            <a:ext cx="5207000" cy="2159000"/>
          </a:xfrm>
          <a:prstGeom prst="roundRect">
            <a:avLst>
              <a:gd name="adj" fmla="val 7058"/>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1016000" y="4635500"/>
            <a:ext cx="1270000" cy="1270000"/>
          </a:xfrm>
          <a:prstGeom prst="ellipse">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333500" y="4953000"/>
            <a:ext cx="635000" cy="635000"/>
          </a:xfrm>
          <a:prstGeom prst="rect">
            <a:avLst/>
          </a:prstGeom>
        </p:spPr>
      </p:pic>
      <p:sp>
        <p:nvSpPr>
          <p:cNvPr name="AutoShape 15" id="15"/>
          <p:cNvSpPr/>
          <p:nvPr/>
        </p:nvSpPr>
        <p:spPr>
          <a:xfrm rot="0" flipH="false" flipV="false">
            <a:off x="2476500" y="4508500"/>
            <a:ext cx="32385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2F4F4F"/>
                </a:solidFill>
                <a:latin typeface="Noto Sans SC"/>
                <a:ea typeface="Noto Sans SC"/>
                <a:cs typeface="Noto Sans SC"/>
                <a:sym typeface="Noto Sans SC"/>
              </a:rPr>
              <a:t>03. AI节点V1.0验证</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false" i="false" strike="noStrike" u="none" sz="1300">
                <a:solidFill>
                  <a:srgbClr val="555555"/>
                </a:solidFill>
                <a:latin typeface="Noto Sans SC"/>
                <a:ea typeface="Noto Sans SC"/>
                <a:cs typeface="Noto Sans SC"/>
                <a:sym typeface="Noto Sans SC"/>
              </a:rPr>
              <a:t>重点验证“意图检测”、“知识库问答”及“通话摘要”三大AI核心节点的准确率、响应速度及综合成本。</a:t>
            </a:r>
          </a:p>
        </p:txBody>
      </p:sp>
      <p:sp>
        <p:nvSpPr>
          <p:cNvPr name="AutoShape 16" id="16"/>
          <p:cNvSpPr/>
          <p:nvPr/>
        </p:nvSpPr>
        <p:spPr>
          <a:xfrm rot="0" flipH="false" flipV="false">
            <a:off x="6223000" y="4191000"/>
            <a:ext cx="5207000" cy="2159000"/>
          </a:xfrm>
          <a:prstGeom prst="roundRect">
            <a:avLst>
              <a:gd name="adj" fmla="val 7058"/>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477000" y="4635500"/>
            <a:ext cx="1270000" cy="1270000"/>
          </a:xfrm>
          <a:prstGeom prst="ellipse">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794500" y="4953000"/>
            <a:ext cx="635000" cy="635000"/>
          </a:xfrm>
          <a:prstGeom prst="rect">
            <a:avLst/>
          </a:prstGeom>
        </p:spPr>
      </p:pic>
      <p:sp>
        <p:nvSpPr>
          <p:cNvPr name="AutoShape 19" id="19"/>
          <p:cNvSpPr/>
          <p:nvPr/>
        </p:nvSpPr>
        <p:spPr>
          <a:xfrm rot="0" flipH="false" flipV="false">
            <a:off x="7937500" y="4508500"/>
            <a:ext cx="32385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2F4F4F"/>
                </a:solidFill>
                <a:latin typeface="Noto Sans SC"/>
                <a:ea typeface="Noto Sans SC"/>
                <a:cs typeface="Noto Sans SC"/>
                <a:sym typeface="Noto Sans SC"/>
              </a:rPr>
              <a:t>04. 通信接入扩展</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false" i="false" strike="noStrike" u="none" sz="1300">
                <a:solidFill>
                  <a:srgbClr val="555555"/>
                </a:solidFill>
                <a:latin typeface="Noto Sans SC"/>
                <a:ea typeface="Noto Sans SC"/>
                <a:cs typeface="Noto Sans SC"/>
                <a:sym typeface="Noto Sans SC"/>
              </a:rPr>
              <a:t>完成自带号码(SIP)的直连接入开发，实现高保真的真实通话模拟，满足不同客户的接入需求。</a:t>
            </a:r>
          </a:p>
        </p:txBody>
      </p:sp>
    </p:spTree>
  </p:cSld>
  <p:clrMapOvr>
    <a:masterClrMapping/>
  </p:clrMapOvr>
</p:sld>
</file>

<file path=ppt/slides/slide30.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2286000"/>
            <a:ext cx="10160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6000">
                <a:solidFill>
                  <a:srgbClr val="FFFFFF"/>
                </a:solidFill>
                <a:latin typeface="Noto Sans SC"/>
                <a:ea typeface="Noto Sans SC"/>
                <a:cs typeface="Noto Sans SC"/>
                <a:sym typeface="Noto Sans SC"/>
              </a:rPr>
              <a:t>谢谢观看</a:t>
            </a:r>
            <a:endParaRPr lang="en-US" sz="1100"/>
          </a:p>
        </p:txBody>
      </p:sp>
      <p:sp>
        <p:nvSpPr>
          <p:cNvPr name="AutoShape 4" id="4"/>
          <p:cNvSpPr/>
          <p:nvPr/>
        </p:nvSpPr>
        <p:spPr>
          <a:xfrm rot="0" flipH="false" flipV="false">
            <a:off x="1016000" y="3683000"/>
            <a:ext cx="1016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spc="200">
                <a:solidFill>
                  <a:srgbClr val="FFFFFF">
                    <a:alpha val="74902"/>
                  </a:srgbClr>
                </a:solidFill>
                <a:latin typeface="Noto Sans SC"/>
                <a:ea typeface="Noto Sans SC"/>
                <a:cs typeface="Noto Sans SC"/>
                <a:sym typeface="Noto Sans SC"/>
              </a:rPr>
              <a:t>THANKS FOR WATCHING</a:t>
            </a:r>
            <a:endParaRPr lang="en-US" sz="1100"/>
          </a:p>
        </p:txBody>
      </p:sp>
      <p:sp>
        <p:nvSpPr>
          <p:cNvPr name="AutoShape 5" id="5"/>
          <p:cNvSpPr/>
          <p:nvPr/>
        </p:nvSpPr>
        <p:spPr>
          <a:xfrm rot="0" flipH="false" flipV="false">
            <a:off x="1016000" y="5080000"/>
            <a:ext cx="1016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000">
                <a:solidFill>
                  <a:srgbClr val="FFFFFF">
                    <a:alpha val="60000"/>
                  </a:srgbClr>
                </a:solidFill>
                <a:latin typeface="Noto Sans SC"/>
                <a:ea typeface="Noto Sans SC"/>
                <a:cs typeface="Noto Sans SC"/>
                <a:sym typeface="Noto Sans SC"/>
              </a:rPr>
              <a:t>语流 VoiceFlow Builder · 重新定义中小企业的语音交互方式</a:t>
            </a:r>
            <a:endParaRPr lang="en-US" sz="1100"/>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1905000"/>
            <a:ext cx="10160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5200">
                <a:solidFill>
                  <a:srgbClr val="FFFFFF"/>
                </a:solidFill>
                <a:latin typeface="Poppins"/>
                <a:ea typeface="Poppins"/>
                <a:cs typeface="Poppins"/>
                <a:sym typeface="Poppins"/>
              </a:rPr>
              <a:t>VoiceFlow Builder</a:t>
            </a:r>
            <a:endParaRPr lang="en-US" sz="1100"/>
          </a:p>
        </p:txBody>
      </p:sp>
      <p:sp>
        <p:nvSpPr>
          <p:cNvPr name="AutoShape 4" id="4"/>
          <p:cNvSpPr/>
          <p:nvPr/>
        </p:nvSpPr>
        <p:spPr>
          <a:xfrm rot="0" flipH="false" flipV="false">
            <a:off x="1016000" y="3302000"/>
            <a:ext cx="10160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FFFF">
                    <a:alpha val="94902"/>
                  </a:srgbClr>
                </a:solidFill>
                <a:latin typeface="Poppins"/>
                <a:ea typeface="Poppins"/>
                <a:cs typeface="Poppins"/>
                <a:sym typeface="Poppins"/>
              </a:rPr>
              <a:t>Build a Professional Voice Receptionist in 10 Minutes</a:t>
            </a:r>
            <a:endParaRPr lang="en-US" sz="1100"/>
          </a:p>
        </p:txBody>
      </p:sp>
      <p:sp>
        <p:nvSpPr>
          <p:cNvPr name="AutoShape 5" id="5"/>
          <p:cNvSpPr/>
          <p:nvPr/>
        </p:nvSpPr>
        <p:spPr>
          <a:xfrm rot="0" flipH="false" flipV="false">
            <a:off x="1016000" y="4699000"/>
            <a:ext cx="889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200">
                <a:solidFill>
                  <a:srgbClr val="FFFFFF">
                    <a:alpha val="85098"/>
                  </a:srgbClr>
                </a:solidFill>
                <a:latin typeface="Poppins"/>
                <a:ea typeface="Poppins"/>
                <a:cs typeface="Poppins"/>
                <a:sym typeface="Poppins"/>
              </a:rPr>
              <a:t>Visual Workflow Builder for SMBs</a:t>
            </a:r>
            <a:endParaRPr lang="en-US" sz="1100"/>
          </a:p>
        </p:txBody>
      </p:sp>
      <p:sp>
        <p:nvSpPr>
          <p:cNvPr name="AutoShape 6" id="6"/>
          <p:cNvSpPr/>
          <p:nvPr/>
        </p:nvSpPr>
        <p:spPr>
          <a:xfrm rot="0" flipH="false" flipV="false">
            <a:off x="1016000" y="5588000"/>
            <a:ext cx="889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alpha val="70196"/>
                  </a:srgbClr>
                </a:solidFill>
                <a:latin typeface="Poppins"/>
                <a:ea typeface="Poppins"/>
                <a:cs typeface="Poppins"/>
                <a:sym typeface="Poppins"/>
              </a:rPr>
              <a:t>Empowering every business with a 7x24 intelligent voice receptionist.</a:t>
            </a:r>
            <a:endParaRPr lang="en-US" sz="1100"/>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The Voice Reception Dilemma for SMBs</a:t>
            </a:r>
            <a:endParaRPr lang="en-US" sz="1100"/>
          </a:p>
        </p:txBody>
      </p:sp>
      <p:sp>
        <p:nvSpPr>
          <p:cNvPr name="AutoShape 4" id="4"/>
          <p:cNvSpPr/>
          <p:nvPr/>
        </p:nvSpPr>
        <p:spPr>
          <a:xfrm rot="0" flipH="false" flipV="false">
            <a:off x="762000" y="1524000"/>
            <a:ext cx="3429000" cy="2413000"/>
          </a:xfrm>
          <a:prstGeom prst="roundRect">
            <a:avLst>
              <a:gd name="adj" fmla="val 63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0" r="0" t="22983" b="22983"/>
          <a:stretch>
            <a:fillRect/>
          </a:stretch>
        </p:blipFill>
        <p:spPr>
          <a:xfrm rot="0" flipH="false" flipV="false">
            <a:off x="889000" y="1651000"/>
            <a:ext cx="3175000" cy="1143000"/>
          </a:xfrm>
          <a:prstGeom prst="roundRect">
            <a:avLst>
              <a:gd name="adj" fmla="val 8888"/>
            </a:avLst>
          </a:prstGeom>
          <a:noFill/>
          <a:ln w="25400" cmpd="sng" cap="flat">
            <a:noFill/>
            <a:prstDash val="solid"/>
            <a:round/>
          </a:ln>
        </p:spPr>
      </p:pic>
      <p:sp>
        <p:nvSpPr>
          <p:cNvPr name="AutoShape 6" id="6"/>
          <p:cNvSpPr/>
          <p:nvPr/>
        </p:nvSpPr>
        <p:spPr>
          <a:xfrm rot="0" flipH="false" flipV="false">
            <a:off x="889000" y="2921000"/>
            <a:ext cx="3175000" cy="952500"/>
          </a:xfrm>
          <a:prstGeom prst="rect">
            <a:avLst/>
          </a:prstGeom>
          <a:noFill/>
          <a:ln w="12700" cmpd="sng" cap="flat">
            <a:noFill/>
            <a:prstDash val="solid"/>
            <a:round/>
          </a:ln>
        </p:spPr>
        <p:txBody>
          <a:bodyPr anchor="ctr" rtlCol="false" anchorCtr="false" vert="horz" wrap="square" lIns="0" rIns="0" tIns="0" bIns="0"/>
          <a:lstStyle/>
          <a:p>
            <a:pPr algn="l" indent="0">
              <a:lnSpc>
                <a:spcPct val="91666"/>
              </a:lnSpc>
              <a:defRPr/>
            </a:pPr>
            <a:r>
              <a:rPr lang="en-US" b="true" i="false" strike="noStrike" u="none" sz="1500">
                <a:solidFill>
                  <a:srgbClr val="2F4F4F"/>
                </a:solidFill>
                <a:latin typeface="Poppins"/>
                <a:ea typeface="Poppins"/>
                <a:cs typeface="Poppins"/>
                <a:sym typeface="Poppins"/>
              </a:rPr>
              <a:t>Dire Status Quo</a:t>
            </a:r>
            <a:r>
              <a:rPr lang="en-US" b="false" i="false" strike="noStrike" u="none" sz="1600">
                <a:solidFill>
                  <a:srgbClr val="1F2329"/>
                </a:solidFill>
                <a:latin typeface="Poppins"/>
                <a:ea typeface="Poppins"/>
                <a:cs typeface="Poppins"/>
                <a:sym typeface="Poppins"/>
              </a:rPr>
              <a:t/>
            </a:r>
            <a:endParaRPr lang="en-US" sz="1100"/>
          </a:p>
          <a:p>
            <a:pPr algn="l" indent="0">
              <a:lnSpc>
                <a:spcPct val="108333"/>
              </a:lnSpc>
            </a:pPr>
            <a:r>
              <a:rPr lang="en-US" b="false" i="false" strike="noStrike" u="none" sz="1100">
                <a:solidFill>
                  <a:srgbClr val="4B5563"/>
                </a:solidFill>
                <a:latin typeface="Poppins"/>
                <a:ea typeface="Poppins"/>
                <a:cs typeface="Poppins"/>
                <a:sym typeface="Poppins"/>
              </a:rPr>
              <a:t>Over</a:t>
            </a:r>
            <a:r>
              <a:rPr lang="en-US" b="true" i="false" strike="noStrike" u="none" sz="1100">
                <a:solidFill>
                  <a:srgbClr val="4B5563"/>
                </a:solidFill>
                <a:latin typeface="Poppins"/>
                <a:ea typeface="Poppins"/>
                <a:cs typeface="Poppins"/>
                <a:sym typeface="Poppins"/>
              </a:rPr>
              <a:t>78%</a:t>
            </a:r>
            <a:r>
              <a:rPr lang="en-US" b="false" i="false" strike="noStrike" u="none" sz="1100">
                <a:solidFill>
                  <a:srgbClr val="4B5563"/>
                </a:solidFill>
                <a:latin typeface="Poppins"/>
                <a:ea typeface="Poppins"/>
                <a:cs typeface="Poppins"/>
                <a:sym typeface="Poppins"/>
              </a:rPr>
              <a:t>of SMBs rely on manual answering (2025 survey). Missed off-hours calls cause significant churn and lost revenue.</a:t>
            </a:r>
          </a:p>
        </p:txBody>
      </p:sp>
      <p:sp>
        <p:nvSpPr>
          <p:cNvPr name="AutoShape 7" id="7"/>
          <p:cNvSpPr/>
          <p:nvPr/>
        </p:nvSpPr>
        <p:spPr>
          <a:xfrm rot="0" flipH="false" flipV="false">
            <a:off x="4381500" y="1524000"/>
            <a:ext cx="3429000" cy="2413000"/>
          </a:xfrm>
          <a:prstGeom prst="roundRect">
            <a:avLst>
              <a:gd name="adj" fmla="val 63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srcRect l="0" r="0" t="31999" b="32000"/>
          <a:stretch>
            <a:fillRect/>
          </a:stretch>
        </p:blipFill>
        <p:spPr>
          <a:xfrm rot="0" flipH="false" flipV="false">
            <a:off x="4508500" y="1651000"/>
            <a:ext cx="3175000" cy="1143000"/>
          </a:xfrm>
          <a:prstGeom prst="roundRect">
            <a:avLst>
              <a:gd name="adj" fmla="val 8888"/>
            </a:avLst>
          </a:prstGeom>
          <a:noFill/>
          <a:ln w="25400" cmpd="sng" cap="flat">
            <a:noFill/>
            <a:prstDash val="solid"/>
            <a:round/>
          </a:ln>
        </p:spPr>
      </p:pic>
      <p:sp>
        <p:nvSpPr>
          <p:cNvPr name="AutoShape 9" id="9"/>
          <p:cNvSpPr/>
          <p:nvPr/>
        </p:nvSpPr>
        <p:spPr>
          <a:xfrm rot="0" flipH="false" flipV="false">
            <a:off x="4508500" y="2921000"/>
            <a:ext cx="3175000" cy="952500"/>
          </a:xfrm>
          <a:prstGeom prst="rect">
            <a:avLst/>
          </a:prstGeom>
          <a:noFill/>
          <a:ln w="12700" cmpd="sng" cap="flat">
            <a:noFill/>
            <a:prstDash val="solid"/>
            <a:round/>
          </a:ln>
        </p:spPr>
        <p:txBody>
          <a:bodyPr anchor="ctr" rtlCol="false" anchorCtr="false" vert="horz" wrap="square" lIns="0" rIns="0" tIns="0" bIns="0"/>
          <a:lstStyle/>
          <a:p>
            <a:pPr algn="l" indent="0">
              <a:lnSpc>
                <a:spcPct val="91666"/>
              </a:lnSpc>
              <a:defRPr/>
            </a:pPr>
            <a:r>
              <a:rPr lang="en-US" b="true" i="false" strike="noStrike" u="none" sz="1500">
                <a:solidFill>
                  <a:srgbClr val="2F4F4F"/>
                </a:solidFill>
                <a:latin typeface="Poppins"/>
                <a:ea typeface="Poppins"/>
                <a:cs typeface="Poppins"/>
                <a:sym typeface="Poppins"/>
              </a:rPr>
              <a:t>Dilemma: High-End Call Centers</a:t>
            </a:r>
            <a:r>
              <a:rPr lang="en-US" b="false" i="false" strike="noStrike" u="none" sz="1600">
                <a:solidFill>
                  <a:srgbClr val="1F2329"/>
                </a:solidFill>
                <a:latin typeface="Poppins"/>
                <a:ea typeface="Poppins"/>
                <a:cs typeface="Poppins"/>
                <a:sym typeface="Poppins"/>
              </a:rPr>
              <a:t/>
            </a:r>
            <a:endParaRPr lang="en-US" sz="1100"/>
          </a:p>
          <a:p>
            <a:pPr algn="l" indent="0">
              <a:lnSpc>
                <a:spcPct val="108333"/>
              </a:lnSpc>
            </a:pPr>
            <a:r>
              <a:rPr lang="en-US" b="false" i="false" strike="noStrike" u="none" sz="1100">
                <a:solidFill>
                  <a:srgbClr val="4B5563"/>
                </a:solidFill>
                <a:latin typeface="Poppins"/>
                <a:ea typeface="Poppins"/>
                <a:cs typeface="Poppins"/>
                <a:sym typeface="Poppins"/>
              </a:rPr>
              <a:t>Powerful, but financially prohibitive. Setup/annual fees in the tens/hundreds of thousands – a massive burden.</a:t>
            </a:r>
          </a:p>
        </p:txBody>
      </p:sp>
      <p:sp>
        <p:nvSpPr>
          <p:cNvPr name="AutoShape 10" id="10"/>
          <p:cNvSpPr/>
          <p:nvPr/>
        </p:nvSpPr>
        <p:spPr>
          <a:xfrm rot="0" flipH="false" flipV="false">
            <a:off x="8001000" y="1524000"/>
            <a:ext cx="3429000" cy="2413000"/>
          </a:xfrm>
          <a:prstGeom prst="roundRect">
            <a:avLst>
              <a:gd name="adj" fmla="val 63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srcRect l="0" r="0" t="23000" b="22999"/>
          <a:stretch>
            <a:fillRect/>
          </a:stretch>
        </p:blipFill>
        <p:spPr>
          <a:xfrm rot="0" flipH="false" flipV="false">
            <a:off x="8128000" y="1651000"/>
            <a:ext cx="3175000" cy="1143000"/>
          </a:xfrm>
          <a:prstGeom prst="roundRect">
            <a:avLst>
              <a:gd name="adj" fmla="val 8888"/>
            </a:avLst>
          </a:prstGeom>
          <a:noFill/>
          <a:ln w="25400" cmpd="sng" cap="flat">
            <a:noFill/>
            <a:prstDash val="solid"/>
            <a:round/>
          </a:ln>
        </p:spPr>
      </p:pic>
      <p:sp>
        <p:nvSpPr>
          <p:cNvPr name="AutoShape 12" id="12"/>
          <p:cNvSpPr/>
          <p:nvPr/>
        </p:nvSpPr>
        <p:spPr>
          <a:xfrm rot="0" flipH="false" flipV="false">
            <a:off x="8128000" y="2921000"/>
            <a:ext cx="3175000" cy="952500"/>
          </a:xfrm>
          <a:prstGeom prst="rect">
            <a:avLst/>
          </a:prstGeom>
          <a:noFill/>
          <a:ln w="12700" cmpd="sng" cap="flat">
            <a:noFill/>
            <a:prstDash val="solid"/>
            <a:round/>
          </a:ln>
        </p:spPr>
        <p:txBody>
          <a:bodyPr anchor="ctr" rtlCol="false" anchorCtr="false" vert="horz" wrap="square" lIns="0" rIns="0" tIns="0" bIns="0"/>
          <a:lstStyle/>
          <a:p>
            <a:pPr algn="l" indent="0">
              <a:lnSpc>
                <a:spcPct val="91666"/>
              </a:lnSpc>
              <a:defRPr/>
            </a:pPr>
            <a:r>
              <a:rPr lang="en-US" b="true" i="false" strike="noStrike" u="none" sz="1500">
                <a:solidFill>
                  <a:srgbClr val="2F4F4F"/>
                </a:solidFill>
                <a:latin typeface="Poppins"/>
                <a:ea typeface="Poppins"/>
                <a:cs typeface="Poppins"/>
                <a:sym typeface="Poppins"/>
              </a:rPr>
              <a:t>Dilemma: Low-End Voicemail/IVR</a:t>
            </a:r>
            <a:r>
              <a:rPr lang="en-US" b="false" i="false" strike="noStrike" u="none" sz="1600">
                <a:solidFill>
                  <a:srgbClr val="1F2329"/>
                </a:solidFill>
                <a:latin typeface="Poppins"/>
                <a:ea typeface="Poppins"/>
                <a:cs typeface="Poppins"/>
                <a:sym typeface="Poppins"/>
              </a:rPr>
              <a:t/>
            </a:r>
            <a:endParaRPr lang="en-US" sz="1100"/>
          </a:p>
          <a:p>
            <a:pPr algn="l" indent="0">
              <a:lnSpc>
                <a:spcPct val="108333"/>
              </a:lnSpc>
            </a:pPr>
            <a:r>
              <a:rPr lang="en-US" b="false" i="false" strike="noStrike" u="none" sz="1100">
                <a:solidFill>
                  <a:srgbClr val="4B5563"/>
                </a:solidFill>
                <a:latin typeface="Poppins"/>
                <a:ea typeface="Poppins"/>
                <a:cs typeface="Poppins"/>
                <a:sym typeface="Poppins"/>
              </a:rPr>
              <a:t>Low-cost, but poor user experience. Rigid menus lead to customer frustration and abandonment rates as high as</a:t>
            </a:r>
            <a:r>
              <a:rPr lang="en-US" b="true" i="false" strike="noStrike" u="none" sz="1100">
                <a:solidFill>
                  <a:srgbClr val="4B5563"/>
                </a:solidFill>
                <a:latin typeface="Poppins"/>
                <a:ea typeface="Poppins"/>
                <a:cs typeface="Poppins"/>
                <a:sym typeface="Poppins"/>
              </a:rPr>
              <a:t>60%</a:t>
            </a:r>
            <a:r>
              <a:rPr lang="en-US" b="false" i="false" strike="noStrike" u="none" sz="1100">
                <a:solidFill>
                  <a:srgbClr val="4B5563"/>
                </a:solidFill>
                <a:latin typeface="Poppins"/>
                <a:ea typeface="Poppins"/>
                <a:cs typeface="Poppins"/>
                <a:sym typeface="Poppins"/>
              </a:rPr>
              <a:t>.</a:t>
            </a:r>
          </a:p>
        </p:txBody>
      </p:sp>
      <p:sp>
        <p:nvSpPr>
          <p:cNvPr name="AutoShape 13" id="13"/>
          <p:cNvSpPr/>
          <p:nvPr/>
        </p:nvSpPr>
        <p:spPr>
          <a:xfrm rot="0" flipH="false" flipV="false">
            <a:off x="762000" y="4191000"/>
            <a:ext cx="5270500" cy="2159000"/>
          </a:xfrm>
          <a:prstGeom prst="roundRect">
            <a:avLst>
              <a:gd name="adj" fmla="val 7058"/>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699000"/>
            <a:ext cx="762000" cy="762000"/>
          </a:xfrm>
          <a:prstGeom prst="rect">
            <a:avLst/>
          </a:prstGeom>
        </p:spPr>
      </p:pic>
      <p:sp>
        <p:nvSpPr>
          <p:cNvPr name="AutoShape 15" id="15"/>
          <p:cNvSpPr/>
          <p:nvPr/>
        </p:nvSpPr>
        <p:spPr>
          <a:xfrm rot="0" flipH="false" flipV="false">
            <a:off x="2032000" y="4445000"/>
            <a:ext cx="3683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700">
                <a:solidFill>
                  <a:srgbClr val="2F4F4F"/>
                </a:solidFill>
                <a:latin typeface="Poppins"/>
                <a:ea typeface="Poppins"/>
                <a:cs typeface="Poppins"/>
                <a:sym typeface="Poppins"/>
              </a:rPr>
              <a:t>High Technical Barrier</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pPr>
            <a:r>
              <a:rPr lang="en-US" b="false" i="false" strike="noStrike" u="none" sz="1200">
                <a:solidFill>
                  <a:srgbClr val="4B5563"/>
                </a:solidFill>
                <a:latin typeface="Poppins"/>
                <a:ea typeface="Poppins"/>
                <a:cs typeface="Poppins"/>
                <a:sym typeface="Poppins"/>
              </a:rPr>
              <a:t>Emerging AI voice tools (e.g., Bland AI, Vapi) are developer-focused. Requiring API integration and coding skills, they remain out of reach for typical SMB owners or staff.</a:t>
            </a:r>
          </a:p>
        </p:txBody>
      </p:sp>
      <p:sp>
        <p:nvSpPr>
          <p:cNvPr name="AutoShape 16" id="16"/>
          <p:cNvSpPr/>
          <p:nvPr/>
        </p:nvSpPr>
        <p:spPr>
          <a:xfrm rot="0" flipH="false" flipV="false">
            <a:off x="6159500" y="4191000"/>
            <a:ext cx="5270500" cy="2159000"/>
          </a:xfrm>
          <a:prstGeom prst="roundRect">
            <a:avLst>
              <a:gd name="adj" fmla="val 7058"/>
            </a:avLst>
          </a:prstGeom>
          <a:solidFill>
            <a:srgbClr val="2F4F4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413500" y="4445000"/>
            <a:ext cx="47625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700">
                <a:solidFill>
                  <a:srgbClr val="FFFFFF"/>
                </a:solidFill>
                <a:latin typeface="Poppins"/>
                <a:ea typeface="Poppins"/>
                <a:cs typeface="Poppins"/>
                <a:sym typeface="Poppins"/>
              </a:rPr>
              <a:t>The Core Need: The Ideal Solution</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pPr>
            <a:r>
              <a:rPr lang="en-US" b="false" i="false" strike="noStrike" u="none" sz="1200">
                <a:solidFill>
                  <a:srgbClr val="EBF5F5"/>
                </a:solidFill>
                <a:latin typeface="Poppins"/>
                <a:ea typeface="Poppins"/>
                <a:cs typeface="Poppins"/>
                <a:sym typeface="Poppins"/>
              </a:rPr>
              <a:t>SMBs need a tool that is</a:t>
            </a:r>
            <a:r>
              <a:rPr lang="en-US" b="true" i="false" strike="noStrike" u="none" sz="1400">
                <a:solidFill>
                  <a:srgbClr val="EBF5F5"/>
                </a:solidFill>
                <a:latin typeface="Poppins"/>
                <a:ea typeface="Poppins"/>
                <a:cs typeface="Poppins"/>
                <a:sym typeface="Poppins"/>
              </a:rPr>
              <a:t>“usable in 10 minutes”</a:t>
            </a:r>
            <a:r>
              <a:rPr lang="en-US" b="false" i="false" strike="noStrike" u="none" sz="1200">
                <a:solidFill>
                  <a:srgbClr val="EBF5F5"/>
                </a:solidFill>
                <a:latin typeface="Poppins"/>
                <a:ea typeface="Poppins"/>
                <a:cs typeface="Poppins"/>
                <a:sym typeface="Poppins"/>
              </a:rPr>
              <a:t>(no technical skills) AND</a:t>
            </a:r>
            <a:r>
              <a:rPr lang="en-US" b="true" i="false" strike="noStrike" u="none" sz="1400">
                <a:solidFill>
                  <a:srgbClr val="EBF5F5"/>
                </a:solidFill>
                <a:latin typeface="Poppins"/>
                <a:ea typeface="Poppins"/>
                <a:cs typeface="Poppins"/>
                <a:sym typeface="Poppins"/>
              </a:rPr>
              <a:t>“scalable for complex business”</a:t>
            </a:r>
            <a:r>
              <a:rPr lang="en-US" b="false" i="false" strike="noStrike" u="none" sz="1200">
                <a:solidFill>
                  <a:srgbClr val="EBF5F5"/>
                </a:solidFill>
                <a:latin typeface="Poppins"/>
                <a:ea typeface="Poppins"/>
                <a:cs typeface="Poppins"/>
                <a:sym typeface="Poppins"/>
              </a:rPr>
              <a:t>(powerful enough for daily nuances). Simple yet robust.</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Three Core Capabilities of VoiceFlow</a:t>
            </a:r>
            <a:endParaRPr lang="en-US" sz="1100"/>
          </a:p>
        </p:txBody>
      </p:sp>
      <p:sp>
        <p:nvSpPr>
          <p:cNvPr name="AutoShape 4" id="4"/>
          <p:cNvSpPr/>
          <p:nvPr/>
        </p:nvSpPr>
        <p:spPr>
          <a:xfrm rot="0" flipH="false" flipV="false">
            <a:off x="762000" y="1905000"/>
            <a:ext cx="3302000" cy="4191000"/>
          </a:xfrm>
          <a:prstGeom prst="roundRect">
            <a:avLst>
              <a:gd name="adj" fmla="val 4615"/>
            </a:avLst>
          </a:prstGeom>
          <a:solidFill>
            <a:srgbClr val="FFFFFF">
              <a:alpha val="100000"/>
            </a:srgbClr>
          </a:solidFill>
          <a:ln w="12700" cmpd="sng" cap="flat">
            <a:solidFill>
              <a:srgbClr val="EBEDF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2209800"/>
            <a:ext cx="609600" cy="609600"/>
          </a:xfrm>
          <a:prstGeom prst="rect">
            <a:avLst/>
          </a:prstGeom>
        </p:spPr>
      </p:pic>
      <p:sp>
        <p:nvSpPr>
          <p:cNvPr name="AutoShape 6" id="6"/>
          <p:cNvSpPr/>
          <p:nvPr/>
        </p:nvSpPr>
        <p:spPr>
          <a:xfrm rot="0" flipH="false" flipV="false">
            <a:off x="1803400" y="2260600"/>
            <a:ext cx="2032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900">
                <a:solidFill>
                  <a:srgbClr val="2F4F4F"/>
                </a:solidFill>
                <a:latin typeface="Poppins"/>
                <a:ea typeface="Poppins"/>
                <a:cs typeface="Poppins"/>
                <a:sym typeface="Poppins"/>
              </a:rPr>
              <a:t>Visual Workflow Builder</a:t>
            </a:r>
            <a:endParaRPr lang="en-US" sz="1100"/>
          </a:p>
        </p:txBody>
      </p:sp>
      <p:sp>
        <p:nvSpPr>
          <p:cNvPr name="AutoShape 7" id="7"/>
          <p:cNvSpPr/>
          <p:nvPr/>
        </p:nvSpPr>
        <p:spPr>
          <a:xfrm rot="0" flipH="false" flipV="false">
            <a:off x="1016000" y="3175000"/>
            <a:ext cx="2794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505050"/>
                </a:solidFill>
                <a:latin typeface="Poppins"/>
                <a:ea typeface="Poppins"/>
                <a:cs typeface="Poppins"/>
                <a:sym typeface="Poppins"/>
              </a:rPr>
              <a:t>We provide a WYSIWYG canvas. Users can build complex voice interaction flows simply by dragging and dropping nodes and drawing connections, much like creating a flowchart. The entire process requires zero code and no programming knowledge.</a:t>
            </a:r>
            <a:endParaRPr lang="en-US" sz="1100"/>
          </a:p>
        </p:txBody>
      </p:sp>
      <p:sp>
        <p:nvSpPr>
          <p:cNvPr name="AutoShape 8" id="8"/>
          <p:cNvSpPr/>
          <p:nvPr/>
        </p:nvSpPr>
        <p:spPr>
          <a:xfrm rot="0" flipH="false" flipV="false">
            <a:off x="4445000" y="1905000"/>
            <a:ext cx="3302000" cy="4191000"/>
          </a:xfrm>
          <a:prstGeom prst="roundRect">
            <a:avLst>
              <a:gd name="adj" fmla="val 4615"/>
            </a:avLst>
          </a:prstGeom>
          <a:solidFill>
            <a:srgbClr val="FFFFFF">
              <a:alpha val="100000"/>
            </a:srgbClr>
          </a:solidFill>
          <a:ln w="12700" cmpd="sng" cap="flat">
            <a:solidFill>
              <a:srgbClr val="EBEDF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749800" y="2209800"/>
            <a:ext cx="609600" cy="609600"/>
          </a:xfrm>
          <a:prstGeom prst="rect">
            <a:avLst/>
          </a:prstGeom>
        </p:spPr>
      </p:pic>
      <p:sp>
        <p:nvSpPr>
          <p:cNvPr name="AutoShape 10" id="10"/>
          <p:cNvSpPr/>
          <p:nvPr/>
        </p:nvSpPr>
        <p:spPr>
          <a:xfrm rot="0" flipH="false" flipV="false">
            <a:off x="5486400" y="2260600"/>
            <a:ext cx="2032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900">
                <a:solidFill>
                  <a:srgbClr val="2F4F4F"/>
                </a:solidFill>
                <a:latin typeface="Poppins"/>
                <a:ea typeface="Poppins"/>
                <a:cs typeface="Poppins"/>
                <a:sym typeface="Poppins"/>
              </a:rPr>
              <a:t>Rules-First, AI-Enhanced</a:t>
            </a:r>
            <a:endParaRPr lang="en-US" sz="1100"/>
          </a:p>
        </p:txBody>
      </p:sp>
      <p:sp>
        <p:nvSpPr>
          <p:cNvPr name="AutoShape 11" id="11"/>
          <p:cNvSpPr/>
          <p:nvPr/>
        </p:nvSpPr>
        <p:spPr>
          <a:xfrm rot="0" flipH="false" flipV="false">
            <a:off x="4699000" y="3175000"/>
            <a:ext cx="2794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505050"/>
                </a:solidFill>
                <a:latin typeface="Poppins"/>
                <a:ea typeface="Poppins"/>
                <a:cs typeface="Poppins"/>
                <a:sym typeface="Poppins"/>
              </a:rPr>
              <a:t>We have pioneered a "Rules-First, AI-Enhanced" hybrid strategy. For 80% of standardized processes, a deterministic rules engine ensures stable operation with zero latency and zero cost. AI is only introduced at three key inflection points (Intent Detection, Knowledge Q&amp;A, Call Summary) that drive qualitative change, achieving the optimal balance between cost and effectiveness.</a:t>
            </a:r>
            <a:endParaRPr lang="en-US" sz="1100"/>
          </a:p>
        </p:txBody>
      </p:sp>
      <p:sp>
        <p:nvSpPr>
          <p:cNvPr name="AutoShape 12" id="12"/>
          <p:cNvSpPr/>
          <p:nvPr/>
        </p:nvSpPr>
        <p:spPr>
          <a:xfrm rot="0" flipH="false" flipV="false">
            <a:off x="8128000" y="1905000"/>
            <a:ext cx="3302000" cy="4191000"/>
          </a:xfrm>
          <a:prstGeom prst="roundRect">
            <a:avLst>
              <a:gd name="adj" fmla="val 4615"/>
            </a:avLst>
          </a:prstGeom>
          <a:solidFill>
            <a:srgbClr val="FFFFFF">
              <a:alpha val="100000"/>
            </a:srgbClr>
          </a:solidFill>
          <a:ln w="12700" cmpd="sng" cap="flat">
            <a:solidFill>
              <a:srgbClr val="EBEDF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432800" y="2209800"/>
            <a:ext cx="609600" cy="609600"/>
          </a:xfrm>
          <a:prstGeom prst="rect">
            <a:avLst/>
          </a:prstGeom>
        </p:spPr>
      </p:pic>
      <p:sp>
        <p:nvSpPr>
          <p:cNvPr name="AutoShape 14" id="14"/>
          <p:cNvSpPr/>
          <p:nvPr/>
        </p:nvSpPr>
        <p:spPr>
          <a:xfrm rot="0" flipH="false" flipV="false">
            <a:off x="9169400" y="2260600"/>
            <a:ext cx="2032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900">
                <a:solidFill>
                  <a:srgbClr val="2F4F4F"/>
                </a:solidFill>
                <a:latin typeface="Poppins"/>
                <a:ea typeface="Poppins"/>
                <a:cs typeface="Poppins"/>
                <a:sym typeface="Poppins"/>
              </a:rPr>
              <a:t>Node-Level Insights</a:t>
            </a:r>
            <a:endParaRPr lang="en-US" sz="1100"/>
          </a:p>
        </p:txBody>
      </p:sp>
      <p:sp>
        <p:nvSpPr>
          <p:cNvPr name="AutoShape 15" id="15"/>
          <p:cNvSpPr/>
          <p:nvPr/>
        </p:nvSpPr>
        <p:spPr>
          <a:xfrm rot="0" flipH="false" flipV="false">
            <a:off x="8382000" y="3175000"/>
            <a:ext cx="2794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505050"/>
                </a:solidFill>
                <a:latin typeface="Poppins"/>
                <a:ea typeface="Poppins"/>
                <a:cs typeface="Poppins"/>
                <a:sym typeface="Poppins"/>
              </a:rPr>
              <a:t>We provide granular operational data down to the individual node level. Through node heatmaps and conversion funnels, you can clearly see where customers drop off, enabling precise problem identification and data-driven iteration, transforming from a "tool" to an "intelligent operations platform."</a:t>
            </a:r>
            <a:endParaRPr lang="en-US" sz="1100"/>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Who Needs VoiceFlow?</a:t>
            </a:r>
            <a:endParaRPr lang="en-US" sz="1100"/>
          </a:p>
        </p:txBody>
      </p:sp>
      <p:sp>
        <p:nvSpPr>
          <p:cNvPr name="AutoShape 3" id="3"/>
          <p:cNvSpPr/>
          <p:nvPr/>
        </p:nvSpPr>
        <p:spPr>
          <a:xfrm rot="0" flipH="false" flipV="false">
            <a:off x="762000" y="1651000"/>
            <a:ext cx="3302000" cy="4699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srcRect l="0" r="0" t="7629" b="7629"/>
          <a:stretch>
            <a:fillRect/>
          </a:stretch>
        </p:blipFill>
        <p:spPr>
          <a:xfrm rot="0" flipH="false" flipV="false">
            <a:off x="952500" y="1841500"/>
            <a:ext cx="2921000" cy="1651000"/>
          </a:xfrm>
          <a:prstGeom prst="roundRect">
            <a:avLst>
              <a:gd name="adj" fmla="val 6153"/>
            </a:avLst>
          </a:prstGeom>
          <a:noFill/>
          <a:ln w="25400" cmpd="sng" cap="flat">
            <a:noFill/>
            <a:prstDash val="solid"/>
            <a:round/>
          </a:ln>
        </p:spPr>
      </p:pic>
      <p:sp>
        <p:nvSpPr>
          <p:cNvPr name="AutoShape 5" id="5"/>
          <p:cNvSpPr/>
          <p:nvPr/>
        </p:nvSpPr>
        <p:spPr>
          <a:xfrm rot="0" flipH="false" flipV="false">
            <a:off x="952500" y="3683000"/>
            <a:ext cx="292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Small Business Owners (1-20 people)</a:t>
            </a:r>
            <a:endParaRPr lang="en-US" sz="1100"/>
          </a:p>
        </p:txBody>
      </p:sp>
      <p:sp>
        <p:nvSpPr>
          <p:cNvPr name="AutoShape 6" id="6"/>
          <p:cNvSpPr/>
          <p:nvPr/>
        </p:nvSpPr>
        <p:spPr>
          <a:xfrm rot="0" flipH="false" flipV="false">
            <a:off x="952500" y="4445000"/>
            <a:ext cx="2921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200">
                <a:solidFill>
                  <a:srgbClr val="374151"/>
                </a:solidFill>
                <a:latin typeface="Poppins"/>
                <a:ea typeface="Poppins"/>
                <a:cs typeface="Poppins"/>
                <a:sym typeface="Poppins"/>
              </a:rPr>
              <a:t>Traits:</a:t>
            </a:r>
            <a:r>
              <a:rPr lang="en-US" b="false" i="false" strike="noStrike" u="none" sz="1200">
                <a:solidFill>
                  <a:srgbClr val="4B5563"/>
                </a:solidFill>
                <a:latin typeface="Poppins"/>
                <a:ea typeface="Poppins"/>
                <a:cs typeface="Poppins"/>
                <a:sym typeface="Poppins"/>
              </a:rPr>
              <a:t>Often the founder or manager, wearing multiple hats, with no dedicated technical team.</a:t>
            </a:r>
            <a:r>
              <a:rPr lang="en-US" b="false" i="false" strike="noStrike" u="none" sz="1200">
                <a:solidFill>
                  <a:srgbClr val="1F2329"/>
                </a:solidFill>
                <a:latin typeface="Poppins"/>
                <a:ea typeface="Poppins"/>
                <a:cs typeface="Poppins"/>
                <a:sym typeface="Poppins"/>
              </a:rPr>
              <a:t/>
            </a:r>
            <a:endParaRPr lang="en-US" sz="1100"/>
          </a:p>
          <a:p>
            <a:pPr algn="l" indent="0">
              <a:lnSpc>
                <a:spcPct val="108333"/>
              </a:lnSpc>
              <a:spcBef>
                <a:spcPts val="1000"/>
              </a:spcBef>
            </a:pPr>
            <a:r>
              <a:rPr lang="en-US" b="true" i="false" strike="noStrike" u="none" sz="1200">
                <a:solidFill>
                  <a:srgbClr val="374151"/>
                </a:solidFill>
                <a:latin typeface="Poppins"/>
                <a:ea typeface="Poppins"/>
                <a:cs typeface="Poppins"/>
                <a:sym typeface="Poppins"/>
              </a:rPr>
              <a:t>Needs:</a:t>
            </a:r>
            <a:r>
              <a:rPr lang="en-US" b="false" i="false" strike="noStrike" u="none" sz="1200">
                <a:solidFill>
                  <a:srgbClr val="4B5563"/>
                </a:solidFill>
                <a:latin typeface="Poppins"/>
                <a:ea typeface="Poppins"/>
                <a:cs typeface="Poppins"/>
                <a:sym typeface="Poppins"/>
              </a:rPr>
              <a:t>A voice reception system that can be set up quickly and requires minimal maintenance to handle after-hours calls and improve customer service efficiency.</a:t>
            </a:r>
          </a:p>
        </p:txBody>
      </p:sp>
      <p:sp>
        <p:nvSpPr>
          <p:cNvPr name="AutoShape 7" id="7"/>
          <p:cNvSpPr/>
          <p:nvPr/>
        </p:nvSpPr>
        <p:spPr>
          <a:xfrm rot="0" flipH="false" flipV="false">
            <a:off x="4445000" y="1651000"/>
            <a:ext cx="3302000" cy="4699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srcRect l="0" r="0" t="7629" b="7629"/>
          <a:stretch>
            <a:fillRect/>
          </a:stretch>
        </p:blipFill>
        <p:spPr>
          <a:xfrm rot="0" flipH="false" flipV="false">
            <a:off x="4635500" y="1841500"/>
            <a:ext cx="2921000" cy="1651000"/>
          </a:xfrm>
          <a:prstGeom prst="roundRect">
            <a:avLst>
              <a:gd name="adj" fmla="val 6153"/>
            </a:avLst>
          </a:prstGeom>
          <a:noFill/>
          <a:ln w="25400" cmpd="sng" cap="flat">
            <a:noFill/>
            <a:prstDash val="solid"/>
            <a:round/>
          </a:ln>
        </p:spPr>
      </p:pic>
      <p:sp>
        <p:nvSpPr>
          <p:cNvPr name="AutoShape 9" id="9"/>
          <p:cNvSpPr/>
          <p:nvPr/>
        </p:nvSpPr>
        <p:spPr>
          <a:xfrm rot="0" flipH="false" flipV="false">
            <a:off x="4635500" y="3683000"/>
            <a:ext cx="292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Mid-Size Team Managers (20-200 people)</a:t>
            </a:r>
            <a:endParaRPr lang="en-US" sz="1100"/>
          </a:p>
        </p:txBody>
      </p:sp>
      <p:sp>
        <p:nvSpPr>
          <p:cNvPr name="AutoShape 10" id="10"/>
          <p:cNvSpPr/>
          <p:nvPr/>
        </p:nvSpPr>
        <p:spPr>
          <a:xfrm rot="0" flipH="false" flipV="false">
            <a:off x="4635500" y="4445000"/>
            <a:ext cx="2921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200">
                <a:solidFill>
                  <a:srgbClr val="374151"/>
                </a:solidFill>
                <a:latin typeface="Poppins"/>
                <a:ea typeface="Poppins"/>
                <a:cs typeface="Poppins"/>
                <a:sym typeface="Poppins"/>
              </a:rPr>
              <a:t>Traits:</a:t>
            </a:r>
            <a:r>
              <a:rPr lang="en-US" b="false" i="false" strike="noStrike" u="none" sz="1200">
                <a:solidFill>
                  <a:srgbClr val="4B5563"/>
                </a:solidFill>
                <a:latin typeface="Poppins"/>
                <a:ea typeface="Poppins"/>
                <a:cs typeface="Poppins"/>
                <a:sym typeface="Poppins"/>
              </a:rPr>
              <a:t>Responsible for customer service, sales, or operations teams, facing growing call volumes and service pressures.</a:t>
            </a:r>
            <a:r>
              <a:rPr lang="en-US" b="false" i="false" strike="noStrike" u="none" sz="1200">
                <a:solidFill>
                  <a:srgbClr val="1F2329"/>
                </a:solidFill>
                <a:latin typeface="Poppins"/>
                <a:ea typeface="Poppins"/>
                <a:cs typeface="Poppins"/>
                <a:sym typeface="Poppins"/>
              </a:rPr>
              <a:t/>
            </a:r>
            <a:endParaRPr lang="en-US" sz="1100"/>
          </a:p>
          <a:p>
            <a:pPr algn="l" indent="0">
              <a:lnSpc>
                <a:spcPct val="108333"/>
              </a:lnSpc>
              <a:spcBef>
                <a:spcPts val="1000"/>
              </a:spcBef>
            </a:pPr>
            <a:r>
              <a:rPr lang="en-US" b="true" i="false" strike="noStrike" u="none" sz="1200">
                <a:solidFill>
                  <a:srgbClr val="374151"/>
                </a:solidFill>
                <a:latin typeface="Poppins"/>
                <a:ea typeface="Poppins"/>
                <a:cs typeface="Poppins"/>
                <a:sym typeface="Poppins"/>
              </a:rPr>
              <a:t>Needs:</a:t>
            </a:r>
            <a:r>
              <a:rPr lang="en-US" b="false" i="false" strike="noStrike" u="none" sz="1200">
                <a:solidFill>
                  <a:srgbClr val="4B5563"/>
                </a:solidFill>
                <a:latin typeface="Poppins"/>
                <a:ea typeface="Poppins"/>
                <a:cs typeface="Poppins"/>
                <a:sym typeface="Poppins"/>
              </a:rPr>
              <a:t>A powerful automation tool to route incoming calls, handle repetitive inquiries, and allow human agents to focus on high-value tasks.</a:t>
            </a:r>
          </a:p>
        </p:txBody>
      </p:sp>
      <p:sp>
        <p:nvSpPr>
          <p:cNvPr name="AutoShape 11" id="11"/>
          <p:cNvSpPr/>
          <p:nvPr/>
        </p:nvSpPr>
        <p:spPr>
          <a:xfrm rot="0" flipH="false" flipV="false">
            <a:off x="8128000" y="1651000"/>
            <a:ext cx="3302000" cy="4699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srcRect l="0" r="0" t="7608" b="7608"/>
          <a:stretch>
            <a:fillRect/>
          </a:stretch>
        </p:blipFill>
        <p:spPr>
          <a:xfrm rot="0" flipH="false" flipV="false">
            <a:off x="8318500" y="1841500"/>
            <a:ext cx="2921000" cy="1651000"/>
          </a:xfrm>
          <a:prstGeom prst="roundRect">
            <a:avLst>
              <a:gd name="adj" fmla="val 6153"/>
            </a:avLst>
          </a:prstGeom>
          <a:noFill/>
          <a:ln w="25400" cmpd="sng" cap="flat">
            <a:noFill/>
            <a:prstDash val="solid"/>
            <a:round/>
          </a:ln>
        </p:spPr>
      </p:pic>
      <p:sp>
        <p:nvSpPr>
          <p:cNvPr name="AutoShape 13" id="13"/>
          <p:cNvSpPr/>
          <p:nvPr/>
        </p:nvSpPr>
        <p:spPr>
          <a:xfrm rot="0" flipH="false" flipV="false">
            <a:off x="8318500" y="3683000"/>
            <a:ext cx="292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Online Business Operators</a:t>
            </a:r>
            <a:endParaRPr lang="en-US" sz="1100"/>
          </a:p>
        </p:txBody>
      </p:sp>
      <p:sp>
        <p:nvSpPr>
          <p:cNvPr name="AutoShape 14" id="14"/>
          <p:cNvSpPr/>
          <p:nvPr/>
        </p:nvSpPr>
        <p:spPr>
          <a:xfrm rot="0" flipH="false" flipV="false">
            <a:off x="8318500" y="4445000"/>
            <a:ext cx="2921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200">
                <a:solidFill>
                  <a:srgbClr val="374151"/>
                </a:solidFill>
                <a:latin typeface="Poppins"/>
                <a:ea typeface="Poppins"/>
                <a:cs typeface="Poppins"/>
                <a:sym typeface="Poppins"/>
              </a:rPr>
              <a:t>Traits:</a:t>
            </a:r>
            <a:r>
              <a:rPr lang="en-US" b="false" i="false" strike="noStrike" u="none" sz="1200">
                <a:solidFill>
                  <a:srgbClr val="4B5563"/>
                </a:solidFill>
                <a:latin typeface="Poppins"/>
                <a:ea typeface="Poppins"/>
                <a:cs typeface="Poppins"/>
                <a:sym typeface="Poppins"/>
              </a:rPr>
              <a:t>Own a website or app and wish to provide a more direct communication channel without exposing personal or company phone numbers.</a:t>
            </a:r>
            <a:r>
              <a:rPr lang="en-US" b="false" i="false" strike="noStrike" u="none" sz="1200">
                <a:solidFill>
                  <a:srgbClr val="1F2329"/>
                </a:solidFill>
                <a:latin typeface="Poppins"/>
                <a:ea typeface="Poppins"/>
                <a:cs typeface="Poppins"/>
                <a:sym typeface="Poppins"/>
              </a:rPr>
              <a:t/>
            </a:r>
            <a:endParaRPr lang="en-US" sz="1100"/>
          </a:p>
          <a:p>
            <a:pPr algn="l" indent="0">
              <a:lnSpc>
                <a:spcPct val="108333"/>
              </a:lnSpc>
              <a:spcBef>
                <a:spcPts val="1000"/>
              </a:spcBef>
            </a:pPr>
            <a:r>
              <a:rPr lang="en-US" b="true" i="false" strike="noStrike" u="none" sz="1200">
                <a:solidFill>
                  <a:srgbClr val="374151"/>
                </a:solidFill>
                <a:latin typeface="Poppins"/>
                <a:ea typeface="Poppins"/>
                <a:cs typeface="Poppins"/>
                <a:sym typeface="Poppins"/>
              </a:rPr>
              <a:t>Needs:</a:t>
            </a:r>
            <a:r>
              <a:rPr lang="en-US" b="false" i="false" strike="noStrike" u="none" sz="1200">
                <a:solidFill>
                  <a:srgbClr val="4B5563"/>
                </a:solidFill>
                <a:latin typeface="Poppins"/>
                <a:ea typeface="Poppins"/>
                <a:cs typeface="Poppins"/>
                <a:sym typeface="Poppins"/>
              </a:rPr>
              <a:t>A voice calling feature that can be embedded directly into their website, enabling "phone-number-free" instant communication to enhance user experience and conversion rates.</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How Does the Workflow Run?</a:t>
            </a:r>
            <a:endParaRPr lang="en-US" sz="1100"/>
          </a:p>
        </p:txBody>
      </p:sp>
      <p:sp>
        <p:nvSpPr>
          <p:cNvPr name="AutoShape 4" id="4"/>
          <p:cNvSpPr/>
          <p:nvPr/>
        </p:nvSpPr>
        <p:spPr>
          <a:xfrm rot="0" flipH="false" flipV="false">
            <a:off x="762000" y="1651000"/>
            <a:ext cx="2032000" cy="2794000"/>
          </a:xfrm>
          <a:prstGeom prst="roundRect">
            <a:avLst>
              <a:gd name="adj" fmla="val 5000"/>
            </a:avLst>
          </a:prstGeom>
          <a:solidFill>
            <a:srgbClr val="FFFFFF">
              <a:alpha val="100000"/>
            </a:srgbClr>
          </a:solidFill>
          <a:ln w="12700" cmpd="sng" cap="flat">
            <a:solidFill>
              <a:srgbClr val="2F4F4F">
                <a:alpha val="2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889000" y="1841500"/>
            <a:ext cx="1778000" cy="2413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3200">
                <a:solidFill>
                  <a:srgbClr val="2F4F4F"/>
                </a:solidFill>
                <a:latin typeface="Poppins"/>
                <a:ea typeface="Poppins"/>
                <a:cs typeface="Poppins"/>
                <a:sym typeface="Poppins"/>
              </a:rPr>
              <a:t>01</a:t>
            </a:r>
            <a:r>
              <a:rPr lang="en-US" b="false" i="false" strike="noStrike" u="none" sz="1600">
                <a:solidFill>
                  <a:srgbClr val="1F2329"/>
                </a:solidFill>
                <a:latin typeface="Poppins"/>
                <a:ea typeface="Poppins"/>
                <a:cs typeface="Poppins"/>
                <a:sym typeface="Poppins"/>
              </a:rPr>
              <a:t/>
            </a:r>
            <a:endParaRPr lang="en-US" sz="1100"/>
          </a:p>
          <a:p>
            <a:pPr algn="ctr" indent="0">
              <a:lnSpc>
                <a:spcPct val="100000"/>
              </a:lnSpc>
              <a:spcBef>
                <a:spcPts val="800"/>
              </a:spcBef>
            </a:pPr>
            <a:r>
              <a:rPr lang="en-US" b="true" i="false" strike="noStrike" u="none" sz="1600">
                <a:solidFill>
                  <a:srgbClr val="2F4F4F"/>
                </a:solidFill>
                <a:latin typeface="Poppins"/>
                <a:ea typeface="Poppins"/>
                <a:cs typeface="Poppins"/>
                <a:sym typeface="Poppins"/>
              </a:rPr>
              <a:t>Call Trigger</a:t>
            </a:r>
            <a:r>
              <a:rPr lang="en-US" b="false" i="false" strike="noStrike" u="none" sz="1600">
                <a:solidFill>
                  <a:srgbClr val="1F2329"/>
                </a:solidFill>
                <a:latin typeface="Poppins"/>
                <a:ea typeface="Poppins"/>
                <a:cs typeface="Poppins"/>
                <a:sym typeface="Poppins"/>
              </a:rPr>
              <a:t/>
            </a:r>
          </a:p>
          <a:p>
            <a:pPr algn="ctr" indent="0">
              <a:lnSpc>
                <a:spcPct val="108333"/>
              </a:lnSpc>
              <a:spcBef>
                <a:spcPts val="1000"/>
              </a:spcBef>
            </a:pPr>
            <a:r>
              <a:rPr lang="en-US" b="false" i="false" strike="noStrike" u="none" sz="1100">
                <a:solidFill>
                  <a:srgbClr val="555555"/>
                </a:solidFill>
                <a:latin typeface="Poppins"/>
                <a:ea typeface="Poppins"/>
                <a:cs typeface="Poppins"/>
                <a:sym typeface="Poppins"/>
              </a:rPr>
              <a:t>When a call comes in, the system automatically captures the event and extracts caller information.</a:t>
            </a:r>
          </a:p>
        </p:txBody>
      </p:sp>
      <p:sp>
        <p:nvSpPr>
          <p:cNvPr name="AutoShape 6" id="6"/>
          <p:cNvSpPr/>
          <p:nvPr/>
        </p:nvSpPr>
        <p:spPr>
          <a:xfrm rot="0" flipH="false" flipV="false">
            <a:off x="2984500" y="1651000"/>
            <a:ext cx="2032000" cy="2794000"/>
          </a:xfrm>
          <a:prstGeom prst="roundRect">
            <a:avLst>
              <a:gd name="adj" fmla="val 5000"/>
            </a:avLst>
          </a:prstGeom>
          <a:solidFill>
            <a:srgbClr val="FFFFFF">
              <a:alpha val="100000"/>
            </a:srgbClr>
          </a:solidFill>
          <a:ln w="12700" cmpd="sng" cap="flat">
            <a:solidFill>
              <a:srgbClr val="2F4F4F">
                <a:alpha val="2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7" id="7"/>
          <p:cNvSpPr/>
          <p:nvPr/>
        </p:nvSpPr>
        <p:spPr>
          <a:xfrm rot="0" flipH="false" flipV="false">
            <a:off x="3111500" y="1841500"/>
            <a:ext cx="1778000" cy="2413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3200">
                <a:solidFill>
                  <a:srgbClr val="2F4F4F"/>
                </a:solidFill>
                <a:latin typeface="Poppins"/>
                <a:ea typeface="Poppins"/>
                <a:cs typeface="Poppins"/>
                <a:sym typeface="Poppins"/>
              </a:rPr>
              <a:t>02</a:t>
            </a:r>
            <a:r>
              <a:rPr lang="en-US" b="false" i="false" strike="noStrike" u="none" sz="1600">
                <a:solidFill>
                  <a:srgbClr val="1F2329"/>
                </a:solidFill>
                <a:latin typeface="Poppins"/>
                <a:ea typeface="Poppins"/>
                <a:cs typeface="Poppins"/>
                <a:sym typeface="Poppins"/>
              </a:rPr>
              <a:t/>
            </a:r>
            <a:endParaRPr lang="en-US" sz="1100"/>
          </a:p>
          <a:p>
            <a:pPr algn="ctr" indent="0">
              <a:lnSpc>
                <a:spcPct val="100000"/>
              </a:lnSpc>
              <a:spcBef>
                <a:spcPts val="800"/>
              </a:spcBef>
            </a:pPr>
            <a:r>
              <a:rPr lang="en-US" b="true" i="false" strike="noStrike" u="none" sz="1600">
                <a:solidFill>
                  <a:srgbClr val="2F4F4F"/>
                </a:solidFill>
                <a:latin typeface="Poppins"/>
                <a:ea typeface="Poppins"/>
                <a:cs typeface="Poppins"/>
                <a:sym typeface="Poppins"/>
              </a:rPr>
              <a:t>Node Execution</a:t>
            </a:r>
            <a:r>
              <a:rPr lang="en-US" b="false" i="false" strike="noStrike" u="none" sz="1600">
                <a:solidFill>
                  <a:srgbClr val="1F2329"/>
                </a:solidFill>
                <a:latin typeface="Poppins"/>
                <a:ea typeface="Poppins"/>
                <a:cs typeface="Poppins"/>
                <a:sym typeface="Poppins"/>
              </a:rPr>
              <a:t/>
            </a:r>
          </a:p>
          <a:p>
            <a:pPr algn="ctr" indent="0">
              <a:lnSpc>
                <a:spcPct val="108333"/>
              </a:lnSpc>
              <a:spcBef>
                <a:spcPts val="1000"/>
              </a:spcBef>
            </a:pPr>
            <a:r>
              <a:rPr lang="en-US" b="false" i="false" strike="noStrike" u="none" sz="1100">
                <a:solidFill>
                  <a:srgbClr val="555555"/>
                </a:solidFill>
                <a:latin typeface="Poppins"/>
                <a:ea typeface="Poppins"/>
                <a:cs typeface="Poppins"/>
                <a:sym typeface="Poppins"/>
              </a:rPr>
              <a:t>The system executes nodes sequentially, following the flowchart, with clear inputs and outputs.</a:t>
            </a:r>
          </a:p>
        </p:txBody>
      </p:sp>
      <p:sp>
        <p:nvSpPr>
          <p:cNvPr name="AutoShape 8" id="8"/>
          <p:cNvSpPr/>
          <p:nvPr/>
        </p:nvSpPr>
        <p:spPr>
          <a:xfrm rot="0" flipH="false" flipV="false">
            <a:off x="5207000" y="1651000"/>
            <a:ext cx="2032000" cy="2794000"/>
          </a:xfrm>
          <a:prstGeom prst="roundRect">
            <a:avLst>
              <a:gd name="adj" fmla="val 5000"/>
            </a:avLst>
          </a:prstGeom>
          <a:solidFill>
            <a:srgbClr val="FFFFFF">
              <a:alpha val="100000"/>
            </a:srgbClr>
          </a:solidFill>
          <a:ln w="12700" cmpd="sng" cap="flat">
            <a:solidFill>
              <a:srgbClr val="2F4F4F">
                <a:alpha val="2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5334000" y="1841500"/>
            <a:ext cx="1778000" cy="2413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3200">
                <a:solidFill>
                  <a:srgbClr val="2F4F4F"/>
                </a:solidFill>
                <a:latin typeface="Poppins"/>
                <a:ea typeface="Poppins"/>
                <a:cs typeface="Poppins"/>
                <a:sym typeface="Poppins"/>
              </a:rPr>
              <a:t>03</a:t>
            </a:r>
            <a:r>
              <a:rPr lang="en-US" b="false" i="false" strike="noStrike" u="none" sz="1600">
                <a:solidFill>
                  <a:srgbClr val="1F2329"/>
                </a:solidFill>
                <a:latin typeface="Poppins"/>
                <a:ea typeface="Poppins"/>
                <a:cs typeface="Poppins"/>
                <a:sym typeface="Poppins"/>
              </a:rPr>
              <a:t/>
            </a:r>
            <a:endParaRPr lang="en-US" sz="1100"/>
          </a:p>
          <a:p>
            <a:pPr algn="ctr" indent="0">
              <a:lnSpc>
                <a:spcPct val="100000"/>
              </a:lnSpc>
              <a:spcBef>
                <a:spcPts val="800"/>
              </a:spcBef>
            </a:pPr>
            <a:r>
              <a:rPr lang="en-US" b="true" i="false" strike="noStrike" u="none" sz="1600">
                <a:solidFill>
                  <a:srgbClr val="2F4F4F"/>
                </a:solidFill>
                <a:latin typeface="Poppins"/>
                <a:ea typeface="Poppins"/>
                <a:cs typeface="Poppins"/>
                <a:sym typeface="Poppins"/>
              </a:rPr>
              <a:t>Conditional Routing</a:t>
            </a:r>
            <a:r>
              <a:rPr lang="en-US" b="false" i="false" strike="noStrike" u="none" sz="1600">
                <a:solidFill>
                  <a:srgbClr val="1F2329"/>
                </a:solidFill>
                <a:latin typeface="Poppins"/>
                <a:ea typeface="Poppins"/>
                <a:cs typeface="Poppins"/>
                <a:sym typeface="Poppins"/>
              </a:rPr>
              <a:t/>
            </a:r>
          </a:p>
          <a:p>
            <a:pPr algn="ctr" indent="0">
              <a:lnSpc>
                <a:spcPct val="108333"/>
              </a:lnSpc>
              <a:spcBef>
                <a:spcPts val="1000"/>
              </a:spcBef>
            </a:pPr>
            <a:r>
              <a:rPr lang="en-US" b="false" i="false" strike="noStrike" u="none" sz="1100">
                <a:solidFill>
                  <a:srgbClr val="555555"/>
                </a:solidFill>
                <a:latin typeface="Poppins"/>
                <a:ea typeface="Poppins"/>
                <a:cs typeface="Poppins"/>
                <a:sym typeface="Poppins"/>
              </a:rPr>
              <a:t>Automatically selects the next path based on preset rules, such as user input or database results.</a:t>
            </a:r>
          </a:p>
        </p:txBody>
      </p:sp>
      <p:sp>
        <p:nvSpPr>
          <p:cNvPr name="AutoShape 10" id="10"/>
          <p:cNvSpPr/>
          <p:nvPr/>
        </p:nvSpPr>
        <p:spPr>
          <a:xfrm rot="0" flipH="false" flipV="false">
            <a:off x="7429500" y="1651000"/>
            <a:ext cx="2032000" cy="2794000"/>
          </a:xfrm>
          <a:prstGeom prst="roundRect">
            <a:avLst>
              <a:gd name="adj" fmla="val 5000"/>
            </a:avLst>
          </a:prstGeom>
          <a:solidFill>
            <a:srgbClr val="FFFFFF">
              <a:alpha val="100000"/>
            </a:srgbClr>
          </a:solidFill>
          <a:ln w="12700" cmpd="sng" cap="flat">
            <a:solidFill>
              <a:srgbClr val="2F4F4F">
                <a:alpha val="2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556500" y="1841500"/>
            <a:ext cx="1778000" cy="2413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3200">
                <a:solidFill>
                  <a:srgbClr val="2F4F4F"/>
                </a:solidFill>
                <a:latin typeface="Poppins"/>
                <a:ea typeface="Poppins"/>
                <a:cs typeface="Poppins"/>
                <a:sym typeface="Poppins"/>
              </a:rPr>
              <a:t>04</a:t>
            </a:r>
            <a:r>
              <a:rPr lang="en-US" b="false" i="false" strike="noStrike" u="none" sz="1600">
                <a:solidFill>
                  <a:srgbClr val="1F2329"/>
                </a:solidFill>
                <a:latin typeface="Poppins"/>
                <a:ea typeface="Poppins"/>
                <a:cs typeface="Poppins"/>
                <a:sym typeface="Poppins"/>
              </a:rPr>
              <a:t/>
            </a:r>
            <a:endParaRPr lang="en-US" sz="1100"/>
          </a:p>
          <a:p>
            <a:pPr algn="ctr" indent="0">
              <a:lnSpc>
                <a:spcPct val="100000"/>
              </a:lnSpc>
              <a:spcBef>
                <a:spcPts val="800"/>
              </a:spcBef>
            </a:pPr>
            <a:r>
              <a:rPr lang="en-US" b="true" i="false" strike="noStrike" u="none" sz="1600">
                <a:solidFill>
                  <a:srgbClr val="2F4F4F"/>
                </a:solidFill>
                <a:latin typeface="Poppins"/>
                <a:ea typeface="Poppins"/>
                <a:cs typeface="Poppins"/>
                <a:sym typeface="Poppins"/>
              </a:rPr>
              <a:t>Action Execution</a:t>
            </a:r>
            <a:r>
              <a:rPr lang="en-US" b="false" i="false" strike="noStrike" u="none" sz="1600">
                <a:solidFill>
                  <a:srgbClr val="1F2329"/>
                </a:solidFill>
                <a:latin typeface="Poppins"/>
                <a:ea typeface="Poppins"/>
                <a:cs typeface="Poppins"/>
                <a:sym typeface="Poppins"/>
              </a:rPr>
              <a:t/>
            </a:r>
          </a:p>
          <a:p>
            <a:pPr algn="ctr" indent="0">
              <a:lnSpc>
                <a:spcPct val="108333"/>
              </a:lnSpc>
              <a:spcBef>
                <a:spcPts val="1000"/>
              </a:spcBef>
            </a:pPr>
            <a:r>
              <a:rPr lang="en-US" b="false" i="false" strike="noStrike" u="none" sz="1100">
                <a:solidFill>
                  <a:srgbClr val="555555"/>
                </a:solidFill>
                <a:latin typeface="Poppins"/>
                <a:ea typeface="Poppins"/>
                <a:cs typeface="Poppins"/>
                <a:sym typeface="Poppins"/>
              </a:rPr>
              <a:t>Performs specific tasks like playing prompts, transferring calls, sending SMS, or calling an API.</a:t>
            </a:r>
          </a:p>
        </p:txBody>
      </p:sp>
      <p:sp>
        <p:nvSpPr>
          <p:cNvPr name="AutoShape 12" id="12"/>
          <p:cNvSpPr/>
          <p:nvPr/>
        </p:nvSpPr>
        <p:spPr>
          <a:xfrm rot="0" flipH="false" flipV="false">
            <a:off x="9652000" y="1651000"/>
            <a:ext cx="2032000" cy="2794000"/>
          </a:xfrm>
          <a:prstGeom prst="roundRect">
            <a:avLst>
              <a:gd name="adj" fmla="val 5000"/>
            </a:avLst>
          </a:prstGeom>
          <a:solidFill>
            <a:srgbClr val="FFFFFF">
              <a:alpha val="100000"/>
            </a:srgbClr>
          </a:solidFill>
          <a:ln w="12700" cmpd="sng" cap="flat">
            <a:solidFill>
              <a:srgbClr val="2F4F4F">
                <a:alpha val="2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9779000" y="1841500"/>
            <a:ext cx="1778000" cy="2413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3200">
                <a:solidFill>
                  <a:srgbClr val="2F4F4F"/>
                </a:solidFill>
                <a:latin typeface="Poppins"/>
                <a:ea typeface="Poppins"/>
                <a:cs typeface="Poppins"/>
                <a:sym typeface="Poppins"/>
              </a:rPr>
              <a:t>05</a:t>
            </a:r>
            <a:r>
              <a:rPr lang="en-US" b="false" i="false" strike="noStrike" u="none" sz="1600">
                <a:solidFill>
                  <a:srgbClr val="1F2329"/>
                </a:solidFill>
                <a:latin typeface="Poppins"/>
                <a:ea typeface="Poppins"/>
                <a:cs typeface="Poppins"/>
                <a:sym typeface="Poppins"/>
              </a:rPr>
              <a:t/>
            </a:r>
            <a:endParaRPr lang="en-US" sz="1100"/>
          </a:p>
          <a:p>
            <a:pPr algn="ctr" indent="0">
              <a:lnSpc>
                <a:spcPct val="100000"/>
              </a:lnSpc>
              <a:spcBef>
                <a:spcPts val="800"/>
              </a:spcBef>
            </a:pPr>
            <a:r>
              <a:rPr lang="en-US" b="true" i="false" strike="noStrike" u="none" sz="1600">
                <a:solidFill>
                  <a:srgbClr val="2F4F4F"/>
                </a:solidFill>
                <a:latin typeface="Poppins"/>
                <a:ea typeface="Poppins"/>
                <a:cs typeface="Poppins"/>
                <a:sym typeface="Poppins"/>
              </a:rPr>
              <a:t>Call End</a:t>
            </a:r>
            <a:r>
              <a:rPr lang="en-US" b="false" i="false" strike="noStrike" u="none" sz="1600">
                <a:solidFill>
                  <a:srgbClr val="1F2329"/>
                </a:solidFill>
                <a:latin typeface="Poppins"/>
                <a:ea typeface="Poppins"/>
                <a:cs typeface="Poppins"/>
                <a:sym typeface="Poppins"/>
              </a:rPr>
              <a:t/>
            </a:r>
          </a:p>
          <a:p>
            <a:pPr algn="ctr" indent="0">
              <a:lnSpc>
                <a:spcPct val="108333"/>
              </a:lnSpc>
              <a:spcBef>
                <a:spcPts val="1000"/>
              </a:spcBef>
            </a:pPr>
            <a:r>
              <a:rPr lang="en-US" b="false" i="false" strike="noStrike" u="none" sz="1100">
                <a:solidFill>
                  <a:srgbClr val="555555"/>
                </a:solidFill>
                <a:latin typeface="Poppins"/>
                <a:ea typeface="Poppins"/>
                <a:cs typeface="Poppins"/>
                <a:sym typeface="Poppins"/>
              </a:rPr>
              <a:t>The flow completes, the system logs all call details, and the session is terminated.</a:t>
            </a:r>
          </a:p>
        </p:txBody>
      </p:sp>
      <p:sp>
        <p:nvSpPr>
          <p:cNvPr name="AutoShape 14" id="14"/>
          <p:cNvSpPr/>
          <p:nvPr/>
        </p:nvSpPr>
        <p:spPr>
          <a:xfrm rot="0" flipH="false" flipV="false">
            <a:off x="762000" y="4826000"/>
            <a:ext cx="10922000" cy="1524000"/>
          </a:xfrm>
          <a:prstGeom prst="roundRect">
            <a:avLst>
              <a:gd name="adj" fmla="val 10000"/>
            </a:avLst>
          </a:prstGeom>
          <a:solidFill>
            <a:srgbClr val="2F4F4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5232400"/>
            <a:ext cx="711200" cy="711200"/>
          </a:xfrm>
          <a:prstGeom prst="rect">
            <a:avLst/>
          </a:prstGeom>
        </p:spPr>
      </p:pic>
      <p:sp>
        <p:nvSpPr>
          <p:cNvPr name="AutoShape 16" id="16"/>
          <p:cNvSpPr/>
          <p:nvPr/>
        </p:nvSpPr>
        <p:spPr>
          <a:xfrm rot="0" flipH="false" flipV="false">
            <a:off x="2032000" y="5016500"/>
            <a:ext cx="9271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FFFFFF"/>
                </a:solidFill>
                <a:latin typeface="Poppins"/>
                <a:ea typeface="Poppins"/>
                <a:cs typeface="Poppins"/>
                <a:sym typeface="Poppins"/>
              </a:rPr>
              <a:t>Core Guarantee: Deterministic Execution</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spcBef>
                <a:spcPts val="1000"/>
              </a:spcBef>
            </a:pPr>
            <a:r>
              <a:rPr lang="en-US" b="false" i="false" strike="noStrike" u="none" sz="1300">
                <a:solidFill>
                  <a:srgbClr val="E6E6E6"/>
                </a:solidFill>
                <a:latin typeface="Poppins"/>
                <a:ea typeface="Poppins"/>
                <a:cs typeface="Poppins"/>
                <a:sym typeface="Poppins"/>
              </a:rPr>
              <a:t>The behavior of each node is predictable, ensuring process stability. All AI nodes are equipped with</a:t>
            </a:r>
            <a:r>
              <a:rPr lang="en-US" b="true" i="false" strike="noStrike" u="none" sz="1300">
                <a:solidFill>
                  <a:srgbClr val="E6E6E6"/>
                </a:solidFill>
                <a:latin typeface="Poppins"/>
                <a:ea typeface="Poppins"/>
                <a:cs typeface="Poppins"/>
                <a:sym typeface="Poppins"/>
              </a:rPr>
              <a:t>fallback mechanisms</a:t>
            </a:r>
            <a:r>
              <a:rPr lang="en-US" b="false" i="false" strike="noStrike" u="none" sz="1300">
                <a:solidFill>
                  <a:srgbClr val="E6E6E6"/>
                </a:solidFill>
                <a:latin typeface="Poppins"/>
                <a:ea typeface="Poppins"/>
                <a:cs typeface="Poppins"/>
                <a:sym typeface="Poppins"/>
              </a:rPr>
              <a:t>: if AI services are unavailable, the system automatically reverts to a reliable rule-based flow (e.g., a touch-tone menu) to guarantee service continuity.</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Build a Voice Receptionist in 3 Steps</a:t>
            </a:r>
            <a:endParaRPr lang="en-US" sz="1100"/>
          </a:p>
        </p:txBody>
      </p:sp>
      <p:sp>
        <p:nvSpPr>
          <p:cNvPr name="AutoShape 3" id="3"/>
          <p:cNvSpPr/>
          <p:nvPr/>
        </p:nvSpPr>
        <p:spPr>
          <a:xfrm rot="0" flipH="false" flipV="false">
            <a:off x="762000" y="1778000"/>
            <a:ext cx="3302000" cy="4318000"/>
          </a:xfrm>
          <a:prstGeom prst="roundRect">
            <a:avLst>
              <a:gd name="adj" fmla="val 4615"/>
            </a:avLst>
          </a:prstGeom>
          <a:solidFill>
            <a:srgbClr val="FFFFFF">
              <a:alpha val="95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2159000"/>
            <a:ext cx="609600" cy="609600"/>
          </a:xfrm>
          <a:prstGeom prst="rect">
            <a:avLst/>
          </a:prstGeom>
        </p:spPr>
      </p:pic>
      <p:sp>
        <p:nvSpPr>
          <p:cNvPr name="AutoShape 5" id="5"/>
          <p:cNvSpPr/>
          <p:nvPr/>
        </p:nvSpPr>
        <p:spPr>
          <a:xfrm rot="0" flipH="false" flipV="false">
            <a:off x="1778000" y="2159000"/>
            <a:ext cx="1905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2F4F4F"/>
                </a:solidFill>
                <a:latin typeface="Poppins"/>
                <a:ea typeface="Poppins"/>
                <a:cs typeface="Poppins"/>
                <a:sym typeface="Poppins"/>
              </a:rPr>
              <a:t>01</a:t>
            </a:r>
            <a:endParaRPr lang="en-US" sz="1100"/>
          </a:p>
        </p:txBody>
      </p:sp>
      <p:sp>
        <p:nvSpPr>
          <p:cNvPr name="AutoShape 6" id="6"/>
          <p:cNvSpPr/>
          <p:nvPr/>
        </p:nvSpPr>
        <p:spPr>
          <a:xfrm rot="0" flipH="false" flipV="false">
            <a:off x="1066800" y="3175000"/>
            <a:ext cx="26924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Poppins"/>
                <a:ea typeface="Poppins"/>
                <a:cs typeface="Poppins"/>
                <a:sym typeface="Poppins"/>
              </a:rPr>
              <a:t>Drag Nodes</a:t>
            </a:r>
            <a:endParaRPr lang="en-US" sz="1100"/>
          </a:p>
        </p:txBody>
      </p:sp>
      <p:sp>
        <p:nvSpPr>
          <p:cNvPr name="AutoShape 7" id="7"/>
          <p:cNvSpPr/>
          <p:nvPr/>
        </p:nvSpPr>
        <p:spPr>
          <a:xfrm rot="0" flipH="false" flipV="false">
            <a:off x="1066800" y="4064000"/>
            <a:ext cx="26924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Poppins"/>
                <a:ea typeface="Poppins"/>
                <a:cs typeface="Poppins"/>
                <a:sym typeface="Poppins"/>
              </a:rPr>
              <a:t>Drag the nodes you need (e.g., Greeting, Ask, Transfer) from the left-side node library onto the canvas. We offer 19 node types covering all scenarios.</a:t>
            </a:r>
            <a:endParaRPr lang="en-US" sz="1100"/>
          </a:p>
        </p:txBody>
      </p:sp>
      <p:sp>
        <p:nvSpPr>
          <p:cNvPr name="AutoShape 8" id="8"/>
          <p:cNvSpPr/>
          <p:nvPr/>
        </p:nvSpPr>
        <p:spPr>
          <a:xfrm rot="0" flipH="false" flipV="false">
            <a:off x="4445000" y="1778000"/>
            <a:ext cx="3302000" cy="4318000"/>
          </a:xfrm>
          <a:prstGeom prst="roundRect">
            <a:avLst>
              <a:gd name="adj" fmla="val 4615"/>
            </a:avLst>
          </a:prstGeom>
          <a:solidFill>
            <a:srgbClr val="FFFFFF">
              <a:alpha val="95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749800" y="2159000"/>
            <a:ext cx="609600" cy="609600"/>
          </a:xfrm>
          <a:prstGeom prst="rect">
            <a:avLst/>
          </a:prstGeom>
        </p:spPr>
      </p:pic>
      <p:sp>
        <p:nvSpPr>
          <p:cNvPr name="AutoShape 10" id="10"/>
          <p:cNvSpPr/>
          <p:nvPr/>
        </p:nvSpPr>
        <p:spPr>
          <a:xfrm rot="0" flipH="false" flipV="false">
            <a:off x="5461000" y="2159000"/>
            <a:ext cx="1905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2F4F4F"/>
                </a:solidFill>
                <a:latin typeface="Poppins"/>
                <a:ea typeface="Poppins"/>
                <a:cs typeface="Poppins"/>
                <a:sym typeface="Poppins"/>
              </a:rPr>
              <a:t>02</a:t>
            </a:r>
            <a:endParaRPr lang="en-US" sz="1100"/>
          </a:p>
        </p:txBody>
      </p:sp>
      <p:sp>
        <p:nvSpPr>
          <p:cNvPr name="AutoShape 11" id="11"/>
          <p:cNvSpPr/>
          <p:nvPr/>
        </p:nvSpPr>
        <p:spPr>
          <a:xfrm rot="0" flipH="false" flipV="false">
            <a:off x="4749800" y="3175000"/>
            <a:ext cx="26924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Poppins"/>
                <a:ea typeface="Poppins"/>
                <a:cs typeface="Poppins"/>
                <a:sym typeface="Poppins"/>
              </a:rPr>
              <a:t>Connect &amp; Configure</a:t>
            </a:r>
            <a:endParaRPr lang="en-US" sz="1100"/>
          </a:p>
        </p:txBody>
      </p:sp>
      <p:sp>
        <p:nvSpPr>
          <p:cNvPr name="AutoShape 12" id="12"/>
          <p:cNvSpPr/>
          <p:nvPr/>
        </p:nvSpPr>
        <p:spPr>
          <a:xfrm rot="0" flipH="false" flipV="false">
            <a:off x="4749800" y="4064000"/>
            <a:ext cx="26924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Poppins"/>
                <a:ea typeface="Poppins"/>
                <a:cs typeface="Poppins"/>
                <a:sym typeface="Poppins"/>
              </a:rPr>
              <a:t>Connect the nodes with your mouse to clearly express the call flow logic. Double-click any node to open the configuration panel and set scripts, conditions, API parameters, etc.</a:t>
            </a:r>
            <a:endParaRPr lang="en-US" sz="1100"/>
          </a:p>
        </p:txBody>
      </p:sp>
      <p:sp>
        <p:nvSpPr>
          <p:cNvPr name="AutoShape 13" id="13"/>
          <p:cNvSpPr/>
          <p:nvPr/>
        </p:nvSpPr>
        <p:spPr>
          <a:xfrm rot="0" flipH="false" flipV="false">
            <a:off x="8128000" y="1778000"/>
            <a:ext cx="3302000" cy="4318000"/>
          </a:xfrm>
          <a:prstGeom prst="roundRect">
            <a:avLst>
              <a:gd name="adj" fmla="val 4615"/>
            </a:avLst>
          </a:prstGeom>
          <a:solidFill>
            <a:srgbClr val="FFFFFF">
              <a:alpha val="95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432800" y="2159000"/>
            <a:ext cx="609600" cy="609600"/>
          </a:xfrm>
          <a:prstGeom prst="rect">
            <a:avLst/>
          </a:prstGeom>
        </p:spPr>
      </p:pic>
      <p:sp>
        <p:nvSpPr>
          <p:cNvPr name="AutoShape 15" id="15"/>
          <p:cNvSpPr/>
          <p:nvPr/>
        </p:nvSpPr>
        <p:spPr>
          <a:xfrm rot="0" flipH="false" flipV="false">
            <a:off x="9144000" y="2159000"/>
            <a:ext cx="1905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2F4F4F"/>
                </a:solidFill>
                <a:latin typeface="Poppins"/>
                <a:ea typeface="Poppins"/>
                <a:cs typeface="Poppins"/>
                <a:sym typeface="Poppins"/>
              </a:rPr>
              <a:t>03</a:t>
            </a:r>
            <a:endParaRPr lang="en-US" sz="1100"/>
          </a:p>
        </p:txBody>
      </p:sp>
      <p:sp>
        <p:nvSpPr>
          <p:cNvPr name="AutoShape 16" id="16"/>
          <p:cNvSpPr/>
          <p:nvPr/>
        </p:nvSpPr>
        <p:spPr>
          <a:xfrm rot="0" flipH="false" flipV="false">
            <a:off x="8432800" y="3175000"/>
            <a:ext cx="26924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Poppins"/>
                <a:ea typeface="Poppins"/>
                <a:cs typeface="Poppins"/>
                <a:sym typeface="Poppins"/>
              </a:rPr>
              <a:t>Simulate &amp; Publish</a:t>
            </a:r>
            <a:endParaRPr lang="en-US" sz="1100"/>
          </a:p>
        </p:txBody>
      </p:sp>
      <p:sp>
        <p:nvSpPr>
          <p:cNvPr name="AutoShape 17" id="17"/>
          <p:cNvSpPr/>
          <p:nvPr/>
        </p:nvSpPr>
        <p:spPr>
          <a:xfrm rot="0" flipH="false" flipV="false">
            <a:off x="8432800" y="4064000"/>
            <a:ext cx="26924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Poppins"/>
                <a:ea typeface="Poppins"/>
                <a:cs typeface="Poppins"/>
                <a:sym typeface="Poppins"/>
              </a:rPr>
              <a:t>Before publishing, you can use the "Text Simulation" feature to instantly verify if the flow works correctly. Once confirmed, click "One-Click Publish," and your voice receptionist is live.</a:t>
            </a:r>
            <a:endParaRPr lang="en-US" sz="1100"/>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Canvas Interaction Design: Built for Efficiency</a:t>
            </a:r>
            <a:endParaRPr lang="en-US" sz="1100"/>
          </a:p>
        </p:txBody>
      </p:sp>
      <p:sp>
        <p:nvSpPr>
          <p:cNvPr name="AutoShape 4" id="4"/>
          <p:cNvSpPr/>
          <p:nvPr/>
        </p:nvSpPr>
        <p:spPr>
          <a:xfrm rot="0" flipH="false" flipV="false">
            <a:off x="762000" y="1778000"/>
            <a:ext cx="5207000" cy="2159000"/>
          </a:xfrm>
          <a:prstGeom prst="roundRect">
            <a:avLst>
              <a:gd name="adj" fmla="val 7058"/>
            </a:avLst>
          </a:prstGeom>
          <a:solidFill>
            <a:srgbClr val="FFFFFF">
              <a:alpha val="95000"/>
            </a:srgbClr>
          </a:solidFill>
          <a:ln w="12700" cmpd="sng" cap="flat">
            <a:solidFill>
              <a:srgbClr val="E6EB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222500"/>
            <a:ext cx="812800" cy="812800"/>
          </a:xfrm>
          <a:prstGeom prst="rect">
            <a:avLst/>
          </a:prstGeom>
        </p:spPr>
      </p:pic>
      <p:sp>
        <p:nvSpPr>
          <p:cNvPr name="AutoShape 6" id="6"/>
          <p:cNvSpPr/>
          <p:nvPr/>
        </p:nvSpPr>
        <p:spPr>
          <a:xfrm rot="0" flipH="false" flipV="false">
            <a:off x="2032000" y="2032000"/>
            <a:ext cx="3683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900">
                <a:solidFill>
                  <a:srgbClr val="2F4F4F"/>
                </a:solidFill>
                <a:latin typeface="Poppins"/>
                <a:ea typeface="Poppins"/>
                <a:cs typeface="Poppins"/>
                <a:sym typeface="Poppins"/>
              </a:rPr>
              <a:t>Intuitive Operation</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false" i="false" strike="noStrike" u="none" sz="1300">
                <a:solidFill>
                  <a:srgbClr val="4B5563"/>
                </a:solidFill>
                <a:latin typeface="Noto Sans SC"/>
                <a:ea typeface="Noto Sans SC"/>
                <a:cs typeface="Noto Sans SC"/>
                <a:sym typeface="Noto Sans SC"/>
              </a:rPr>
              <a:t>Drag to add nodes, connect to express data flow, double-click to configure parameters. All operations follow user intuition.</a:t>
            </a:r>
          </a:p>
        </p:txBody>
      </p:sp>
      <p:sp>
        <p:nvSpPr>
          <p:cNvPr name="AutoShape 7" id="7"/>
          <p:cNvSpPr/>
          <p:nvPr/>
        </p:nvSpPr>
        <p:spPr>
          <a:xfrm rot="0" flipH="false" flipV="false">
            <a:off x="6223000" y="1778000"/>
            <a:ext cx="5207000" cy="2159000"/>
          </a:xfrm>
          <a:prstGeom prst="roundRect">
            <a:avLst>
              <a:gd name="adj" fmla="val 7058"/>
            </a:avLst>
          </a:prstGeom>
          <a:solidFill>
            <a:srgbClr val="FFFFFF">
              <a:alpha val="95000"/>
            </a:srgbClr>
          </a:solidFill>
          <a:ln w="12700" cmpd="sng" cap="flat">
            <a:solidFill>
              <a:srgbClr val="E6EB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2222500"/>
            <a:ext cx="812800" cy="812800"/>
          </a:xfrm>
          <a:prstGeom prst="rect">
            <a:avLst/>
          </a:prstGeom>
        </p:spPr>
      </p:pic>
      <p:sp>
        <p:nvSpPr>
          <p:cNvPr name="AutoShape 9" id="9"/>
          <p:cNvSpPr/>
          <p:nvPr/>
        </p:nvSpPr>
        <p:spPr>
          <a:xfrm rot="0" flipH="false" flipV="false">
            <a:off x="7493000" y="2032000"/>
            <a:ext cx="3683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900">
                <a:solidFill>
                  <a:srgbClr val="2F4F4F"/>
                </a:solidFill>
                <a:latin typeface="Poppins"/>
                <a:ea typeface="Poppins"/>
                <a:cs typeface="Poppins"/>
                <a:sym typeface="Poppins"/>
              </a:rPr>
              <a:t>Real-Time Validation</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false" i="false" strike="noStrike" u="none" sz="1300">
                <a:solidFill>
                  <a:srgbClr val="4B5563"/>
                </a:solidFill>
                <a:latin typeface="Noto Sans SC"/>
                <a:ea typeface="Noto Sans SC"/>
                <a:cs typeface="Noto Sans SC"/>
                <a:sym typeface="Noto Sans SC"/>
              </a:rPr>
              <a:t>The system continuously checks for issues like loops, disconnected paths, or missing required fields in your flow, providing instant error feedback to prevent configuration mistakes.</a:t>
            </a:r>
          </a:p>
        </p:txBody>
      </p:sp>
      <p:sp>
        <p:nvSpPr>
          <p:cNvPr name="AutoShape 10" id="10"/>
          <p:cNvSpPr/>
          <p:nvPr/>
        </p:nvSpPr>
        <p:spPr>
          <a:xfrm rot="0" flipH="false" flipV="false">
            <a:off x="762000" y="4191000"/>
            <a:ext cx="5207000" cy="2159000"/>
          </a:xfrm>
          <a:prstGeom prst="roundRect">
            <a:avLst>
              <a:gd name="adj" fmla="val 7058"/>
            </a:avLst>
          </a:prstGeom>
          <a:solidFill>
            <a:srgbClr val="FFFFFF">
              <a:alpha val="95000"/>
            </a:srgbClr>
          </a:solidFill>
          <a:ln w="12700" cmpd="sng" cap="flat">
            <a:solidFill>
              <a:srgbClr val="E6EB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635500"/>
            <a:ext cx="812800" cy="812800"/>
          </a:xfrm>
          <a:prstGeom prst="rect">
            <a:avLst/>
          </a:prstGeom>
        </p:spPr>
      </p:pic>
      <p:sp>
        <p:nvSpPr>
          <p:cNvPr name="AutoShape 12" id="12"/>
          <p:cNvSpPr/>
          <p:nvPr/>
        </p:nvSpPr>
        <p:spPr>
          <a:xfrm rot="0" flipH="false" flipV="false">
            <a:off x="2032000" y="4445000"/>
            <a:ext cx="3683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900">
                <a:solidFill>
                  <a:srgbClr val="2F4F4F"/>
                </a:solidFill>
                <a:latin typeface="Poppins"/>
                <a:ea typeface="Poppins"/>
                <a:cs typeface="Poppins"/>
                <a:sym typeface="Poppins"/>
              </a:rPr>
              <a:t>Config Preview</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false" i="false" strike="noStrike" u="none" sz="1300">
                <a:solidFill>
                  <a:srgbClr val="4B5563"/>
                </a:solidFill>
                <a:latin typeface="Noto Sans SC"/>
                <a:ea typeface="Noto Sans SC"/>
                <a:cs typeface="Noto Sans SC"/>
                <a:sym typeface="Noto Sans SC"/>
              </a:rPr>
              <a:t>After modifying a script, you can click the "Preview" button to hear the actual playback effect via TTS (Text-to-Speech), eliminating the need for repeated publish-test cycles.</a:t>
            </a:r>
          </a:p>
        </p:txBody>
      </p:sp>
      <p:sp>
        <p:nvSpPr>
          <p:cNvPr name="AutoShape 13" id="13"/>
          <p:cNvSpPr/>
          <p:nvPr/>
        </p:nvSpPr>
        <p:spPr>
          <a:xfrm rot="0" flipH="false" flipV="false">
            <a:off x="6223000" y="4191000"/>
            <a:ext cx="5207000" cy="2159000"/>
          </a:xfrm>
          <a:prstGeom prst="roundRect">
            <a:avLst>
              <a:gd name="adj" fmla="val 7058"/>
            </a:avLst>
          </a:prstGeom>
          <a:solidFill>
            <a:srgbClr val="FFFFFF">
              <a:alpha val="95000"/>
            </a:srgbClr>
          </a:solidFill>
          <a:ln w="12700" cmpd="sng" cap="flat">
            <a:solidFill>
              <a:srgbClr val="E6EB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77000" y="4635500"/>
            <a:ext cx="812800" cy="812800"/>
          </a:xfrm>
          <a:prstGeom prst="rect">
            <a:avLst/>
          </a:prstGeom>
        </p:spPr>
      </p:pic>
      <p:sp>
        <p:nvSpPr>
          <p:cNvPr name="AutoShape 15" id="15"/>
          <p:cNvSpPr/>
          <p:nvPr/>
        </p:nvSpPr>
        <p:spPr>
          <a:xfrm rot="0" flipH="false" flipV="false">
            <a:off x="7493000" y="4445000"/>
            <a:ext cx="3683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900">
                <a:solidFill>
                  <a:srgbClr val="2F4F4F"/>
                </a:solidFill>
                <a:latin typeface="Poppins"/>
                <a:ea typeface="Poppins"/>
                <a:cs typeface="Poppins"/>
                <a:sym typeface="Poppins"/>
              </a:rPr>
              <a:t>Professional Canvas Tools</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false" i="false" strike="noStrike" u="none" sz="1300">
                <a:solidFill>
                  <a:srgbClr val="4B5563"/>
                </a:solidFill>
                <a:latin typeface="Noto Sans SC"/>
                <a:ea typeface="Noto Sans SC"/>
                <a:cs typeface="Noto Sans SC"/>
                <a:sym typeface="Noto Sans SC"/>
              </a:rPr>
              <a:t>Supports infinite zoom, pan, and a minimap, making it easy to manage and view even large, complex flows with hundreds of nodes.</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19 Nodes, Four Progressive Layers, Meeting Diverse Needs</a:t>
            </a:r>
            <a:endParaRPr lang="en-US" sz="1100"/>
          </a:p>
        </p:txBody>
      </p:sp>
      <p:sp>
        <p:nvSpPr>
          <p:cNvPr name="AutoShape 4" id="4"/>
          <p:cNvSpPr/>
          <p:nvPr/>
        </p:nvSpPr>
        <p:spPr>
          <a:xfrm rot="0" flipH="false" flipV="false">
            <a:off x="762000" y="1778000"/>
            <a:ext cx="5207000" cy="2159000"/>
          </a:xfrm>
          <a:prstGeom prst="roundRect">
            <a:avLst>
              <a:gd name="adj" fmla="val 7058"/>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101600" cy="21590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79500" y="2159000"/>
            <a:ext cx="609600" cy="609600"/>
          </a:xfrm>
          <a:prstGeom prst="rect">
            <a:avLst/>
          </a:prstGeom>
        </p:spPr>
      </p:pic>
      <p:sp>
        <p:nvSpPr>
          <p:cNvPr name="AutoShape 7" id="7"/>
          <p:cNvSpPr/>
          <p:nvPr/>
        </p:nvSpPr>
        <p:spPr>
          <a:xfrm rot="0" flipH="false" flipV="false">
            <a:off x="1968500" y="2032000"/>
            <a:ext cx="3683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Core Layer (8 nodes)</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4A4A4A"/>
                </a:solidFill>
                <a:latin typeface="Noto Sans SC"/>
                <a:ea typeface="Noto Sans SC"/>
                <a:cs typeface="Noto Sans SC"/>
                <a:sym typeface="Noto Sans SC"/>
              </a:rPr>
              <a:t>Forms the basic backbone of the call flow. Includes: Call Trigger, Greeting, Ask, Collect Info, Transfer Call, Send SMS, Log Data, End Call.</a:t>
            </a:r>
          </a:p>
        </p:txBody>
      </p:sp>
      <p:sp>
        <p:nvSpPr>
          <p:cNvPr name="AutoShape 8" id="8"/>
          <p:cNvSpPr/>
          <p:nvPr/>
        </p:nvSpPr>
        <p:spPr>
          <a:xfrm rot="0" flipH="false" flipV="false">
            <a:off x="6223000" y="1778000"/>
            <a:ext cx="5207000" cy="2159000"/>
          </a:xfrm>
          <a:prstGeom prst="roundRect">
            <a:avLst>
              <a:gd name="adj" fmla="val 7058"/>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6223000" y="1778000"/>
            <a:ext cx="101600" cy="21590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40500" y="2159000"/>
            <a:ext cx="609600" cy="609600"/>
          </a:xfrm>
          <a:prstGeom prst="rect">
            <a:avLst/>
          </a:prstGeom>
        </p:spPr>
      </p:pic>
      <p:sp>
        <p:nvSpPr>
          <p:cNvPr name="AutoShape 11" id="11"/>
          <p:cNvSpPr/>
          <p:nvPr/>
        </p:nvSpPr>
        <p:spPr>
          <a:xfrm rot="0" flipH="false" flipV="false">
            <a:off x="7429500" y="2032000"/>
            <a:ext cx="3683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Logic Layer (4 nodes)</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4A4A4A"/>
                </a:solidFill>
                <a:latin typeface="Noto Sans SC"/>
                <a:ea typeface="Noto Sans SC"/>
                <a:cs typeface="Noto Sans SC"/>
                <a:sym typeface="Noto Sans SC"/>
              </a:rPr>
              <a:t>Enables intelligent control of the flow. Includes: Conditional Branch, If-Else, Business Hours, Call Type Detection.</a:t>
            </a:r>
          </a:p>
        </p:txBody>
      </p:sp>
      <p:sp>
        <p:nvSpPr>
          <p:cNvPr name="AutoShape 12" id="12"/>
          <p:cNvSpPr/>
          <p:nvPr/>
        </p:nvSpPr>
        <p:spPr>
          <a:xfrm rot="0" flipH="false" flipV="false">
            <a:off x="762000" y="4191000"/>
            <a:ext cx="5207000" cy="2159000"/>
          </a:xfrm>
          <a:prstGeom prst="roundRect">
            <a:avLst>
              <a:gd name="adj" fmla="val 7058"/>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762000" y="4191000"/>
            <a:ext cx="101600" cy="21590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79500" y="4572000"/>
            <a:ext cx="609600" cy="609600"/>
          </a:xfrm>
          <a:prstGeom prst="rect">
            <a:avLst/>
          </a:prstGeom>
        </p:spPr>
      </p:pic>
      <p:sp>
        <p:nvSpPr>
          <p:cNvPr name="AutoShape 15" id="15"/>
          <p:cNvSpPr/>
          <p:nvPr/>
        </p:nvSpPr>
        <p:spPr>
          <a:xfrm rot="0" flipH="false" flipV="false">
            <a:off x="1968500" y="4445000"/>
            <a:ext cx="3683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Integration Layer (4 nodes)</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4A4A4A"/>
                </a:solidFill>
                <a:latin typeface="Noto Sans SC"/>
                <a:ea typeface="Noto Sans SC"/>
                <a:cs typeface="Noto Sans SC"/>
                <a:sym typeface="Noto Sans SC"/>
              </a:rPr>
              <a:t>Connects external systems for data interoperability. Includes: CRM Lookup, Calendar Booking, Send Notification, Webhook.</a:t>
            </a:r>
          </a:p>
        </p:txBody>
      </p:sp>
      <p:sp>
        <p:nvSpPr>
          <p:cNvPr name="AutoShape 16" id="16"/>
          <p:cNvSpPr/>
          <p:nvPr/>
        </p:nvSpPr>
        <p:spPr>
          <a:xfrm rot="0" flipH="false" flipV="false">
            <a:off x="6223000" y="4191000"/>
            <a:ext cx="5207000" cy="2159000"/>
          </a:xfrm>
          <a:prstGeom prst="roundRect">
            <a:avLst>
              <a:gd name="adj" fmla="val 7058"/>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223000" y="4191000"/>
            <a:ext cx="101600" cy="21590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540500" y="4572000"/>
            <a:ext cx="609600" cy="609600"/>
          </a:xfrm>
          <a:prstGeom prst="rect">
            <a:avLst/>
          </a:prstGeom>
        </p:spPr>
      </p:pic>
      <p:sp>
        <p:nvSpPr>
          <p:cNvPr name="AutoShape 19" id="19"/>
          <p:cNvSpPr/>
          <p:nvPr/>
        </p:nvSpPr>
        <p:spPr>
          <a:xfrm rot="0" flipH="false" flipV="false">
            <a:off x="7429500" y="4445000"/>
            <a:ext cx="3683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AI Enhanced Layer (3 nodes)</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4A4A4A"/>
                </a:solidFill>
                <a:latin typeface="Noto Sans SC"/>
                <a:ea typeface="Noto Sans SC"/>
                <a:cs typeface="Noto Sans SC"/>
                <a:sym typeface="Noto Sans SC"/>
              </a:rPr>
              <a:t>Drives qualitative improvements in efficiency and experience at key points. Includes: Intent Detection, Knowledge Q&amp;A, Call Summary.</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Core Layer — The Solid Backbone of Call Flow</a:t>
            </a:r>
            <a:endParaRPr lang="en-US" sz="1100"/>
          </a:p>
        </p:txBody>
      </p:sp>
      <p:sp>
        <p:nvSpPr>
          <p:cNvPr name="AutoShape 4" id="4"/>
          <p:cNvSpPr/>
          <p:nvPr/>
        </p:nvSpPr>
        <p:spPr>
          <a:xfrm rot="0" flipH="false" flipV="false">
            <a:off x="762000" y="1651000"/>
            <a:ext cx="5207000" cy="1905000"/>
          </a:xfrm>
          <a:prstGeom prst="roundRect">
            <a:avLst>
              <a:gd name="adj" fmla="val 5333"/>
            </a:avLst>
          </a:prstGeom>
          <a:solidFill>
            <a:srgbClr val="FFFFFF">
              <a:alpha val="100000"/>
            </a:srgbClr>
          </a:solidFill>
          <a:ln w="12700" cmpd="sng" cap="flat">
            <a:solidFill>
              <a:srgbClr val="EBEEF1">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44700"/>
            <a:ext cx="609600" cy="609600"/>
          </a:xfrm>
          <a:prstGeom prst="rect">
            <a:avLst/>
          </a:prstGeom>
        </p:spPr>
      </p:pic>
      <p:sp>
        <p:nvSpPr>
          <p:cNvPr name="AutoShape 6" id="6"/>
          <p:cNvSpPr/>
          <p:nvPr/>
        </p:nvSpPr>
        <p:spPr>
          <a:xfrm rot="0" flipH="false" flipV="false">
            <a:off x="1905000" y="1841500"/>
            <a:ext cx="3683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Call Trigger</a:t>
            </a:r>
            <a:r>
              <a:rPr lang="en-US" b="false" i="false" strike="noStrike" u="none" sz="1600">
                <a:solidFill>
                  <a:srgbClr val="1F2329"/>
                </a:solidFill>
                <a:latin typeface="Poppins"/>
                <a:ea typeface="Poppins"/>
                <a:cs typeface="Poppins"/>
                <a:sym typeface="Poppins"/>
              </a:rPr>
              <a:t/>
            </a:r>
            <a:endParaRPr lang="en-US" sz="1100"/>
          </a:p>
          <a:p>
            <a:pPr algn="l" indent="0">
              <a:lnSpc>
                <a:spcPct val="108333"/>
              </a:lnSpc>
            </a:pPr>
            <a:r>
              <a:rPr lang="en-US" b="false" i="false" strike="noStrike" u="none" sz="1300">
                <a:solidFill>
                  <a:srgbClr val="55606F"/>
                </a:solidFill>
                <a:latin typeface="Poppins"/>
                <a:ea typeface="Poppins"/>
                <a:cs typeface="Poppins"/>
                <a:sym typeface="Poppins"/>
              </a:rPr>
              <a:t>The single entry point of the flow, automatically extracting caller ID, region, and other contextual data.</a:t>
            </a:r>
          </a:p>
        </p:txBody>
      </p:sp>
      <p:sp>
        <p:nvSpPr>
          <p:cNvPr name="AutoShape 7" id="7"/>
          <p:cNvSpPr/>
          <p:nvPr/>
        </p:nvSpPr>
        <p:spPr>
          <a:xfrm rot="0" flipH="false" flipV="false">
            <a:off x="6223000" y="1651000"/>
            <a:ext cx="5207000" cy="1905000"/>
          </a:xfrm>
          <a:prstGeom prst="roundRect">
            <a:avLst>
              <a:gd name="adj" fmla="val 5333"/>
            </a:avLst>
          </a:prstGeom>
          <a:solidFill>
            <a:srgbClr val="FFFFFF">
              <a:alpha val="100000"/>
            </a:srgbClr>
          </a:solidFill>
          <a:ln w="12700" cmpd="sng" cap="flat">
            <a:solidFill>
              <a:srgbClr val="EBEEF1">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2044700"/>
            <a:ext cx="609600" cy="609600"/>
          </a:xfrm>
          <a:prstGeom prst="rect">
            <a:avLst/>
          </a:prstGeom>
        </p:spPr>
      </p:pic>
      <p:sp>
        <p:nvSpPr>
          <p:cNvPr name="AutoShape 9" id="9"/>
          <p:cNvSpPr/>
          <p:nvPr/>
        </p:nvSpPr>
        <p:spPr>
          <a:xfrm rot="0" flipH="false" flipV="false">
            <a:off x="7366000" y="1841500"/>
            <a:ext cx="3683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Greeting / Opening</a:t>
            </a:r>
            <a:r>
              <a:rPr lang="en-US" b="false" i="false" strike="noStrike" u="none" sz="1600">
                <a:solidFill>
                  <a:srgbClr val="1F2329"/>
                </a:solidFill>
                <a:latin typeface="Poppins"/>
                <a:ea typeface="Poppins"/>
                <a:cs typeface="Poppins"/>
                <a:sym typeface="Poppins"/>
              </a:rPr>
              <a:t/>
            </a:r>
            <a:endParaRPr lang="en-US" sz="1100"/>
          </a:p>
          <a:p>
            <a:pPr algn="l" indent="0">
              <a:lnSpc>
                <a:spcPct val="108333"/>
              </a:lnSpc>
            </a:pPr>
            <a:r>
              <a:rPr lang="en-US" b="false" i="false" strike="noStrike" u="none" sz="1300">
                <a:solidFill>
                  <a:srgbClr val="55606F"/>
                </a:solidFill>
                <a:latin typeface="Poppins"/>
                <a:ea typeface="Poppins"/>
                <a:cs typeface="Poppins"/>
                <a:sym typeface="Poppins"/>
              </a:rPr>
              <a:t>Supports dynamic welcome messages tailored to different time periods and allows flexible variable substitution.</a:t>
            </a:r>
          </a:p>
        </p:txBody>
      </p:sp>
      <p:sp>
        <p:nvSpPr>
          <p:cNvPr name="AutoShape 10" id="10"/>
          <p:cNvSpPr/>
          <p:nvPr/>
        </p:nvSpPr>
        <p:spPr>
          <a:xfrm rot="0" flipH="false" flipV="false">
            <a:off x="762000" y="3810000"/>
            <a:ext cx="5207000" cy="1905000"/>
          </a:xfrm>
          <a:prstGeom prst="roundRect">
            <a:avLst>
              <a:gd name="adj" fmla="val 5333"/>
            </a:avLst>
          </a:prstGeom>
          <a:solidFill>
            <a:srgbClr val="FFFFFF">
              <a:alpha val="100000"/>
            </a:srgbClr>
          </a:solidFill>
          <a:ln w="12700" cmpd="sng" cap="flat">
            <a:solidFill>
              <a:srgbClr val="EBEEF1">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203700"/>
            <a:ext cx="609600" cy="609600"/>
          </a:xfrm>
          <a:prstGeom prst="rect">
            <a:avLst/>
          </a:prstGeom>
        </p:spPr>
      </p:pic>
      <p:sp>
        <p:nvSpPr>
          <p:cNvPr name="AutoShape 12" id="12"/>
          <p:cNvSpPr/>
          <p:nvPr/>
        </p:nvSpPr>
        <p:spPr>
          <a:xfrm rot="0" flipH="false" flipV="false">
            <a:off x="1905000" y="4000500"/>
            <a:ext cx="3683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Ask Question</a:t>
            </a:r>
            <a:r>
              <a:rPr lang="en-US" b="false" i="false" strike="noStrike" u="none" sz="1600">
                <a:solidFill>
                  <a:srgbClr val="1F2329"/>
                </a:solidFill>
                <a:latin typeface="Poppins"/>
                <a:ea typeface="Poppins"/>
                <a:cs typeface="Poppins"/>
                <a:sym typeface="Poppins"/>
              </a:rPr>
              <a:t/>
            </a:r>
            <a:endParaRPr lang="en-US" sz="1100"/>
          </a:p>
          <a:p>
            <a:pPr algn="l" indent="0">
              <a:lnSpc>
                <a:spcPct val="108333"/>
              </a:lnSpc>
            </a:pPr>
            <a:r>
              <a:rPr lang="en-US" b="false" i="false" strike="noStrike" u="none" sz="1300">
                <a:solidFill>
                  <a:srgbClr val="55606F"/>
                </a:solidFill>
                <a:latin typeface="Poppins"/>
                <a:ea typeface="Poppins"/>
                <a:cs typeface="Poppins"/>
                <a:sym typeface="Poppins"/>
              </a:rPr>
              <a:t>The most powerful interaction node, supporting dual input modes: real-time speech recognition and DTMF touch-tone.</a:t>
            </a:r>
          </a:p>
        </p:txBody>
      </p:sp>
      <p:sp>
        <p:nvSpPr>
          <p:cNvPr name="AutoShape 13" id="13"/>
          <p:cNvSpPr/>
          <p:nvPr/>
        </p:nvSpPr>
        <p:spPr>
          <a:xfrm rot="0" flipH="false" flipV="false">
            <a:off x="6223000" y="3810000"/>
            <a:ext cx="5207000" cy="1905000"/>
          </a:xfrm>
          <a:prstGeom prst="roundRect">
            <a:avLst>
              <a:gd name="adj" fmla="val 5333"/>
            </a:avLst>
          </a:prstGeom>
          <a:solidFill>
            <a:srgbClr val="FFFFFF">
              <a:alpha val="100000"/>
            </a:srgbClr>
          </a:solidFill>
          <a:ln w="12700" cmpd="sng" cap="flat">
            <a:solidFill>
              <a:srgbClr val="EBEEF1">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77000" y="4203700"/>
            <a:ext cx="609600" cy="609600"/>
          </a:xfrm>
          <a:prstGeom prst="rect">
            <a:avLst/>
          </a:prstGeom>
        </p:spPr>
      </p:pic>
      <p:sp>
        <p:nvSpPr>
          <p:cNvPr name="AutoShape 15" id="15"/>
          <p:cNvSpPr/>
          <p:nvPr/>
        </p:nvSpPr>
        <p:spPr>
          <a:xfrm rot="0" flipH="false" flipV="false">
            <a:off x="7366000" y="4000500"/>
            <a:ext cx="3683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Transfer Call</a:t>
            </a:r>
            <a:r>
              <a:rPr lang="en-US" b="false" i="false" strike="noStrike" u="none" sz="1600">
                <a:solidFill>
                  <a:srgbClr val="1F2329"/>
                </a:solidFill>
                <a:latin typeface="Poppins"/>
                <a:ea typeface="Poppins"/>
                <a:cs typeface="Poppins"/>
                <a:sym typeface="Poppins"/>
              </a:rPr>
              <a:t/>
            </a:r>
            <a:endParaRPr lang="en-US" sz="1100"/>
          </a:p>
          <a:p>
            <a:pPr algn="l" indent="0">
              <a:lnSpc>
                <a:spcPct val="108333"/>
              </a:lnSpc>
            </a:pPr>
            <a:r>
              <a:rPr lang="en-US" b="false" i="false" strike="noStrike" u="none" sz="1300">
                <a:solidFill>
                  <a:srgbClr val="55606F"/>
                </a:solidFill>
                <a:latin typeface="Poppins"/>
                <a:ea typeface="Poppins"/>
                <a:cs typeface="Poppins"/>
                <a:sym typeface="Poppins"/>
              </a:rPr>
              <a:t>Supports both "Warm Transfer" and "Cold Transfer" strategies, with configurable fallback paths for handling transfer failures.</a:t>
            </a:r>
          </a:p>
        </p:txBody>
      </p:sp>
      <p:sp>
        <p:nvSpPr>
          <p:cNvPr name="AutoShape 16" id="16"/>
          <p:cNvSpPr/>
          <p:nvPr/>
        </p:nvSpPr>
        <p:spPr>
          <a:xfrm rot="0" flipH="false" flipV="false">
            <a:off x="762000" y="5905500"/>
            <a:ext cx="10668000" cy="762000"/>
          </a:xfrm>
          <a:prstGeom prst="roundRect">
            <a:avLst>
              <a:gd name="adj" fmla="val 2000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52500" y="5905500"/>
            <a:ext cx="10287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FFFFFF"/>
                </a:solidFill>
                <a:latin typeface="Poppins"/>
                <a:ea typeface="Poppins"/>
                <a:cs typeface="Poppins"/>
                <a:sym typeface="Poppins"/>
              </a:rPr>
              <a:t>💡 Design Philosophy:</a:t>
            </a:r>
            <a:r>
              <a:rPr lang="en-US" b="false" i="false" strike="noStrike" u="none" sz="1300">
                <a:solidFill>
                  <a:srgbClr val="E6EBEB"/>
                </a:solidFill>
                <a:latin typeface="Poppins"/>
                <a:ea typeface="Poppins"/>
                <a:cs typeface="Poppins"/>
                <a:sym typeface="Poppins"/>
              </a:rPr>
              <a:t>Each node's configuration items are carefully designed to ensure users "know what to configure" intuitively, significantly lowering the technical barrier to use.</a:t>
            </a:r>
            <a:endParaRPr lang="en-US" sz="1100"/>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Logic Layer — The Intelligent Control Hub of the Flow</a:t>
            </a:r>
            <a:endParaRPr lang="en-US" sz="1100"/>
          </a:p>
        </p:txBody>
      </p:sp>
      <p:sp>
        <p:nvSpPr>
          <p:cNvPr name="AutoShape 4" id="4"/>
          <p:cNvSpPr/>
          <p:nvPr/>
        </p:nvSpPr>
        <p:spPr>
          <a:xfrm rot="0" flipH="false" flipV="false">
            <a:off x="762000" y="1651000"/>
            <a:ext cx="5207000" cy="2222500"/>
          </a:xfrm>
          <a:prstGeom prst="roundRect">
            <a:avLst>
              <a:gd name="adj" fmla="val 6857"/>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2171700"/>
            <a:ext cx="711200" cy="711200"/>
          </a:xfrm>
          <a:prstGeom prst="rect">
            <a:avLst/>
          </a:prstGeom>
        </p:spPr>
      </p:pic>
      <p:sp>
        <p:nvSpPr>
          <p:cNvPr name="AutoShape 6" id="6"/>
          <p:cNvSpPr/>
          <p:nvPr/>
        </p:nvSpPr>
        <p:spPr>
          <a:xfrm rot="0" flipH="false" flipV="false">
            <a:off x="2032000" y="1905000"/>
            <a:ext cx="3556000" cy="1714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2F4F4F"/>
                </a:solidFill>
                <a:latin typeface="Poppins"/>
                <a:ea typeface="Poppins"/>
                <a:cs typeface="Poppins"/>
                <a:sym typeface="Poppins"/>
              </a:rPr>
              <a:t>Conditional Branch</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spcBef>
                <a:spcPts val="800"/>
              </a:spcBef>
            </a:pPr>
            <a:r>
              <a:rPr lang="en-US" b="false" i="false" strike="noStrike" u="none" sz="1300">
                <a:solidFill>
                  <a:srgbClr val="4B5563"/>
                </a:solidFill>
                <a:latin typeface="Poppins"/>
                <a:ea typeface="Poppins"/>
                <a:cs typeface="Poppins"/>
                <a:sym typeface="Poppins"/>
              </a:rPr>
              <a:t>Supports multi-condition routing with up to 4 branches, conditions can be user input, API return values, etc., offering extreme flexibility.</a:t>
            </a:r>
          </a:p>
        </p:txBody>
      </p:sp>
      <p:sp>
        <p:nvSpPr>
          <p:cNvPr name="AutoShape 7" id="7"/>
          <p:cNvSpPr/>
          <p:nvPr/>
        </p:nvSpPr>
        <p:spPr>
          <a:xfrm rot="0" flipH="false" flipV="false">
            <a:off x="6223000" y="1651000"/>
            <a:ext cx="5207000" cy="2222500"/>
          </a:xfrm>
          <a:prstGeom prst="roundRect">
            <a:avLst>
              <a:gd name="adj" fmla="val 6857"/>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27800" y="2171700"/>
            <a:ext cx="711200" cy="711200"/>
          </a:xfrm>
          <a:prstGeom prst="rect">
            <a:avLst/>
          </a:prstGeom>
        </p:spPr>
      </p:pic>
      <p:sp>
        <p:nvSpPr>
          <p:cNvPr name="AutoShape 9" id="9"/>
          <p:cNvSpPr/>
          <p:nvPr/>
        </p:nvSpPr>
        <p:spPr>
          <a:xfrm rot="0" flipH="false" flipV="false">
            <a:off x="7493000" y="1905000"/>
            <a:ext cx="3556000" cy="1714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2F4F4F"/>
                </a:solidFill>
                <a:latin typeface="Poppins"/>
                <a:ea typeface="Poppins"/>
                <a:cs typeface="Poppins"/>
                <a:sym typeface="Poppins"/>
              </a:rPr>
              <a:t>If/Else</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spcBef>
                <a:spcPts val="800"/>
              </a:spcBef>
            </a:pPr>
            <a:r>
              <a:rPr lang="en-US" b="false" i="false" strike="noStrike" u="none" sz="1300">
                <a:solidFill>
                  <a:srgbClr val="4B5563"/>
                </a:solidFill>
                <a:latin typeface="Poppins"/>
                <a:ea typeface="Poppins"/>
                <a:cs typeface="Poppins"/>
                <a:sym typeface="Poppins"/>
              </a:rPr>
              <a:t>Designed specifically for simple binary judgments, more intuitive than "Conditional Branch" and reduces configuration complexity.</a:t>
            </a:r>
          </a:p>
        </p:txBody>
      </p:sp>
      <p:sp>
        <p:nvSpPr>
          <p:cNvPr name="AutoShape 10" id="10"/>
          <p:cNvSpPr/>
          <p:nvPr/>
        </p:nvSpPr>
        <p:spPr>
          <a:xfrm rot="0" flipH="false" flipV="false">
            <a:off x="762000" y="4191000"/>
            <a:ext cx="5207000" cy="2222500"/>
          </a:xfrm>
          <a:prstGeom prst="roundRect">
            <a:avLst>
              <a:gd name="adj" fmla="val 6857"/>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66800" y="4711700"/>
            <a:ext cx="711200" cy="711200"/>
          </a:xfrm>
          <a:prstGeom prst="rect">
            <a:avLst/>
          </a:prstGeom>
        </p:spPr>
      </p:pic>
      <p:sp>
        <p:nvSpPr>
          <p:cNvPr name="AutoShape 12" id="12"/>
          <p:cNvSpPr/>
          <p:nvPr/>
        </p:nvSpPr>
        <p:spPr>
          <a:xfrm rot="0" flipH="false" flipV="false">
            <a:off x="2032000" y="4445000"/>
            <a:ext cx="3556000" cy="1714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2F4F4F"/>
                </a:solidFill>
                <a:latin typeface="Poppins"/>
                <a:ea typeface="Poppins"/>
                <a:cs typeface="Poppins"/>
                <a:sym typeface="Poppins"/>
              </a:rPr>
              <a:t>Business Hours</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spcBef>
                <a:spcPts val="800"/>
              </a:spcBef>
            </a:pPr>
            <a:r>
              <a:rPr lang="en-US" b="false" i="false" strike="noStrike" u="none" sz="1300">
                <a:solidFill>
                  <a:srgbClr val="4B5563"/>
                </a:solidFill>
                <a:latin typeface="Poppins"/>
                <a:ea typeface="Poppins"/>
                <a:cs typeface="Poppins"/>
                <a:sym typeface="Poppins"/>
              </a:rPr>
              <a:t>Built-in time zone, holiday calendar, making it easy to implement different flows for working and non-working hours.</a:t>
            </a:r>
          </a:p>
        </p:txBody>
      </p:sp>
      <p:sp>
        <p:nvSpPr>
          <p:cNvPr name="AutoShape 13" id="13"/>
          <p:cNvSpPr/>
          <p:nvPr/>
        </p:nvSpPr>
        <p:spPr>
          <a:xfrm rot="0" flipH="false" flipV="false">
            <a:off x="6223000" y="4191000"/>
            <a:ext cx="5207000" cy="2222500"/>
          </a:xfrm>
          <a:prstGeom prst="roundRect">
            <a:avLst>
              <a:gd name="adj" fmla="val 6857"/>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527800" y="4711700"/>
            <a:ext cx="711200" cy="711200"/>
          </a:xfrm>
          <a:prstGeom prst="rect">
            <a:avLst/>
          </a:prstGeom>
        </p:spPr>
      </p:pic>
      <p:sp>
        <p:nvSpPr>
          <p:cNvPr name="AutoShape 15" id="15"/>
          <p:cNvSpPr/>
          <p:nvPr/>
        </p:nvSpPr>
        <p:spPr>
          <a:xfrm rot="0" flipH="false" flipV="false">
            <a:off x="7493000" y="4445000"/>
            <a:ext cx="3556000" cy="1714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2F4F4F"/>
                </a:solidFill>
                <a:latin typeface="Poppins"/>
                <a:ea typeface="Poppins"/>
                <a:cs typeface="Poppins"/>
                <a:sym typeface="Poppins"/>
              </a:rPr>
              <a:t>Call Type Detection</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spcBef>
                <a:spcPts val="800"/>
              </a:spcBef>
            </a:pPr>
            <a:r>
              <a:rPr lang="en-US" b="false" i="false" strike="noStrike" u="none" sz="1300">
                <a:solidFill>
                  <a:srgbClr val="4B5563"/>
                </a:solidFill>
                <a:latin typeface="Poppins"/>
                <a:ea typeface="Poppins"/>
                <a:cs typeface="Poppins"/>
                <a:sym typeface="Poppins"/>
              </a:rPr>
              <a:t>Automatically identifies if the caller is a new customer, returning customer, VIP, or blacklisted user and executes different flows accordingly.</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Rules-First, AI-Enhanced: A Pragmatic AI Strategy</a:t>
            </a:r>
            <a:endParaRPr lang="en-US" sz="1100"/>
          </a:p>
        </p:txBody>
      </p:sp>
      <p:sp>
        <p:nvSpPr>
          <p:cNvPr name="AutoShape 4" id="4"/>
          <p:cNvSpPr/>
          <p:nvPr/>
        </p:nvSpPr>
        <p:spPr>
          <a:xfrm rot="0" flipH="false" flipV="false">
            <a:off x="762000" y="1524000"/>
            <a:ext cx="5207000" cy="2349500"/>
          </a:xfrm>
          <a:prstGeom prst="roundRect">
            <a:avLst>
              <a:gd name="adj" fmla="val 6486"/>
            </a:avLst>
          </a:prstGeom>
          <a:solidFill>
            <a:srgbClr val="FFFFFF">
              <a:alpha val="95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78000"/>
            <a:ext cx="406400" cy="406400"/>
          </a:xfrm>
          <a:prstGeom prst="rect">
            <a:avLst/>
          </a:prstGeom>
        </p:spPr>
      </p:pic>
      <p:sp>
        <p:nvSpPr>
          <p:cNvPr name="AutoShape 6" id="6"/>
          <p:cNvSpPr/>
          <p:nvPr/>
        </p:nvSpPr>
        <p:spPr>
          <a:xfrm rot="0" flipH="false" flipV="false">
            <a:off x="1587500" y="1752600"/>
            <a:ext cx="4064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The 80/20 Principle</a:t>
            </a:r>
            <a:endParaRPr lang="en-US" sz="1100"/>
          </a:p>
        </p:txBody>
      </p:sp>
      <p:sp>
        <p:nvSpPr>
          <p:cNvPr name="AutoShape 7" id="7"/>
          <p:cNvSpPr/>
          <p:nvPr/>
        </p:nvSpPr>
        <p:spPr>
          <a:xfrm rot="0" flipH="false" flipV="false">
            <a:off x="1016000" y="2413000"/>
            <a:ext cx="4699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3C3C3C"/>
                </a:solidFill>
                <a:latin typeface="Poppins"/>
                <a:ea typeface="Poppins"/>
                <a:cs typeface="Poppins"/>
                <a:sym typeface="Poppins"/>
              </a:rPr>
              <a:t>Our</a:t>
            </a:r>
            <a:r>
              <a:rPr lang="en-US" b="true" i="false" strike="noStrike" u="none" sz="1300">
                <a:solidFill>
                  <a:srgbClr val="2F4F4F"/>
                </a:solidFill>
                <a:latin typeface="Poppins"/>
                <a:ea typeface="Poppins"/>
                <a:cs typeface="Poppins"/>
                <a:sym typeface="Poppins"/>
              </a:rPr>
              <a:t>17 rule-based nodes</a:t>
            </a:r>
            <a:r>
              <a:rPr lang="en-US" b="false" i="false" strike="noStrike" u="none" sz="1300">
                <a:solidFill>
                  <a:srgbClr val="3C3C3C"/>
                </a:solidFill>
                <a:latin typeface="Poppins"/>
                <a:ea typeface="Poppins"/>
                <a:cs typeface="Poppins"/>
                <a:sym typeface="Poppins"/>
              </a:rPr>
              <a:t>already cover</a:t>
            </a:r>
            <a:r>
              <a:rPr lang="en-US" b="true" i="false" strike="noStrike" u="none" sz="1300">
                <a:solidFill>
                  <a:srgbClr val="2F4F4F"/>
                </a:solidFill>
                <a:latin typeface="Poppins"/>
                <a:ea typeface="Poppins"/>
                <a:cs typeface="Poppins"/>
                <a:sym typeface="Poppins"/>
              </a:rPr>
              <a:t>80%</a:t>
            </a:r>
            <a:r>
              <a:rPr lang="en-US" b="false" i="false" strike="noStrike" u="none" sz="1300">
                <a:solidFill>
                  <a:srgbClr val="3C3C3C"/>
                </a:solidFill>
                <a:latin typeface="Poppins"/>
                <a:ea typeface="Poppins"/>
                <a:cs typeface="Poppins"/>
                <a:sym typeface="Poppins"/>
              </a:rPr>
              <a:t>of common business scenarios. This solution is</a:t>
            </a:r>
            <a:r>
              <a:rPr lang="en-US" b="true" i="false" strike="noStrike" u="none" sz="1300">
                <a:solidFill>
                  <a:srgbClr val="2F4F4F"/>
                </a:solidFill>
                <a:latin typeface="Poppins"/>
                <a:ea typeface="Poppins"/>
                <a:cs typeface="Poppins"/>
                <a:sym typeface="Poppins"/>
              </a:rPr>
              <a:t>completely free of charge</a:t>
            </a:r>
            <a:r>
              <a:rPr lang="en-US" b="false" i="false" strike="noStrike" u="none" sz="1300">
                <a:solidFill>
                  <a:srgbClr val="3C3C3C"/>
                </a:solidFill>
                <a:latin typeface="Poppins"/>
                <a:ea typeface="Poppins"/>
                <a:cs typeface="Poppins"/>
                <a:sym typeface="Poppins"/>
              </a:rPr>
              <a:t>and guarantees a response latency</a:t>
            </a:r>
            <a:r>
              <a:rPr lang="en-US" b="true" i="false" strike="noStrike" u="none" sz="1300">
                <a:solidFill>
                  <a:srgbClr val="2F4F4F"/>
                </a:solidFill>
                <a:latin typeface="Poppins"/>
                <a:ea typeface="Poppins"/>
                <a:cs typeface="Poppins"/>
                <a:sym typeface="Poppins"/>
              </a:rPr>
              <a:t>below 10 milliseconds</a:t>
            </a:r>
            <a:r>
              <a:rPr lang="en-US" b="false" i="false" strike="noStrike" u="none" sz="1300">
                <a:solidFill>
                  <a:srgbClr val="3C3C3C"/>
                </a:solidFill>
                <a:latin typeface="Poppins"/>
                <a:ea typeface="Poppins"/>
                <a:cs typeface="Poppins"/>
                <a:sym typeface="Poppins"/>
              </a:rPr>
              <a:t>for unmatched speed.</a:t>
            </a:r>
            <a:endParaRPr lang="en-US" sz="1100"/>
          </a:p>
        </p:txBody>
      </p:sp>
      <p:sp>
        <p:nvSpPr>
          <p:cNvPr name="AutoShape 8" id="8"/>
          <p:cNvSpPr/>
          <p:nvPr/>
        </p:nvSpPr>
        <p:spPr>
          <a:xfrm rot="0" flipH="false" flipV="false">
            <a:off x="6223000" y="1524000"/>
            <a:ext cx="5207000" cy="2349500"/>
          </a:xfrm>
          <a:prstGeom prst="roundRect">
            <a:avLst>
              <a:gd name="adj" fmla="val 6486"/>
            </a:avLst>
          </a:prstGeom>
          <a:solidFill>
            <a:srgbClr val="FFFFFF">
              <a:alpha val="95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1778000"/>
            <a:ext cx="406400" cy="406400"/>
          </a:xfrm>
          <a:prstGeom prst="rect">
            <a:avLst/>
          </a:prstGeom>
        </p:spPr>
      </p:pic>
      <p:sp>
        <p:nvSpPr>
          <p:cNvPr name="AutoShape 10" id="10"/>
          <p:cNvSpPr/>
          <p:nvPr/>
        </p:nvSpPr>
        <p:spPr>
          <a:xfrm rot="0" flipH="false" flipV="false">
            <a:off x="7048500" y="1752600"/>
            <a:ext cx="4064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Precise AI Introduction</a:t>
            </a:r>
            <a:endParaRPr lang="en-US" sz="1100"/>
          </a:p>
        </p:txBody>
      </p:sp>
      <p:sp>
        <p:nvSpPr>
          <p:cNvPr name="AutoShape 11" id="11"/>
          <p:cNvSpPr/>
          <p:nvPr/>
        </p:nvSpPr>
        <p:spPr>
          <a:xfrm rot="0" flipH="false" flipV="false">
            <a:off x="6477000" y="2413000"/>
            <a:ext cx="4699000" cy="1206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3C3C3C"/>
                </a:solidFill>
                <a:latin typeface="Poppins"/>
                <a:ea typeface="Poppins"/>
                <a:cs typeface="Poppins"/>
                <a:sym typeface="Poppins"/>
              </a:rPr>
              <a:t>AI is only introduced at 3 high-impact "inflection points":</a:t>
            </a:r>
            <a:r>
              <a:rPr lang="en-US" b="false" i="false" strike="noStrike" u="none" sz="1200">
                <a:solidFill>
                  <a:srgbClr val="1F2329"/>
                </a:solidFill>
                <a:latin typeface="Poppins"/>
                <a:ea typeface="Poppins"/>
                <a:cs typeface="Poppins"/>
                <a:sym typeface="Poppins"/>
              </a:rPr>
              <a:t/>
            </a:r>
            <a:br>
              <a:rPr lang="en-US" b="false" i="false" strike="noStrike" u="none" sz="1200">
                <a:solidFill>
                  <a:srgbClr val="1F2329"/>
                </a:solidFill>
                <a:latin typeface="Poppins"/>
                <a:ea typeface="Poppins"/>
                <a:cs typeface="Poppins"/>
                <a:sym typeface="Poppins"/>
              </a:rPr>
            </a:br>
            <a:r>
              <a:rPr lang="en-US" b="false" i="false" strike="noStrike" u="none" sz="1200">
                <a:solidFill>
                  <a:srgbClr val="3C3C3C"/>
                </a:solidFill>
                <a:latin typeface="Poppins"/>
                <a:ea typeface="Poppins"/>
                <a:cs typeface="Poppins"/>
                <a:sym typeface="Poppins"/>
              </a:rPr>
              <a:t>•</a:t>
            </a:r>
            <a:r>
              <a:rPr lang="en-US" b="true" i="false" strike="noStrike" u="none" sz="1200">
                <a:solidFill>
                  <a:srgbClr val="3C3C3C"/>
                </a:solidFill>
                <a:latin typeface="Poppins"/>
                <a:ea typeface="Poppins"/>
                <a:cs typeface="Poppins"/>
                <a:sym typeface="Poppins"/>
              </a:rPr>
              <a:t>Intent Detection:</a:t>
            </a:r>
            <a:r>
              <a:rPr lang="en-US" b="false" i="false" strike="noStrike" u="none" sz="1200">
                <a:solidFill>
                  <a:srgbClr val="3C3C3C"/>
                </a:solidFill>
                <a:latin typeface="Poppins"/>
                <a:ea typeface="Poppins"/>
                <a:cs typeface="Poppins"/>
                <a:sym typeface="Poppins"/>
              </a:rPr>
              <a:t>Reduces call duration by</a:t>
            </a:r>
            <a:r>
              <a:rPr lang="en-US" b="true" i="false" strike="noStrike" u="none" sz="1200">
                <a:solidFill>
                  <a:srgbClr val="2F4F4F"/>
                </a:solidFill>
                <a:latin typeface="Poppins"/>
                <a:ea typeface="Poppins"/>
                <a:cs typeface="Poppins"/>
                <a:sym typeface="Poppins"/>
              </a:rPr>
              <a:t>35%</a:t>
            </a:r>
            <a:r>
              <a:rPr lang="en-US" b="false" i="false" strike="noStrike" u="none" sz="1200">
                <a:solidFill>
                  <a:srgbClr val="1F2329"/>
                </a:solidFill>
                <a:latin typeface="Poppins"/>
                <a:ea typeface="Poppins"/>
                <a:cs typeface="Poppins"/>
                <a:sym typeface="Poppins"/>
              </a:rPr>
              <a:t/>
            </a:r>
            <a:br>
              <a:rPr lang="en-US" b="false" i="false" strike="noStrike" u="none" sz="1200">
                <a:solidFill>
                  <a:srgbClr val="1F2329"/>
                </a:solidFill>
                <a:latin typeface="Poppins"/>
                <a:ea typeface="Poppins"/>
                <a:cs typeface="Poppins"/>
                <a:sym typeface="Poppins"/>
              </a:rPr>
            </a:br>
            <a:r>
              <a:rPr lang="en-US" b="false" i="false" strike="noStrike" u="none" sz="1200">
                <a:solidFill>
                  <a:srgbClr val="3C3C3C"/>
                </a:solidFill>
                <a:latin typeface="Poppins"/>
                <a:ea typeface="Poppins"/>
                <a:cs typeface="Poppins"/>
                <a:sym typeface="Poppins"/>
              </a:rPr>
              <a:t>•</a:t>
            </a:r>
            <a:r>
              <a:rPr lang="en-US" b="true" i="false" strike="noStrike" u="none" sz="1200">
                <a:solidFill>
                  <a:srgbClr val="3C3C3C"/>
                </a:solidFill>
                <a:latin typeface="Poppins"/>
                <a:ea typeface="Poppins"/>
                <a:cs typeface="Poppins"/>
                <a:sym typeface="Poppins"/>
              </a:rPr>
              <a:t>Knowledge Q&amp;A:</a:t>
            </a:r>
            <a:r>
              <a:rPr lang="en-US" b="false" i="false" strike="noStrike" u="none" sz="1200">
                <a:solidFill>
                  <a:srgbClr val="3C3C3C"/>
                </a:solidFill>
                <a:latin typeface="Poppins"/>
                <a:ea typeface="Poppins"/>
                <a:cs typeface="Poppins"/>
                <a:sym typeface="Poppins"/>
              </a:rPr>
              <a:t>Reduces human transfer rates by</a:t>
            </a:r>
            <a:r>
              <a:rPr lang="en-US" b="true" i="false" strike="noStrike" u="none" sz="1200">
                <a:solidFill>
                  <a:srgbClr val="2F4F4F"/>
                </a:solidFill>
                <a:latin typeface="Poppins"/>
                <a:ea typeface="Poppins"/>
                <a:cs typeface="Poppins"/>
                <a:sym typeface="Poppins"/>
              </a:rPr>
              <a:t>68%</a:t>
            </a:r>
            <a:r>
              <a:rPr lang="en-US" b="false" i="false" strike="noStrike" u="none" sz="1200">
                <a:solidFill>
                  <a:srgbClr val="1F2329"/>
                </a:solidFill>
                <a:latin typeface="Poppins"/>
                <a:ea typeface="Poppins"/>
                <a:cs typeface="Poppins"/>
                <a:sym typeface="Poppins"/>
              </a:rPr>
              <a:t/>
            </a:r>
            <a:br>
              <a:rPr lang="en-US" b="false" i="false" strike="noStrike" u="none" sz="1200">
                <a:solidFill>
                  <a:srgbClr val="1F2329"/>
                </a:solidFill>
                <a:latin typeface="Poppins"/>
                <a:ea typeface="Poppins"/>
                <a:cs typeface="Poppins"/>
                <a:sym typeface="Poppins"/>
              </a:rPr>
            </a:br>
            <a:r>
              <a:rPr lang="en-US" b="false" i="false" strike="noStrike" u="none" sz="1200">
                <a:solidFill>
                  <a:srgbClr val="3C3C3C"/>
                </a:solidFill>
                <a:latin typeface="Poppins"/>
                <a:ea typeface="Poppins"/>
                <a:cs typeface="Poppins"/>
                <a:sym typeface="Poppins"/>
              </a:rPr>
              <a:t>•</a:t>
            </a:r>
            <a:r>
              <a:rPr lang="en-US" b="true" i="false" strike="noStrike" u="none" sz="1200">
                <a:solidFill>
                  <a:srgbClr val="3C3C3C"/>
                </a:solidFill>
                <a:latin typeface="Poppins"/>
                <a:ea typeface="Poppins"/>
                <a:cs typeface="Poppins"/>
                <a:sym typeface="Poppins"/>
              </a:rPr>
              <a:t>Call Summary:</a:t>
            </a:r>
            <a:r>
              <a:rPr lang="en-US" b="false" i="false" strike="noStrike" u="none" sz="1200">
                <a:solidFill>
                  <a:srgbClr val="3C3C3C"/>
                </a:solidFill>
                <a:latin typeface="Poppins"/>
                <a:ea typeface="Poppins"/>
                <a:cs typeface="Poppins"/>
                <a:sym typeface="Poppins"/>
              </a:rPr>
              <a:t>Saves</a:t>
            </a:r>
            <a:r>
              <a:rPr lang="en-US" b="true" i="false" strike="noStrike" u="none" sz="1200">
                <a:solidFill>
                  <a:srgbClr val="2F4F4F"/>
                </a:solidFill>
                <a:latin typeface="Poppins"/>
                <a:ea typeface="Poppins"/>
                <a:cs typeface="Poppins"/>
                <a:sym typeface="Poppins"/>
              </a:rPr>
              <a:t>100%</a:t>
            </a:r>
            <a:r>
              <a:rPr lang="en-US" b="false" i="false" strike="noStrike" u="none" sz="1200">
                <a:solidFill>
                  <a:srgbClr val="3C3C3C"/>
                </a:solidFill>
                <a:latin typeface="Poppins"/>
                <a:ea typeface="Poppins"/>
                <a:cs typeface="Poppins"/>
                <a:sym typeface="Poppins"/>
              </a:rPr>
              <a:t>of manual note-taking time.</a:t>
            </a:r>
            <a:endParaRPr lang="en-US" sz="1100"/>
          </a:p>
        </p:txBody>
      </p:sp>
      <p:sp>
        <p:nvSpPr>
          <p:cNvPr name="AutoShape 12" id="12"/>
          <p:cNvSpPr/>
          <p:nvPr/>
        </p:nvSpPr>
        <p:spPr>
          <a:xfrm rot="0" flipH="false" flipV="false">
            <a:off x="762000" y="4127500"/>
            <a:ext cx="5207000" cy="2349500"/>
          </a:xfrm>
          <a:prstGeom prst="roundRect">
            <a:avLst>
              <a:gd name="adj" fmla="val 6486"/>
            </a:avLst>
          </a:prstGeom>
          <a:solidFill>
            <a:srgbClr val="FFFFFF">
              <a:alpha val="95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381500"/>
            <a:ext cx="406400" cy="406400"/>
          </a:xfrm>
          <a:prstGeom prst="rect">
            <a:avLst/>
          </a:prstGeom>
        </p:spPr>
      </p:pic>
      <p:sp>
        <p:nvSpPr>
          <p:cNvPr name="AutoShape 14" id="14"/>
          <p:cNvSpPr/>
          <p:nvPr/>
        </p:nvSpPr>
        <p:spPr>
          <a:xfrm rot="0" flipH="false" flipV="false">
            <a:off x="1587500" y="4356100"/>
            <a:ext cx="4064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Cost-Latency Tradeoff</a:t>
            </a:r>
            <a:endParaRPr lang="en-US" sz="1100"/>
          </a:p>
        </p:txBody>
      </p:sp>
      <p:sp>
        <p:nvSpPr>
          <p:cNvPr name="AutoShape 15" id="15"/>
          <p:cNvSpPr/>
          <p:nvPr/>
        </p:nvSpPr>
        <p:spPr>
          <a:xfrm rot="0" flipH="false" flipV="false">
            <a:off x="1016000" y="5016500"/>
            <a:ext cx="4699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3C3C3C"/>
                </a:solidFill>
                <a:latin typeface="Poppins"/>
                <a:ea typeface="Poppins"/>
                <a:cs typeface="Poppins"/>
                <a:sym typeface="Poppins"/>
              </a:rPr>
              <a:t>Features like emotion detection and smart routing, while appealing, do not justify their high cost and latency for SMBs. We've strategically placed these in future releases for optional adoption as business needs scale.</a:t>
            </a:r>
            <a:endParaRPr lang="en-US" sz="1100"/>
          </a:p>
        </p:txBody>
      </p:sp>
      <p:sp>
        <p:nvSpPr>
          <p:cNvPr name="AutoShape 16" id="16"/>
          <p:cNvSpPr/>
          <p:nvPr/>
        </p:nvSpPr>
        <p:spPr>
          <a:xfrm rot="0" flipH="false" flipV="false">
            <a:off x="6223000" y="4127500"/>
            <a:ext cx="5207000" cy="2349500"/>
          </a:xfrm>
          <a:prstGeom prst="roundRect">
            <a:avLst>
              <a:gd name="adj" fmla="val 6486"/>
            </a:avLst>
          </a:prstGeom>
          <a:solidFill>
            <a:srgbClr val="FFFFFF">
              <a:alpha val="95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77000" y="4381500"/>
            <a:ext cx="406400" cy="406400"/>
          </a:xfrm>
          <a:prstGeom prst="rect">
            <a:avLst/>
          </a:prstGeom>
        </p:spPr>
      </p:pic>
      <p:sp>
        <p:nvSpPr>
          <p:cNvPr name="AutoShape 18" id="18"/>
          <p:cNvSpPr/>
          <p:nvPr/>
        </p:nvSpPr>
        <p:spPr>
          <a:xfrm rot="0" flipH="false" flipV="false">
            <a:off x="7048500" y="4356100"/>
            <a:ext cx="4064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Reliability is the Bottom Line</a:t>
            </a:r>
            <a:endParaRPr lang="en-US" sz="1100"/>
          </a:p>
        </p:txBody>
      </p:sp>
      <p:sp>
        <p:nvSpPr>
          <p:cNvPr name="AutoShape 19" id="19"/>
          <p:cNvSpPr/>
          <p:nvPr/>
        </p:nvSpPr>
        <p:spPr>
          <a:xfrm rot="0" flipH="false" flipV="false">
            <a:off x="6477000" y="5016500"/>
            <a:ext cx="4699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3C3C3C"/>
                </a:solidFill>
                <a:latin typeface="Poppins"/>
                <a:ea typeface="Poppins"/>
                <a:cs typeface="Poppins"/>
                <a:sym typeface="Poppins"/>
              </a:rPr>
              <a:t>AI is powerful, but stability is paramount. Every AI node in our system is paired with a</a:t>
            </a:r>
            <a:r>
              <a:rPr lang="en-US" b="true" i="false" strike="noStrike" u="none" sz="1300">
                <a:solidFill>
                  <a:srgbClr val="2F4F4F"/>
                </a:solidFill>
                <a:latin typeface="Poppins"/>
                <a:ea typeface="Poppins"/>
                <a:cs typeface="Poppins"/>
                <a:sym typeface="Poppins"/>
              </a:rPr>
              <a:t>clear, tested fallback mechanism</a:t>
            </a:r>
            <a:r>
              <a:rPr lang="en-US" b="false" i="false" strike="noStrike" u="none" sz="1300">
                <a:solidFill>
                  <a:srgbClr val="3C3C3C"/>
                </a:solidFill>
                <a:latin typeface="Poppins"/>
                <a:ea typeface="Poppins"/>
                <a:cs typeface="Poppins"/>
                <a:sym typeface="Poppins"/>
              </a:rPr>
              <a:t>to ensure uninterrupted service continuity, even in the face of unexpected technical issues.</a:t>
            </a:r>
            <a:endParaRPr lang="en-US" sz="1100"/>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Three AI Inflection Points: Precise Empowerment with Significant Results</a:t>
            </a:r>
            <a:endParaRPr lang="en-US" sz="1100"/>
          </a:p>
        </p:txBody>
      </p:sp>
      <p:sp>
        <p:nvSpPr>
          <p:cNvPr name="AutoShape 4" id="4"/>
          <p:cNvSpPr/>
          <p:nvPr/>
        </p:nvSpPr>
        <p:spPr>
          <a:xfrm rot="0" flipH="false" flipV="false">
            <a:off x="762000" y="1905000"/>
            <a:ext cx="3302000" cy="4318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905000"/>
            <a:ext cx="3302000" cy="762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286000"/>
            <a:ext cx="508000" cy="508000"/>
          </a:xfrm>
          <a:prstGeom prst="rect">
            <a:avLst/>
          </a:prstGeom>
        </p:spPr>
      </p:pic>
      <p:sp>
        <p:nvSpPr>
          <p:cNvPr name="AutoShape 7" id="7"/>
          <p:cNvSpPr/>
          <p:nvPr/>
        </p:nvSpPr>
        <p:spPr>
          <a:xfrm rot="0" flipH="false" flipV="false">
            <a:off x="1651000" y="2286000"/>
            <a:ext cx="2159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Poppins"/>
                <a:ea typeface="Poppins"/>
                <a:cs typeface="Poppins"/>
                <a:sym typeface="Poppins"/>
              </a:rPr>
              <a:t>AI Intent Detection</a:t>
            </a:r>
            <a:endParaRPr lang="en-US" sz="1100"/>
          </a:p>
        </p:txBody>
      </p:sp>
      <p:sp>
        <p:nvSpPr>
          <p:cNvPr name="AutoShape 8" id="8"/>
          <p:cNvSpPr/>
          <p:nvPr/>
        </p:nvSpPr>
        <p:spPr>
          <a:xfrm rot="0" flipH="false" flipV="false">
            <a:off x="1016000" y="3302000"/>
            <a:ext cx="2794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525252"/>
                </a:solidFill>
                <a:latin typeface="Noto Sans SC"/>
                <a:ea typeface="Noto Sans SC"/>
                <a:cs typeface="Noto Sans SC"/>
                <a:sym typeface="Noto Sans SC"/>
              </a:rPr>
              <a:t>Replaces the traditional touch-tone navigation. Users can state their needs directly, and the system takes them to the corresponding flow in one step.</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spcBef>
                <a:spcPts val="1600"/>
              </a:spcBef>
            </a:pPr>
            <a:r>
              <a:rPr lang="en-US" b="false" i="false" strike="noStrike" u="none" sz="1300">
                <a:solidFill>
                  <a:srgbClr val="525252"/>
                </a:solidFill>
                <a:latin typeface="Noto Sans SC"/>
                <a:ea typeface="Noto Sans SC"/>
                <a:cs typeface="Noto Sans SC"/>
                <a:sym typeface="Noto Sans SC"/>
              </a:rPr>
              <a:t>Data shows this reduces the average steps from</a:t>
            </a:r>
            <a:r>
              <a:rPr lang="en-US" b="true" i="false" strike="noStrike" u="none" sz="1400">
                <a:solidFill>
                  <a:srgbClr val="2F4F4F"/>
                </a:solidFill>
                <a:latin typeface="Poppins"/>
                <a:ea typeface="Poppins"/>
                <a:cs typeface="Poppins"/>
                <a:sym typeface="Poppins"/>
              </a:rPr>
              <a:t>4.2 to 1</a:t>
            </a:r>
            <a:r>
              <a:rPr lang="en-US" b="false" i="false" strike="noStrike" u="none" sz="1300">
                <a:solidFill>
                  <a:srgbClr val="525252"/>
                </a:solidFill>
                <a:latin typeface="Noto Sans SC"/>
                <a:ea typeface="Noto Sans SC"/>
                <a:cs typeface="Noto Sans SC"/>
                <a:sym typeface="Noto Sans SC"/>
              </a:rPr>
              <a:t>, and the abandonment rate from</a:t>
            </a:r>
            <a:r>
              <a:rPr lang="en-US" b="true" i="false" strike="noStrike" u="none" sz="1400">
                <a:solidFill>
                  <a:srgbClr val="2F4F4F"/>
                </a:solidFill>
                <a:latin typeface="Poppins"/>
                <a:ea typeface="Poppins"/>
                <a:cs typeface="Poppins"/>
                <a:sym typeface="Poppins"/>
              </a:rPr>
              <a:t>28% to 6%.</a:t>
            </a:r>
          </a:p>
        </p:txBody>
      </p:sp>
      <p:sp>
        <p:nvSpPr>
          <p:cNvPr name="AutoShape 9" id="9"/>
          <p:cNvSpPr/>
          <p:nvPr/>
        </p:nvSpPr>
        <p:spPr>
          <a:xfrm rot="0" flipH="false" flipV="false">
            <a:off x="4445000" y="1905000"/>
            <a:ext cx="3302000" cy="4318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445000" y="1905000"/>
            <a:ext cx="3302000" cy="762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2286000"/>
            <a:ext cx="508000" cy="508000"/>
          </a:xfrm>
          <a:prstGeom prst="rect">
            <a:avLst/>
          </a:prstGeom>
        </p:spPr>
      </p:pic>
      <p:sp>
        <p:nvSpPr>
          <p:cNvPr name="AutoShape 12" id="12"/>
          <p:cNvSpPr/>
          <p:nvPr/>
        </p:nvSpPr>
        <p:spPr>
          <a:xfrm rot="0" flipH="false" flipV="false">
            <a:off x="5334000" y="2286000"/>
            <a:ext cx="2159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Poppins"/>
                <a:ea typeface="Poppins"/>
                <a:cs typeface="Poppins"/>
                <a:sym typeface="Poppins"/>
              </a:rPr>
              <a:t>Knowledge Q&amp;A (RAG)</a:t>
            </a:r>
            <a:endParaRPr lang="en-US" sz="1100"/>
          </a:p>
        </p:txBody>
      </p:sp>
      <p:sp>
        <p:nvSpPr>
          <p:cNvPr name="AutoShape 13" id="13"/>
          <p:cNvSpPr/>
          <p:nvPr/>
        </p:nvSpPr>
        <p:spPr>
          <a:xfrm rot="0" flipH="false" flipV="false">
            <a:off x="4699000" y="3302000"/>
            <a:ext cx="2794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525252"/>
                </a:solidFill>
                <a:latin typeface="Noto Sans SC"/>
                <a:ea typeface="Noto Sans SC"/>
                <a:cs typeface="Noto Sans SC"/>
                <a:sym typeface="Noto Sans SC"/>
              </a:rPr>
              <a:t>By connecting to your knowledge base, AI can answer a wide range of common customer questions in real-time. A single knowledge base can cover hundreds of FAQs.</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spcBef>
                <a:spcPts val="1600"/>
              </a:spcBef>
            </a:pPr>
            <a:r>
              <a:rPr lang="en-US" b="false" i="false" strike="noStrike" u="none" sz="1300">
                <a:solidFill>
                  <a:srgbClr val="525252"/>
                </a:solidFill>
                <a:latin typeface="Noto Sans SC"/>
                <a:ea typeface="Noto Sans SC"/>
                <a:cs typeface="Noto Sans SC"/>
                <a:sym typeface="Noto Sans SC"/>
              </a:rPr>
              <a:t>Effectively blocking</a:t>
            </a:r>
            <a:r>
              <a:rPr lang="en-US" b="true" i="false" strike="noStrike" u="none" sz="1400">
                <a:solidFill>
                  <a:srgbClr val="2F4F4F"/>
                </a:solidFill>
                <a:latin typeface="Poppins"/>
                <a:ea typeface="Poppins"/>
                <a:cs typeface="Poppins"/>
                <a:sym typeface="Poppins"/>
              </a:rPr>
              <a:t>68% of repetitive inquiries</a:t>
            </a:r>
            <a:r>
              <a:rPr lang="en-US" b="false" i="false" strike="noStrike" u="none" sz="1300">
                <a:solidFill>
                  <a:srgbClr val="525252"/>
                </a:solidFill>
                <a:latin typeface="Noto Sans SC"/>
                <a:ea typeface="Noto Sans SC"/>
                <a:cs typeface="Noto Sans SC"/>
                <a:sym typeface="Noto Sans SC"/>
              </a:rPr>
              <a:t>, significantly reducing the burden on human agents.</a:t>
            </a:r>
          </a:p>
        </p:txBody>
      </p:sp>
      <p:sp>
        <p:nvSpPr>
          <p:cNvPr name="AutoShape 14" id="14"/>
          <p:cNvSpPr/>
          <p:nvPr/>
        </p:nvSpPr>
        <p:spPr>
          <a:xfrm rot="0" flipH="false" flipV="false">
            <a:off x="8128000" y="1905000"/>
            <a:ext cx="3302000" cy="4318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128000" y="1905000"/>
            <a:ext cx="3302000" cy="762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2286000"/>
            <a:ext cx="508000" cy="508000"/>
          </a:xfrm>
          <a:prstGeom prst="rect">
            <a:avLst/>
          </a:prstGeom>
        </p:spPr>
      </p:pic>
      <p:sp>
        <p:nvSpPr>
          <p:cNvPr name="AutoShape 17" id="17"/>
          <p:cNvSpPr/>
          <p:nvPr/>
        </p:nvSpPr>
        <p:spPr>
          <a:xfrm rot="0" flipH="false" flipV="false">
            <a:off x="9017000" y="2286000"/>
            <a:ext cx="2159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Poppins"/>
                <a:ea typeface="Poppins"/>
                <a:cs typeface="Poppins"/>
                <a:sym typeface="Poppins"/>
              </a:rPr>
              <a:t>Call Summary</a:t>
            </a:r>
            <a:endParaRPr lang="en-US" sz="1100"/>
          </a:p>
        </p:txBody>
      </p:sp>
      <p:sp>
        <p:nvSpPr>
          <p:cNvPr name="AutoShape 18" id="18"/>
          <p:cNvSpPr/>
          <p:nvPr/>
        </p:nvSpPr>
        <p:spPr>
          <a:xfrm rot="0" flipH="false" flipV="false">
            <a:off x="8382000" y="3302000"/>
            <a:ext cx="2794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525252"/>
                </a:solidFill>
                <a:latin typeface="Noto Sans SC"/>
                <a:ea typeface="Noto Sans SC"/>
                <a:cs typeface="Noto Sans SC"/>
                <a:sym typeface="Noto Sans SC"/>
              </a:rPr>
              <a:t>After a call ends, AI automatically generates a summary including key points, critical information, and customer intent, greatly improving team efficiency.</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spcBef>
                <a:spcPts val="1600"/>
              </a:spcBef>
            </a:pPr>
            <a:r>
              <a:rPr lang="en-US" b="false" i="false" strike="noStrike" u="none" sz="1300">
                <a:solidFill>
                  <a:srgbClr val="525252"/>
                </a:solidFill>
                <a:latin typeface="Noto Sans SC"/>
                <a:ea typeface="Noto Sans SC"/>
                <a:cs typeface="Noto Sans SC"/>
                <a:sym typeface="Noto Sans SC"/>
              </a:rPr>
              <a:t>Reduces manual note-taking time from</a:t>
            </a:r>
            <a:r>
              <a:rPr lang="en-US" b="true" i="false" strike="noStrike" u="none" sz="1400">
                <a:solidFill>
                  <a:srgbClr val="2F4F4F"/>
                </a:solidFill>
                <a:latin typeface="Poppins"/>
                <a:ea typeface="Poppins"/>
                <a:cs typeface="Poppins"/>
                <a:sym typeface="Poppins"/>
              </a:rPr>
              <a:t>3 minutes to 30 seconds</a:t>
            </a:r>
            <a:r>
              <a:rPr lang="en-US" b="false" i="false" strike="noStrike" u="none" sz="1300">
                <a:solidFill>
                  <a:srgbClr val="525252"/>
                </a:solidFill>
                <a:latin typeface="Noto Sans SC"/>
                <a:ea typeface="Noto Sans SC"/>
                <a:cs typeface="Noto Sans SC"/>
                <a:sym typeface="Noto Sans SC"/>
              </a:rPr>
              <a:t>.</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Precise Boundaries of Cost and Latency: Every Penny Spent Wisely</a:t>
            </a:r>
            <a:endParaRPr lang="en-US" sz="1100"/>
          </a:p>
        </p:txBody>
      </p:sp>
      <p:sp>
        <p:nvSpPr>
          <p:cNvPr name="AutoShape 4" id="4"/>
          <p:cNvSpPr/>
          <p:nvPr/>
        </p:nvSpPr>
        <p:spPr>
          <a:xfrm rot="0" flipH="false" flipV="false">
            <a:off x="762000" y="1778000"/>
            <a:ext cx="2603500" cy="3302000"/>
          </a:xfrm>
          <a:prstGeom prst="roundRect">
            <a:avLst>
              <a:gd name="adj" fmla="val 5853"/>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1968500"/>
            <a:ext cx="304800" cy="304800"/>
          </a:xfrm>
          <a:prstGeom prst="rect">
            <a:avLst/>
          </a:prstGeom>
        </p:spPr>
      </p:pic>
      <p:sp>
        <p:nvSpPr>
          <p:cNvPr name="AutoShape 6" id="6"/>
          <p:cNvSpPr/>
          <p:nvPr/>
        </p:nvSpPr>
        <p:spPr>
          <a:xfrm rot="0" flipH="false" flipV="false">
            <a:off x="1333500" y="1930400"/>
            <a:ext cx="1841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Pure Rules Engine</a:t>
            </a:r>
            <a:endParaRPr lang="en-US" sz="1100"/>
          </a:p>
        </p:txBody>
      </p:sp>
      <p:sp>
        <p:nvSpPr>
          <p:cNvPr name="AutoShape 7" id="7"/>
          <p:cNvSpPr/>
          <p:nvPr/>
        </p:nvSpPr>
        <p:spPr>
          <a:xfrm rot="0" flipH="false" flipV="false">
            <a:off x="952500" y="2667000"/>
            <a:ext cx="2222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Poppins"/>
                <a:ea typeface="Poppins"/>
                <a:cs typeface="Poppins"/>
                <a:sym typeface="Poppins"/>
              </a:rPr>
              <a:t>Incremental Cost</a:t>
            </a:r>
            <a:r>
              <a:rPr lang="en-US" b="false" i="false" strike="noStrike" u="none" sz="1600">
                <a:solidFill>
                  <a:srgbClr val="1F2329"/>
                </a:solidFill>
                <a:latin typeface="Poppins"/>
                <a:ea typeface="Poppins"/>
                <a:cs typeface="Poppins"/>
                <a:sym typeface="Poppins"/>
              </a:rPr>
              <a:t/>
            </a:r>
            <a:endParaRPr lang="en-US" sz="1100"/>
          </a:p>
          <a:p>
            <a:pPr algn="l" indent="0">
              <a:lnSpc>
                <a:spcPct val="125000"/>
              </a:lnSpc>
            </a:pPr>
            <a:r>
              <a:rPr lang="en-US" b="true" i="false" strike="noStrike" u="none" sz="2200">
                <a:solidFill>
                  <a:srgbClr val="10B981"/>
                </a:solidFill>
                <a:latin typeface="Poppins"/>
                <a:ea typeface="Poppins"/>
                <a:cs typeface="Poppins"/>
                <a:sym typeface="Poppins"/>
              </a:rPr>
              <a:t>$0</a:t>
            </a:r>
          </a:p>
        </p:txBody>
      </p:sp>
      <p:sp>
        <p:nvSpPr>
          <p:cNvPr name="AutoShape 8" id="8"/>
          <p:cNvSpPr/>
          <p:nvPr/>
        </p:nvSpPr>
        <p:spPr>
          <a:xfrm rot="0" flipH="false" flipV="false">
            <a:off x="952500" y="3683000"/>
            <a:ext cx="2222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Poppins"/>
                <a:ea typeface="Poppins"/>
                <a:cs typeface="Poppins"/>
                <a:sym typeface="Poppins"/>
              </a:rPr>
              <a:t>Latency</a:t>
            </a:r>
            <a:r>
              <a:rPr lang="en-US" b="false" i="false" strike="noStrike" u="none" sz="1600">
                <a:solidFill>
                  <a:srgbClr val="1F2329"/>
                </a:solidFill>
                <a:latin typeface="Poppins"/>
                <a:ea typeface="Poppins"/>
                <a:cs typeface="Poppins"/>
                <a:sym typeface="Poppins"/>
              </a:rPr>
              <a:t/>
            </a:r>
            <a:endParaRPr lang="en-US" sz="1100"/>
          </a:p>
          <a:p>
            <a:pPr algn="l" indent="0">
              <a:lnSpc>
                <a:spcPct val="125000"/>
              </a:lnSpc>
            </a:pPr>
            <a:r>
              <a:rPr lang="en-US" b="true" i="false" strike="noStrike" u="none" sz="1600">
                <a:solidFill>
                  <a:srgbClr val="374151"/>
                </a:solidFill>
                <a:latin typeface="Poppins"/>
                <a:ea typeface="Poppins"/>
                <a:cs typeface="Poppins"/>
                <a:sym typeface="Poppins"/>
              </a:rPr>
              <a:t>&lt; 10ms</a:t>
            </a:r>
          </a:p>
        </p:txBody>
      </p:sp>
      <p:sp>
        <p:nvSpPr>
          <p:cNvPr name="AutoShape 9" id="9"/>
          <p:cNvSpPr/>
          <p:nvPr/>
        </p:nvSpPr>
        <p:spPr>
          <a:xfrm rot="0" flipH="false" flipV="false">
            <a:off x="952500" y="4699000"/>
            <a:ext cx="2222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Poppins"/>
                <a:ea typeface="Poppins"/>
                <a:cs typeface="Poppins"/>
                <a:sym typeface="Poppins"/>
              </a:rPr>
              <a:t>Return:</a:t>
            </a:r>
            <a:r>
              <a:rPr lang="en-US" b="false" i="false" strike="noStrike" u="none" sz="1200">
                <a:solidFill>
                  <a:srgbClr val="2F4F4F"/>
                </a:solidFill>
                <a:latin typeface="Poppins"/>
                <a:ea typeface="Poppins"/>
                <a:cs typeface="Poppins"/>
                <a:sym typeface="Poppins"/>
              </a:rPr>
              <a:t>Standardized processes</a:t>
            </a:r>
            <a:endParaRPr lang="en-US" sz="1100"/>
          </a:p>
        </p:txBody>
      </p:sp>
      <p:sp>
        <p:nvSpPr>
          <p:cNvPr name="AutoShape 10" id="10"/>
          <p:cNvSpPr/>
          <p:nvPr/>
        </p:nvSpPr>
        <p:spPr>
          <a:xfrm rot="0" flipH="false" flipV="false">
            <a:off x="3492500" y="1778000"/>
            <a:ext cx="2603500" cy="3302000"/>
          </a:xfrm>
          <a:prstGeom prst="roundRect">
            <a:avLst>
              <a:gd name="adj" fmla="val 5853"/>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683000" y="1968500"/>
            <a:ext cx="304800" cy="304800"/>
          </a:xfrm>
          <a:prstGeom prst="rect">
            <a:avLst/>
          </a:prstGeom>
        </p:spPr>
      </p:pic>
      <p:sp>
        <p:nvSpPr>
          <p:cNvPr name="AutoShape 12" id="12"/>
          <p:cNvSpPr/>
          <p:nvPr/>
        </p:nvSpPr>
        <p:spPr>
          <a:xfrm rot="0" flipH="false" flipV="false">
            <a:off x="4064000" y="1930400"/>
            <a:ext cx="1841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 AI Intent Detection</a:t>
            </a:r>
            <a:endParaRPr lang="en-US" sz="1100"/>
          </a:p>
        </p:txBody>
      </p:sp>
      <p:sp>
        <p:nvSpPr>
          <p:cNvPr name="AutoShape 13" id="13"/>
          <p:cNvSpPr/>
          <p:nvPr/>
        </p:nvSpPr>
        <p:spPr>
          <a:xfrm rot="0" flipH="false" flipV="false">
            <a:off x="3683000" y="2667000"/>
            <a:ext cx="2222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Poppins"/>
                <a:ea typeface="Poppins"/>
                <a:cs typeface="Poppins"/>
                <a:sym typeface="Poppins"/>
              </a:rPr>
              <a:t>Incremental Cost</a:t>
            </a:r>
            <a:r>
              <a:rPr lang="en-US" b="false" i="false" strike="noStrike" u="none" sz="1600">
                <a:solidFill>
                  <a:srgbClr val="1F2329"/>
                </a:solidFill>
                <a:latin typeface="Poppins"/>
                <a:ea typeface="Poppins"/>
                <a:cs typeface="Poppins"/>
                <a:sym typeface="Poppins"/>
              </a:rPr>
              <a:t/>
            </a:r>
            <a:endParaRPr lang="en-US" sz="1100"/>
          </a:p>
          <a:p>
            <a:pPr algn="l" indent="0">
              <a:lnSpc>
                <a:spcPct val="125000"/>
              </a:lnSpc>
            </a:pPr>
            <a:r>
              <a:rPr lang="en-US" b="true" i="false" strike="noStrike" u="none" sz="2000">
                <a:solidFill>
                  <a:srgbClr val="F97316"/>
                </a:solidFill>
                <a:latin typeface="Poppins"/>
                <a:ea typeface="Poppins"/>
                <a:cs typeface="Poppins"/>
                <a:sym typeface="Poppins"/>
              </a:rPr>
              <a:t>+$0.02 / min</a:t>
            </a:r>
          </a:p>
        </p:txBody>
      </p:sp>
      <p:sp>
        <p:nvSpPr>
          <p:cNvPr name="AutoShape 14" id="14"/>
          <p:cNvSpPr/>
          <p:nvPr/>
        </p:nvSpPr>
        <p:spPr>
          <a:xfrm rot="0" flipH="false" flipV="false">
            <a:off x="3683000" y="3683000"/>
            <a:ext cx="2222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Poppins"/>
                <a:ea typeface="Poppins"/>
                <a:cs typeface="Poppins"/>
                <a:sym typeface="Poppins"/>
              </a:rPr>
              <a:t>Latency</a:t>
            </a:r>
            <a:r>
              <a:rPr lang="en-US" b="false" i="false" strike="noStrike" u="none" sz="1600">
                <a:solidFill>
                  <a:srgbClr val="1F2329"/>
                </a:solidFill>
                <a:latin typeface="Poppins"/>
                <a:ea typeface="Poppins"/>
                <a:cs typeface="Poppins"/>
                <a:sym typeface="Poppins"/>
              </a:rPr>
              <a:t/>
            </a:r>
            <a:endParaRPr lang="en-US" sz="1100"/>
          </a:p>
          <a:p>
            <a:pPr algn="l" indent="0">
              <a:lnSpc>
                <a:spcPct val="125000"/>
              </a:lnSpc>
            </a:pPr>
            <a:r>
              <a:rPr lang="en-US" b="true" i="false" strike="noStrike" u="none" sz="1600">
                <a:solidFill>
                  <a:srgbClr val="374151"/>
                </a:solidFill>
                <a:latin typeface="Poppins"/>
                <a:ea typeface="Poppins"/>
                <a:cs typeface="Poppins"/>
                <a:sym typeface="Poppins"/>
              </a:rPr>
              <a:t>+ 300ms</a:t>
            </a:r>
          </a:p>
        </p:txBody>
      </p:sp>
      <p:sp>
        <p:nvSpPr>
          <p:cNvPr name="AutoShape 15" id="15"/>
          <p:cNvSpPr/>
          <p:nvPr/>
        </p:nvSpPr>
        <p:spPr>
          <a:xfrm rot="0" flipH="false" flipV="false">
            <a:off x="3683000" y="4699000"/>
            <a:ext cx="2222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Poppins"/>
                <a:ea typeface="Poppins"/>
                <a:cs typeface="Poppins"/>
                <a:sym typeface="Poppins"/>
              </a:rPr>
              <a:t>Return:</a:t>
            </a:r>
            <a:r>
              <a:rPr lang="en-US" b="false" i="false" strike="noStrike" u="none" sz="1200">
                <a:solidFill>
                  <a:srgbClr val="2F4F4F"/>
                </a:solidFill>
                <a:latin typeface="Poppins"/>
                <a:ea typeface="Poppins"/>
                <a:cs typeface="Poppins"/>
                <a:sym typeface="Poppins"/>
              </a:rPr>
              <a:t>Call duration ↓ 35%</a:t>
            </a:r>
            <a:endParaRPr lang="en-US" sz="1100"/>
          </a:p>
        </p:txBody>
      </p:sp>
      <p:sp>
        <p:nvSpPr>
          <p:cNvPr name="AutoShape 16" id="16"/>
          <p:cNvSpPr/>
          <p:nvPr/>
        </p:nvSpPr>
        <p:spPr>
          <a:xfrm rot="0" flipH="false" flipV="false">
            <a:off x="6223000" y="1778000"/>
            <a:ext cx="2603500" cy="3302000"/>
          </a:xfrm>
          <a:prstGeom prst="roundRect">
            <a:avLst>
              <a:gd name="adj" fmla="val 5853"/>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413500" y="1968500"/>
            <a:ext cx="304800" cy="304800"/>
          </a:xfrm>
          <a:prstGeom prst="rect">
            <a:avLst/>
          </a:prstGeom>
        </p:spPr>
      </p:pic>
      <p:sp>
        <p:nvSpPr>
          <p:cNvPr name="AutoShape 18" id="18"/>
          <p:cNvSpPr/>
          <p:nvPr/>
        </p:nvSpPr>
        <p:spPr>
          <a:xfrm rot="0" flipH="false" flipV="false">
            <a:off x="6794500" y="1930400"/>
            <a:ext cx="1841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 Knowledge Q&amp;A</a:t>
            </a:r>
            <a:endParaRPr lang="en-US" sz="1100"/>
          </a:p>
        </p:txBody>
      </p:sp>
      <p:sp>
        <p:nvSpPr>
          <p:cNvPr name="AutoShape 19" id="19"/>
          <p:cNvSpPr/>
          <p:nvPr/>
        </p:nvSpPr>
        <p:spPr>
          <a:xfrm rot="0" flipH="false" flipV="false">
            <a:off x="6413500" y="2667000"/>
            <a:ext cx="2222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Poppins"/>
                <a:ea typeface="Poppins"/>
                <a:cs typeface="Poppins"/>
                <a:sym typeface="Poppins"/>
              </a:rPr>
              <a:t>Incremental Cost</a:t>
            </a:r>
            <a:r>
              <a:rPr lang="en-US" b="false" i="false" strike="noStrike" u="none" sz="1600">
                <a:solidFill>
                  <a:srgbClr val="1F2329"/>
                </a:solidFill>
                <a:latin typeface="Poppins"/>
                <a:ea typeface="Poppins"/>
                <a:cs typeface="Poppins"/>
                <a:sym typeface="Poppins"/>
              </a:rPr>
              <a:t/>
            </a:r>
            <a:endParaRPr lang="en-US" sz="1100"/>
          </a:p>
          <a:p>
            <a:pPr algn="l" indent="0">
              <a:lnSpc>
                <a:spcPct val="125000"/>
              </a:lnSpc>
            </a:pPr>
            <a:r>
              <a:rPr lang="en-US" b="true" i="false" strike="noStrike" u="none" sz="2000">
                <a:solidFill>
                  <a:srgbClr val="F97316"/>
                </a:solidFill>
                <a:latin typeface="Poppins"/>
                <a:ea typeface="Poppins"/>
                <a:cs typeface="Poppins"/>
                <a:sym typeface="Poppins"/>
              </a:rPr>
              <a:t>+$0.03 / min</a:t>
            </a:r>
          </a:p>
        </p:txBody>
      </p:sp>
      <p:sp>
        <p:nvSpPr>
          <p:cNvPr name="AutoShape 20" id="20"/>
          <p:cNvSpPr/>
          <p:nvPr/>
        </p:nvSpPr>
        <p:spPr>
          <a:xfrm rot="0" flipH="false" flipV="false">
            <a:off x="6413500" y="3683000"/>
            <a:ext cx="2222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Poppins"/>
                <a:ea typeface="Poppins"/>
                <a:cs typeface="Poppins"/>
                <a:sym typeface="Poppins"/>
              </a:rPr>
              <a:t>Latency</a:t>
            </a:r>
            <a:r>
              <a:rPr lang="en-US" b="false" i="false" strike="noStrike" u="none" sz="1600">
                <a:solidFill>
                  <a:srgbClr val="1F2329"/>
                </a:solidFill>
                <a:latin typeface="Poppins"/>
                <a:ea typeface="Poppins"/>
                <a:cs typeface="Poppins"/>
                <a:sym typeface="Poppins"/>
              </a:rPr>
              <a:t/>
            </a:r>
            <a:endParaRPr lang="en-US" sz="1100"/>
          </a:p>
          <a:p>
            <a:pPr algn="l" indent="0">
              <a:lnSpc>
                <a:spcPct val="125000"/>
              </a:lnSpc>
            </a:pPr>
            <a:r>
              <a:rPr lang="en-US" b="true" i="false" strike="noStrike" u="none" sz="1600">
                <a:solidFill>
                  <a:srgbClr val="374151"/>
                </a:solidFill>
                <a:latin typeface="Poppins"/>
                <a:ea typeface="Poppins"/>
                <a:cs typeface="Poppins"/>
                <a:sym typeface="Poppins"/>
              </a:rPr>
              <a:t>+ 600ms</a:t>
            </a:r>
          </a:p>
        </p:txBody>
      </p:sp>
      <p:sp>
        <p:nvSpPr>
          <p:cNvPr name="AutoShape 21" id="21"/>
          <p:cNvSpPr/>
          <p:nvPr/>
        </p:nvSpPr>
        <p:spPr>
          <a:xfrm rot="0" flipH="false" flipV="false">
            <a:off x="6413500" y="4699000"/>
            <a:ext cx="2222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Poppins"/>
                <a:ea typeface="Poppins"/>
                <a:cs typeface="Poppins"/>
                <a:sym typeface="Poppins"/>
              </a:rPr>
              <a:t>Return:</a:t>
            </a:r>
            <a:r>
              <a:rPr lang="en-US" b="false" i="false" strike="noStrike" u="none" sz="1200">
                <a:solidFill>
                  <a:srgbClr val="2F4F4F"/>
                </a:solidFill>
                <a:latin typeface="Poppins"/>
                <a:ea typeface="Poppins"/>
                <a:cs typeface="Poppins"/>
                <a:sym typeface="Poppins"/>
              </a:rPr>
              <a:t>Human transfer ↓ 68%</a:t>
            </a:r>
            <a:endParaRPr lang="en-US" sz="1100"/>
          </a:p>
        </p:txBody>
      </p:sp>
      <p:sp>
        <p:nvSpPr>
          <p:cNvPr name="AutoShape 22" id="22"/>
          <p:cNvSpPr/>
          <p:nvPr/>
        </p:nvSpPr>
        <p:spPr>
          <a:xfrm rot="0" flipH="false" flipV="false">
            <a:off x="8953500" y="1778000"/>
            <a:ext cx="2603500" cy="3302000"/>
          </a:xfrm>
          <a:prstGeom prst="roundRect">
            <a:avLst>
              <a:gd name="adj" fmla="val 5853"/>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144000" y="1968500"/>
            <a:ext cx="304800" cy="304800"/>
          </a:xfrm>
          <a:prstGeom prst="rect">
            <a:avLst/>
          </a:prstGeom>
        </p:spPr>
      </p:pic>
      <p:sp>
        <p:nvSpPr>
          <p:cNvPr name="AutoShape 24" id="24"/>
          <p:cNvSpPr/>
          <p:nvPr/>
        </p:nvSpPr>
        <p:spPr>
          <a:xfrm rot="0" flipH="false" flipV="false">
            <a:off x="9525000" y="1930400"/>
            <a:ext cx="1841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Full AI Agent</a:t>
            </a:r>
            <a:endParaRPr lang="en-US" sz="1100"/>
          </a:p>
        </p:txBody>
      </p:sp>
      <p:sp>
        <p:nvSpPr>
          <p:cNvPr name="AutoShape 25" id="25"/>
          <p:cNvSpPr/>
          <p:nvPr/>
        </p:nvSpPr>
        <p:spPr>
          <a:xfrm rot="0" flipH="false" flipV="false">
            <a:off x="9144000" y="2667000"/>
            <a:ext cx="2222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Poppins"/>
                <a:ea typeface="Poppins"/>
                <a:cs typeface="Poppins"/>
                <a:sym typeface="Poppins"/>
              </a:rPr>
              <a:t>Incremental Cost</a:t>
            </a:r>
            <a:r>
              <a:rPr lang="en-US" b="false" i="false" strike="noStrike" u="none" sz="1600">
                <a:solidFill>
                  <a:srgbClr val="1F2329"/>
                </a:solidFill>
                <a:latin typeface="Poppins"/>
                <a:ea typeface="Poppins"/>
                <a:cs typeface="Poppins"/>
                <a:sym typeface="Poppins"/>
              </a:rPr>
              <a:t/>
            </a:r>
            <a:endParaRPr lang="en-US" sz="1100"/>
          </a:p>
          <a:p>
            <a:pPr algn="l" indent="0">
              <a:lnSpc>
                <a:spcPct val="125000"/>
              </a:lnSpc>
            </a:pPr>
            <a:r>
              <a:rPr lang="en-US" b="true" i="false" strike="noStrike" u="none" sz="2000">
                <a:solidFill>
                  <a:srgbClr val="DC2626"/>
                </a:solidFill>
                <a:latin typeface="Poppins"/>
                <a:ea typeface="Poppins"/>
                <a:cs typeface="Poppins"/>
                <a:sym typeface="Poppins"/>
              </a:rPr>
              <a:t>+$0.08-0.12 / min</a:t>
            </a:r>
          </a:p>
        </p:txBody>
      </p:sp>
      <p:sp>
        <p:nvSpPr>
          <p:cNvPr name="AutoShape 26" id="26"/>
          <p:cNvSpPr/>
          <p:nvPr/>
        </p:nvSpPr>
        <p:spPr>
          <a:xfrm rot="0" flipH="false" flipV="false">
            <a:off x="9144000" y="3683000"/>
            <a:ext cx="2222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Poppins"/>
                <a:ea typeface="Poppins"/>
                <a:cs typeface="Poppins"/>
                <a:sym typeface="Poppins"/>
              </a:rPr>
              <a:t>Latency</a:t>
            </a:r>
            <a:r>
              <a:rPr lang="en-US" b="false" i="false" strike="noStrike" u="none" sz="1600">
                <a:solidFill>
                  <a:srgbClr val="1F2329"/>
                </a:solidFill>
                <a:latin typeface="Poppins"/>
                <a:ea typeface="Poppins"/>
                <a:cs typeface="Poppins"/>
                <a:sym typeface="Poppins"/>
              </a:rPr>
              <a:t/>
            </a:r>
            <a:endParaRPr lang="en-US" sz="1100"/>
          </a:p>
          <a:p>
            <a:pPr algn="l" indent="0">
              <a:lnSpc>
                <a:spcPct val="125000"/>
              </a:lnSpc>
            </a:pPr>
            <a:r>
              <a:rPr lang="en-US" b="true" i="false" strike="noStrike" u="none" sz="1600">
                <a:solidFill>
                  <a:srgbClr val="374151"/>
                </a:solidFill>
                <a:latin typeface="Poppins"/>
                <a:ea typeface="Poppins"/>
                <a:cs typeface="Poppins"/>
                <a:sym typeface="Poppins"/>
              </a:rPr>
              <a:t>+ 800ms</a:t>
            </a:r>
          </a:p>
        </p:txBody>
      </p:sp>
      <p:sp>
        <p:nvSpPr>
          <p:cNvPr name="AutoShape 27" id="27"/>
          <p:cNvSpPr/>
          <p:nvPr/>
        </p:nvSpPr>
        <p:spPr>
          <a:xfrm rot="0" flipH="false" flipV="false">
            <a:off x="9144000" y="4699000"/>
            <a:ext cx="22225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6B7280"/>
                </a:solidFill>
                <a:latin typeface="Poppins"/>
                <a:ea typeface="Poppins"/>
                <a:cs typeface="Poppins"/>
                <a:sym typeface="Poppins"/>
              </a:rPr>
              <a:t>Return:</a:t>
            </a:r>
            <a:r>
              <a:rPr lang="en-US" b="false" i="false" strike="noStrike" u="none" sz="1200">
                <a:solidFill>
                  <a:srgbClr val="2F4F4F"/>
                </a:solidFill>
                <a:latin typeface="Poppins"/>
                <a:ea typeface="Poppins"/>
                <a:cs typeface="Poppins"/>
                <a:sym typeface="Poppins"/>
              </a:rPr>
              <a:t>Handles high-complexity</a:t>
            </a:r>
            <a:endParaRPr lang="en-US" sz="1100"/>
          </a:p>
        </p:txBody>
      </p:sp>
      <p:sp>
        <p:nvSpPr>
          <p:cNvPr name="AutoShape 28" id="28"/>
          <p:cNvSpPr/>
          <p:nvPr/>
        </p:nvSpPr>
        <p:spPr>
          <a:xfrm rot="0" flipH="false" flipV="false">
            <a:off x="762000" y="5461000"/>
            <a:ext cx="10795000" cy="1016000"/>
          </a:xfrm>
          <a:prstGeom prst="roundRect">
            <a:avLst>
              <a:gd name="adj" fmla="val 1000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1016000" y="5651500"/>
            <a:ext cx="10287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500">
                <a:solidFill>
                  <a:srgbClr val="FFFFFF"/>
                </a:solidFill>
                <a:latin typeface="Poppins"/>
                <a:ea typeface="Poppins"/>
                <a:cs typeface="Poppins"/>
                <a:sym typeface="Poppins"/>
              </a:rPr>
              <a:t>Conclusion: Our "Rules-First, AI-Enhanced" strategy offers flexible cost control, letting you select the optimal AI combination.</a:t>
            </a:r>
            <a:endParaRPr lang="en-US" sz="1100"/>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Triple-Mode Telephony Access: Flexibility for All Needs</a:t>
            </a:r>
            <a:endParaRPr lang="en-US" sz="1100"/>
          </a:p>
        </p:txBody>
      </p:sp>
      <p:sp>
        <p:nvSpPr>
          <p:cNvPr name="AutoShape 3" id="3"/>
          <p:cNvSpPr/>
          <p:nvPr/>
        </p:nvSpPr>
        <p:spPr>
          <a:xfrm rot="0" flipH="false" flipV="false">
            <a:off x="762000" y="1778000"/>
            <a:ext cx="3302000" cy="3175000"/>
          </a:xfrm>
          <a:prstGeom prst="roundRect">
            <a:avLst>
              <a:gd name="adj" fmla="val 4800"/>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778000"/>
            <a:ext cx="3302000" cy="762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159000"/>
            <a:ext cx="457200" cy="457200"/>
          </a:xfrm>
          <a:prstGeom prst="rect">
            <a:avLst/>
          </a:prstGeom>
        </p:spPr>
      </p:pic>
      <p:sp>
        <p:nvSpPr>
          <p:cNvPr name="AutoShape 6" id="6"/>
          <p:cNvSpPr/>
          <p:nvPr/>
        </p:nvSpPr>
        <p:spPr>
          <a:xfrm rot="0" flipH="false" flipV="false">
            <a:off x="1651000" y="21590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Poppins"/>
                <a:ea typeface="Poppins"/>
                <a:cs typeface="Poppins"/>
                <a:sym typeface="Poppins"/>
              </a:rPr>
              <a:t>01. Platform-Managed</a:t>
            </a:r>
            <a:endParaRPr lang="en-US" sz="1100"/>
          </a:p>
        </p:txBody>
      </p:sp>
      <p:sp>
        <p:nvSpPr>
          <p:cNvPr name="AutoShape 7" id="7"/>
          <p:cNvSpPr/>
          <p:nvPr/>
        </p:nvSpPr>
        <p:spPr>
          <a:xfrm rot="0" flipH="false" flipV="false">
            <a:off x="1016000" y="2921000"/>
            <a:ext cx="2794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1F2937"/>
                </a:solidFill>
                <a:latin typeface="Poppins"/>
                <a:ea typeface="Poppins"/>
                <a:cs typeface="Poppins"/>
                <a:sym typeface="Poppins"/>
              </a:rPr>
              <a:t>Ready to use, out-of-the-box</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spcBef>
                <a:spcPts val="800"/>
              </a:spcBef>
            </a:pPr>
            <a:r>
              <a:rPr lang="en-US" b="false" i="false" strike="noStrike" u="none" sz="1200">
                <a:solidFill>
                  <a:srgbClr val="4B5563"/>
                </a:solidFill>
                <a:latin typeface="Poppins"/>
                <a:ea typeface="Poppins"/>
                <a:cs typeface="Poppins"/>
                <a:sym typeface="Poppins"/>
              </a:rPr>
              <a:t>Purchase a number on the platform, bind it to your workflow, and go live instantly.</a:t>
            </a:r>
            <a:r>
              <a:rPr lang="en-US" b="false" i="false" strike="noStrike" u="none" sz="1600">
                <a:solidFill>
                  <a:srgbClr val="1F2329"/>
                </a:solidFill>
                <a:latin typeface="Poppins"/>
                <a:ea typeface="Poppins"/>
                <a:cs typeface="Poppins"/>
                <a:sym typeface="Poppins"/>
              </a:rPr>
              <a:t/>
            </a:r>
          </a:p>
          <a:p>
            <a:pPr algn="l" indent="0">
              <a:lnSpc>
                <a:spcPct val="116666"/>
              </a:lnSpc>
              <a:spcBef>
                <a:spcPts val="1000"/>
              </a:spcBef>
            </a:pPr>
            <a:r>
              <a:rPr lang="en-US" b="true" i="false" strike="noStrike" u="none" sz="1200">
                <a:solidFill>
                  <a:srgbClr val="10B981"/>
                </a:solidFill>
                <a:latin typeface="Poppins"/>
                <a:ea typeface="Poppins"/>
                <a:cs typeface="Poppins"/>
                <a:sym typeface="Poppins"/>
              </a:rPr>
              <a:t>Cost: ~$1-3/month + $0.01/min</a:t>
            </a:r>
          </a:p>
        </p:txBody>
      </p:sp>
      <p:sp>
        <p:nvSpPr>
          <p:cNvPr name="AutoShape 8" id="8"/>
          <p:cNvSpPr/>
          <p:nvPr/>
        </p:nvSpPr>
        <p:spPr>
          <a:xfrm rot="0" flipH="false" flipV="false">
            <a:off x="4445000" y="1778000"/>
            <a:ext cx="3302000" cy="3175000"/>
          </a:xfrm>
          <a:prstGeom prst="roundRect">
            <a:avLst>
              <a:gd name="adj" fmla="val 4800"/>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4445000" y="1778000"/>
            <a:ext cx="3302000" cy="762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2159000"/>
            <a:ext cx="457200" cy="457200"/>
          </a:xfrm>
          <a:prstGeom prst="rect">
            <a:avLst/>
          </a:prstGeom>
        </p:spPr>
      </p:pic>
      <p:sp>
        <p:nvSpPr>
          <p:cNvPr name="AutoShape 11" id="11"/>
          <p:cNvSpPr/>
          <p:nvPr/>
        </p:nvSpPr>
        <p:spPr>
          <a:xfrm rot="0" flipH="false" flipV="false">
            <a:off x="5334000" y="21590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Poppins"/>
                <a:ea typeface="Poppins"/>
                <a:cs typeface="Poppins"/>
                <a:sym typeface="Poppins"/>
              </a:rPr>
              <a:t>02. Bring Your Own</a:t>
            </a:r>
            <a:endParaRPr lang="en-US" sz="1100"/>
          </a:p>
        </p:txBody>
      </p:sp>
      <p:sp>
        <p:nvSpPr>
          <p:cNvPr name="AutoShape 12" id="12"/>
          <p:cNvSpPr/>
          <p:nvPr/>
        </p:nvSpPr>
        <p:spPr>
          <a:xfrm rot="0" flipH="false" flipV="false">
            <a:off x="4699000" y="2921000"/>
            <a:ext cx="2794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1F2937"/>
                </a:solidFill>
                <a:latin typeface="Poppins"/>
                <a:ea typeface="Poppins"/>
                <a:cs typeface="Poppins"/>
                <a:sym typeface="Poppins"/>
              </a:rPr>
              <a:t>SIP / Number Porting</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spcBef>
                <a:spcPts val="800"/>
              </a:spcBef>
            </a:pPr>
            <a:r>
              <a:rPr lang="en-US" b="false" i="false" strike="noStrike" u="none" sz="1200">
                <a:solidFill>
                  <a:srgbClr val="4B5563"/>
                </a:solidFill>
                <a:latin typeface="Poppins"/>
                <a:ea typeface="Poppins"/>
                <a:cs typeface="Poppins"/>
                <a:sym typeface="Poppins"/>
              </a:rPr>
              <a:t>No need to change your existing business number. Connect seamlessly to our platform either by forwarding calls via SIP or directly porting your number over.</a:t>
            </a:r>
          </a:p>
        </p:txBody>
      </p:sp>
      <p:sp>
        <p:nvSpPr>
          <p:cNvPr name="AutoShape 13" id="13"/>
          <p:cNvSpPr/>
          <p:nvPr/>
        </p:nvSpPr>
        <p:spPr>
          <a:xfrm rot="0" flipH="false" flipV="false">
            <a:off x="8128000" y="1778000"/>
            <a:ext cx="3302000" cy="3175000"/>
          </a:xfrm>
          <a:prstGeom prst="roundRect">
            <a:avLst>
              <a:gd name="adj" fmla="val 4800"/>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128000" y="1778000"/>
            <a:ext cx="3302000" cy="762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2159000"/>
            <a:ext cx="457200" cy="457200"/>
          </a:xfrm>
          <a:prstGeom prst="rect">
            <a:avLst/>
          </a:prstGeom>
        </p:spPr>
      </p:pic>
      <p:sp>
        <p:nvSpPr>
          <p:cNvPr name="AutoShape 16" id="16"/>
          <p:cNvSpPr/>
          <p:nvPr/>
        </p:nvSpPr>
        <p:spPr>
          <a:xfrm rot="0" flipH="false" flipV="false">
            <a:off x="9017000" y="21590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Poppins"/>
                <a:ea typeface="Poppins"/>
                <a:cs typeface="Poppins"/>
                <a:sym typeface="Poppins"/>
              </a:rPr>
              <a:t>03. WebRTC Calling</a:t>
            </a:r>
            <a:endParaRPr lang="en-US" sz="1100"/>
          </a:p>
        </p:txBody>
      </p:sp>
      <p:sp>
        <p:nvSpPr>
          <p:cNvPr name="AutoShape 17" id="17"/>
          <p:cNvSpPr/>
          <p:nvPr/>
        </p:nvSpPr>
        <p:spPr>
          <a:xfrm rot="0" flipH="false" flipV="false">
            <a:off x="8382000" y="2921000"/>
            <a:ext cx="2794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1F2937"/>
                </a:solidFill>
                <a:latin typeface="Poppins"/>
                <a:ea typeface="Poppins"/>
                <a:cs typeface="Poppins"/>
                <a:sym typeface="Poppins"/>
              </a:rPr>
              <a:t>Phone-number-free embedded calling</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spcBef>
                <a:spcPts val="800"/>
              </a:spcBef>
            </a:pPr>
            <a:r>
              <a:rPr lang="en-US" b="false" i="false" strike="noStrike" u="none" sz="1200">
                <a:solidFill>
                  <a:srgbClr val="4B5563"/>
                </a:solidFill>
                <a:latin typeface="Poppins"/>
                <a:ea typeface="Poppins"/>
                <a:cs typeface="Poppins"/>
                <a:sym typeface="Poppins"/>
              </a:rPr>
              <a:t>A market-unique feature. Integrate voice calling directly into your website/app for user-to-business communication, no phone number required.</a:t>
            </a:r>
            <a:r>
              <a:rPr lang="en-US" b="false" i="false" strike="noStrike" u="none" sz="1600">
                <a:solidFill>
                  <a:srgbClr val="1F2329"/>
                </a:solidFill>
                <a:latin typeface="Poppins"/>
                <a:ea typeface="Poppins"/>
                <a:cs typeface="Poppins"/>
                <a:sym typeface="Poppins"/>
              </a:rPr>
              <a:t/>
            </a:r>
          </a:p>
          <a:p>
            <a:pPr algn="l" indent="0">
              <a:lnSpc>
                <a:spcPct val="116666"/>
              </a:lnSpc>
              <a:spcBef>
                <a:spcPts val="1000"/>
              </a:spcBef>
            </a:pPr>
            <a:r>
              <a:rPr lang="en-US" b="true" i="false" strike="noStrike" u="none" sz="1200">
                <a:solidFill>
                  <a:srgbClr val="EF4444"/>
                </a:solidFill>
                <a:latin typeface="Poppins"/>
                <a:ea typeface="Poppins"/>
                <a:cs typeface="Poppins"/>
                <a:sym typeface="Poppins"/>
              </a:rPr>
              <a:t>Cost: ~$0.003-0.008/min</a:t>
            </a:r>
          </a:p>
        </p:txBody>
      </p:sp>
      <p:sp>
        <p:nvSpPr>
          <p:cNvPr name="AutoShape 18" id="18"/>
          <p:cNvSpPr/>
          <p:nvPr/>
        </p:nvSpPr>
        <p:spPr>
          <a:xfrm rot="0" flipH="false" flipV="false">
            <a:off x="762000" y="5334000"/>
            <a:ext cx="10668000" cy="1143000"/>
          </a:xfrm>
          <a:prstGeom prst="roundRect">
            <a:avLst>
              <a:gd name="adj" fmla="val 13333"/>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143000" y="5651500"/>
            <a:ext cx="508000" cy="508000"/>
          </a:xfrm>
          <a:prstGeom prst="rect">
            <a:avLst/>
          </a:prstGeom>
        </p:spPr>
      </p:pic>
      <p:sp>
        <p:nvSpPr>
          <p:cNvPr name="AutoShape 20" id="20"/>
          <p:cNvSpPr/>
          <p:nvPr/>
        </p:nvSpPr>
        <p:spPr>
          <a:xfrm rot="0" flipH="false" flipV="false">
            <a:off x="2032000" y="5524500"/>
            <a:ext cx="914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FFFFFF"/>
                </a:solidFill>
                <a:latin typeface="Poppins"/>
                <a:ea typeface="Poppins"/>
                <a:cs typeface="Poppins"/>
                <a:sym typeface="Poppins"/>
              </a:rPr>
              <a:t>UNIQUE MARKET ADVANTAGE:</a:t>
            </a:r>
            <a:r>
              <a:rPr lang="en-US" b="false" i="false" strike="noStrike" u="none" sz="1400">
                <a:solidFill>
                  <a:srgbClr val="E5E7EB"/>
                </a:solidFill>
                <a:latin typeface="Poppins"/>
                <a:ea typeface="Poppins"/>
                <a:cs typeface="Poppins"/>
                <a:sym typeface="Poppins"/>
              </a:rPr>
              <a:t>We are the</a:t>
            </a:r>
            <a:r>
              <a:rPr lang="en-US" b="true" i="false" strike="noStrike" u="none" sz="1400">
                <a:solidFill>
                  <a:srgbClr val="E5E7EB"/>
                </a:solidFill>
                <a:latin typeface="Poppins"/>
                <a:ea typeface="Poppins"/>
                <a:cs typeface="Poppins"/>
                <a:sym typeface="Poppins"/>
              </a:rPr>
              <a:t>only voice AI platform</a:t>
            </a:r>
            <a:r>
              <a:rPr lang="en-US" b="false" i="false" strike="noStrike" u="none" sz="1400">
                <a:solidFill>
                  <a:srgbClr val="E5E7EB"/>
                </a:solidFill>
                <a:latin typeface="Poppins"/>
                <a:ea typeface="Poppins"/>
                <a:cs typeface="Poppins"/>
                <a:sym typeface="Poppins"/>
              </a:rPr>
              <a:t>offering all three telephony access modes simultaneously, empowering businesses of all sizes with unmatched flexibility.</a:t>
            </a:r>
            <a:endParaRPr lang="en-US" sz="1100"/>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Two Simulation Modes: From Second-Level Validation to Real Experience</a:t>
            </a:r>
            <a:endParaRPr lang="en-US" sz="1100"/>
          </a:p>
        </p:txBody>
      </p:sp>
      <p:sp>
        <p:nvSpPr>
          <p:cNvPr name="AutoShape 4" id="4"/>
          <p:cNvSpPr/>
          <p:nvPr/>
        </p:nvSpPr>
        <p:spPr>
          <a:xfrm rot="0" flipH="false" flipV="false">
            <a:off x="762000" y="1778000"/>
            <a:ext cx="5207000" cy="2413000"/>
          </a:xfrm>
          <a:prstGeom prst="roundRect">
            <a:avLst>
              <a:gd name="adj" fmla="val 63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2159000"/>
            <a:ext cx="711200" cy="711200"/>
          </a:xfrm>
          <a:prstGeom prst="rect">
            <a:avLst/>
          </a:prstGeom>
        </p:spPr>
      </p:pic>
      <p:sp>
        <p:nvSpPr>
          <p:cNvPr name="AutoShape 6" id="6"/>
          <p:cNvSpPr/>
          <p:nvPr/>
        </p:nvSpPr>
        <p:spPr>
          <a:xfrm rot="0" flipH="false" flipV="false">
            <a:off x="2032000" y="2095500"/>
            <a:ext cx="3556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Poppins"/>
                <a:ea typeface="Poppins"/>
                <a:cs typeface="Poppins"/>
                <a:sym typeface="Poppins"/>
              </a:rPr>
              <a:t>01. Text Simulation</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spcBef>
                <a:spcPts val="1200"/>
              </a:spcBef>
            </a:pPr>
            <a:r>
              <a:rPr lang="en-US" b="false" i="false" strike="noStrike" u="none" sz="1300">
                <a:solidFill>
                  <a:srgbClr val="4B5563"/>
                </a:solidFill>
                <a:latin typeface="Poppins"/>
                <a:ea typeface="Poppins"/>
                <a:cs typeface="Poppins"/>
                <a:sym typeface="Poppins"/>
              </a:rPr>
              <a:t>Immediate validation is available directly on the canvas. Interact with the workflow like in a chat, and the system highlights the currently executing node. This "killer feature" compresses the "design-test" cycle from minutes to seconds.</a:t>
            </a:r>
          </a:p>
        </p:txBody>
      </p:sp>
      <p:sp>
        <p:nvSpPr>
          <p:cNvPr name="AutoShape 7" id="7"/>
          <p:cNvSpPr/>
          <p:nvPr/>
        </p:nvSpPr>
        <p:spPr>
          <a:xfrm rot="0" flipH="false" flipV="false">
            <a:off x="6223000" y="1778000"/>
            <a:ext cx="5207000" cy="2413000"/>
          </a:xfrm>
          <a:prstGeom prst="roundRect">
            <a:avLst>
              <a:gd name="adj" fmla="val 63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27800" y="2159000"/>
            <a:ext cx="711200" cy="711200"/>
          </a:xfrm>
          <a:prstGeom prst="rect">
            <a:avLst/>
          </a:prstGeom>
        </p:spPr>
      </p:pic>
      <p:sp>
        <p:nvSpPr>
          <p:cNvPr name="AutoShape 9" id="9"/>
          <p:cNvSpPr/>
          <p:nvPr/>
        </p:nvSpPr>
        <p:spPr>
          <a:xfrm rot="0" flipH="false" flipV="false">
            <a:off x="7493000" y="2095500"/>
            <a:ext cx="3556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Poppins"/>
                <a:ea typeface="Poppins"/>
                <a:cs typeface="Poppins"/>
                <a:sym typeface="Poppins"/>
              </a:rPr>
              <a:t>02. Live Call Test</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spcBef>
                <a:spcPts val="1200"/>
              </a:spcBef>
            </a:pPr>
            <a:r>
              <a:rPr lang="en-US" b="false" i="false" strike="noStrike" u="none" sz="1300">
                <a:solidFill>
                  <a:srgbClr val="4B5563"/>
                </a:solidFill>
                <a:latin typeface="Poppins"/>
                <a:ea typeface="Poppins"/>
                <a:cs typeface="Poppins"/>
                <a:sym typeface="Poppins"/>
              </a:rPr>
              <a:t>A temporary test number is provided. You can call this number from a real phone to fully experience the real effects of TTS voice and ASR recognition, just like the end-user would.</a:t>
            </a:r>
          </a:p>
        </p:txBody>
      </p:sp>
      <p:sp>
        <p:nvSpPr>
          <p:cNvPr name="AutoShape 10" id="10"/>
          <p:cNvSpPr/>
          <p:nvPr/>
        </p:nvSpPr>
        <p:spPr>
          <a:xfrm rot="0" flipH="false" flipV="false">
            <a:off x="762000" y="4572000"/>
            <a:ext cx="10668000" cy="1778000"/>
          </a:xfrm>
          <a:prstGeom prst="roundRect">
            <a:avLst>
              <a:gd name="adj" fmla="val 8571"/>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143000" y="4889500"/>
            <a:ext cx="9906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FFFF">
                    <a:alpha val="60000"/>
                  </a:srgbClr>
                </a:solidFill>
                <a:latin typeface="Poppins"/>
                <a:ea typeface="Poppins"/>
                <a:cs typeface="Poppins"/>
                <a:sym typeface="Poppins"/>
              </a:rPr>
              <a:t>CORE VALUE</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spcBef>
                <a:spcPts val="800"/>
              </a:spcBef>
            </a:pPr>
            <a:r>
              <a:rPr lang="en-US" b="true" i="false" strike="noStrike" u="none" sz="1800">
                <a:solidFill>
                  <a:srgbClr val="FFFFFF"/>
                </a:solidFill>
                <a:latin typeface="Poppins"/>
                <a:ea typeface="Poppins"/>
                <a:cs typeface="Poppins"/>
                <a:sym typeface="Poppins"/>
              </a:rPr>
              <a:t>Dual-mode testing ensures users have 100% confidence in the workflow's behavior before publishing.</a:t>
            </a:r>
            <a:r>
              <a:rPr lang="en-US" b="false" i="false" strike="noStrike" u="none" sz="1600">
                <a:solidFill>
                  <a:srgbClr val="1F2329"/>
                </a:solidFill>
                <a:latin typeface="Poppins"/>
                <a:ea typeface="Poppins"/>
                <a:cs typeface="Poppins"/>
                <a:sym typeface="Poppins"/>
              </a:rPr>
              <a:t/>
            </a:r>
          </a:p>
          <a:p>
            <a:pPr algn="l" indent="0">
              <a:lnSpc>
                <a:spcPct val="125000"/>
              </a:lnSpc>
              <a:spcBef>
                <a:spcPts val="600"/>
              </a:spcBef>
            </a:pPr>
            <a:r>
              <a:rPr lang="en-US" b="false" i="false" strike="noStrike" u="none" sz="1300">
                <a:solidFill>
                  <a:srgbClr val="FFFFFF">
                    <a:alpha val="80000"/>
                  </a:srgbClr>
                </a:solidFill>
                <a:latin typeface="Poppins"/>
                <a:ea typeface="Poppins"/>
                <a:cs typeface="Poppins"/>
                <a:sym typeface="Poppins"/>
              </a:rPr>
              <a:t>Completely eliminating the anxiety of "not knowing if it works."</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Safe Iteration, Zero Fear</a:t>
            </a:r>
            <a:endParaRPr lang="en-US" sz="1100"/>
          </a:p>
        </p:txBody>
      </p:sp>
      <p:sp>
        <p:nvSpPr>
          <p:cNvPr name="AutoShape 3" id="3"/>
          <p:cNvSpPr/>
          <p:nvPr/>
        </p:nvSpPr>
        <p:spPr>
          <a:xfrm rot="0" flipH="false" flipV="false">
            <a:off x="762000" y="1651000"/>
            <a:ext cx="5207000" cy="2222500"/>
          </a:xfrm>
          <a:prstGeom prst="roundRect">
            <a:avLst>
              <a:gd name="adj" fmla="val 6857"/>
            </a:avLst>
          </a:prstGeom>
          <a:solidFill>
            <a:srgbClr val="FFFFFF">
              <a:alpha val="95000"/>
            </a:srgbClr>
          </a:solidFill>
          <a:ln w="12700" cmpd="sng" cap="flat">
            <a:solidFill>
              <a:srgbClr val="E0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2032000"/>
            <a:ext cx="609600" cy="609600"/>
          </a:xfrm>
          <a:prstGeom prst="rect">
            <a:avLst/>
          </a:prstGeom>
        </p:spPr>
      </p:pic>
      <p:sp>
        <p:nvSpPr>
          <p:cNvPr name="AutoShape 5" id="5"/>
          <p:cNvSpPr/>
          <p:nvPr/>
        </p:nvSpPr>
        <p:spPr>
          <a:xfrm rot="0" flipH="false" flipV="false">
            <a:off x="1955800" y="1968500"/>
            <a:ext cx="3683000" cy="1587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Auto-Snapshot</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spcBef>
                <a:spcPts val="800"/>
              </a:spcBef>
            </a:pPr>
            <a:r>
              <a:rPr lang="en-US" b="false" i="false" strike="noStrike" u="none" sz="1300">
                <a:solidFill>
                  <a:srgbClr val="525C5C"/>
                </a:solidFill>
                <a:latin typeface="Poppins"/>
                <a:ea typeface="Poppins"/>
                <a:cs typeface="Poppins"/>
                <a:sym typeface="Poppins"/>
              </a:rPr>
              <a:t>Every time you save the workflow, the system automatically creates a version snapshot, keeping the last 50 versions.</a:t>
            </a:r>
          </a:p>
        </p:txBody>
      </p:sp>
      <p:sp>
        <p:nvSpPr>
          <p:cNvPr name="AutoShape 6" id="6"/>
          <p:cNvSpPr/>
          <p:nvPr/>
        </p:nvSpPr>
        <p:spPr>
          <a:xfrm rot="0" flipH="false" flipV="false">
            <a:off x="6223000" y="1651000"/>
            <a:ext cx="5207000" cy="2222500"/>
          </a:xfrm>
          <a:prstGeom prst="roundRect">
            <a:avLst>
              <a:gd name="adj" fmla="val 6857"/>
            </a:avLst>
          </a:prstGeom>
          <a:solidFill>
            <a:srgbClr val="FFFFFF">
              <a:alpha val="95000"/>
            </a:srgbClr>
          </a:solidFill>
          <a:ln w="12700" cmpd="sng" cap="flat">
            <a:solidFill>
              <a:srgbClr val="E0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27800" y="2032000"/>
            <a:ext cx="609600" cy="609600"/>
          </a:xfrm>
          <a:prstGeom prst="rect">
            <a:avLst/>
          </a:prstGeom>
        </p:spPr>
      </p:pic>
      <p:sp>
        <p:nvSpPr>
          <p:cNvPr name="AutoShape 8" id="8"/>
          <p:cNvSpPr/>
          <p:nvPr/>
        </p:nvSpPr>
        <p:spPr>
          <a:xfrm rot="0" flipH="false" flipV="false">
            <a:off x="7416800" y="1968500"/>
            <a:ext cx="3683000" cy="1587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Version Diff</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spcBef>
                <a:spcPts val="800"/>
              </a:spcBef>
            </a:pPr>
            <a:r>
              <a:rPr lang="en-US" b="false" i="false" strike="noStrike" u="none" sz="1300">
                <a:solidFill>
                  <a:srgbClr val="525C5C"/>
                </a:solidFill>
                <a:latin typeface="Poppins"/>
                <a:ea typeface="Poppins"/>
                <a:cs typeface="Poppins"/>
                <a:sym typeface="Poppins"/>
              </a:rPr>
              <a:t>Visually compare differences between any two versions, with new nodes marked green, deleted nodes red, and modified nodes yellow.</a:t>
            </a:r>
          </a:p>
        </p:txBody>
      </p:sp>
      <p:sp>
        <p:nvSpPr>
          <p:cNvPr name="AutoShape 9" id="9"/>
          <p:cNvSpPr/>
          <p:nvPr/>
        </p:nvSpPr>
        <p:spPr>
          <a:xfrm rot="0" flipH="false" flipV="false">
            <a:off x="762000" y="4191000"/>
            <a:ext cx="5207000" cy="2222500"/>
          </a:xfrm>
          <a:prstGeom prst="roundRect">
            <a:avLst>
              <a:gd name="adj" fmla="val 6857"/>
            </a:avLst>
          </a:prstGeom>
          <a:solidFill>
            <a:srgbClr val="FFFFFF">
              <a:alpha val="95000"/>
            </a:srgbClr>
          </a:solidFill>
          <a:ln w="12700" cmpd="sng" cap="flat">
            <a:solidFill>
              <a:srgbClr val="E0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66800" y="4572000"/>
            <a:ext cx="609600" cy="609600"/>
          </a:xfrm>
          <a:prstGeom prst="rect">
            <a:avLst/>
          </a:prstGeom>
        </p:spPr>
      </p:pic>
      <p:sp>
        <p:nvSpPr>
          <p:cNvPr name="AutoShape 11" id="11"/>
          <p:cNvSpPr/>
          <p:nvPr/>
        </p:nvSpPr>
        <p:spPr>
          <a:xfrm rot="0" flipH="false" flipV="false">
            <a:off x="1955800" y="4508500"/>
            <a:ext cx="3683000" cy="1587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One-Click Rollback</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spcBef>
                <a:spcPts val="800"/>
              </a:spcBef>
            </a:pPr>
            <a:r>
              <a:rPr lang="en-US" b="false" i="false" strike="noStrike" u="none" sz="1300">
                <a:solidFill>
                  <a:srgbClr val="525C5C"/>
                </a:solidFill>
                <a:latin typeface="Poppins"/>
                <a:ea typeface="Poppins"/>
                <a:cs typeface="Poppins"/>
                <a:sym typeface="Poppins"/>
              </a:rPr>
              <a:t>If issues arise after a new version goes live, roll back to any previous stable version in just 30 seconds.</a:t>
            </a:r>
          </a:p>
        </p:txBody>
      </p:sp>
      <p:sp>
        <p:nvSpPr>
          <p:cNvPr name="AutoShape 12" id="12"/>
          <p:cNvSpPr/>
          <p:nvPr/>
        </p:nvSpPr>
        <p:spPr>
          <a:xfrm rot="0" flipH="false" flipV="false">
            <a:off x="6223000" y="4191000"/>
            <a:ext cx="5207000" cy="2222500"/>
          </a:xfrm>
          <a:prstGeom prst="roundRect">
            <a:avLst>
              <a:gd name="adj" fmla="val 6857"/>
            </a:avLst>
          </a:prstGeom>
          <a:solidFill>
            <a:srgbClr val="FFFFFF">
              <a:alpha val="95000"/>
            </a:srgbClr>
          </a:solidFill>
          <a:ln w="12700" cmpd="sng" cap="flat">
            <a:solidFill>
              <a:srgbClr val="E0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527800" y="4572000"/>
            <a:ext cx="609600" cy="609600"/>
          </a:xfrm>
          <a:prstGeom prst="rect">
            <a:avLst/>
          </a:prstGeom>
        </p:spPr>
      </p:pic>
      <p:sp>
        <p:nvSpPr>
          <p:cNvPr name="AutoShape 14" id="14"/>
          <p:cNvSpPr/>
          <p:nvPr/>
        </p:nvSpPr>
        <p:spPr>
          <a:xfrm rot="0" flipH="false" flipV="false">
            <a:off x="7416800" y="4508500"/>
            <a:ext cx="3683000" cy="1587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Draft/Published Separation</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spcBef>
                <a:spcPts val="800"/>
              </a:spcBef>
            </a:pPr>
            <a:r>
              <a:rPr lang="en-US" b="false" i="false" strike="noStrike" u="none" sz="1300">
                <a:solidFill>
                  <a:srgbClr val="525C5C"/>
                </a:solidFill>
                <a:latin typeface="Poppins"/>
                <a:ea typeface="Poppins"/>
                <a:cs typeface="Poppins"/>
                <a:sym typeface="Poppins"/>
              </a:rPr>
              <a:t>Published versions are locked. All changes are made in a draft and published only when confirmed, ensuring absolute stability for online business.</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Node-Level Insights, Precise Attribution</a:t>
            </a:r>
            <a:endParaRPr lang="en-US" sz="1100"/>
          </a:p>
        </p:txBody>
      </p:sp>
      <p:sp>
        <p:nvSpPr>
          <p:cNvPr name="AutoShape 3" id="3"/>
          <p:cNvSpPr/>
          <p:nvPr/>
        </p:nvSpPr>
        <p:spPr>
          <a:xfrm rot="0" flipH="false" flipV="false">
            <a:off x="762000" y="1651000"/>
            <a:ext cx="5207000" cy="2349500"/>
          </a:xfrm>
          <a:prstGeom prst="roundRect">
            <a:avLst>
              <a:gd name="adj" fmla="val 6486"/>
            </a:avLst>
          </a:prstGeom>
          <a:solidFill>
            <a:srgbClr val="FFFFFF">
              <a:alpha val="9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79500" y="2159000"/>
            <a:ext cx="711200" cy="711200"/>
          </a:xfrm>
          <a:prstGeom prst="rect">
            <a:avLst/>
          </a:prstGeom>
        </p:spPr>
      </p:pic>
      <p:sp>
        <p:nvSpPr>
          <p:cNvPr name="AutoShape 5" id="5"/>
          <p:cNvSpPr/>
          <p:nvPr/>
        </p:nvSpPr>
        <p:spPr>
          <a:xfrm rot="0" flipH="false" flipV="false">
            <a:off x="2095500" y="1905000"/>
            <a:ext cx="3556000" cy="18415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Basic Metrics</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spcBef>
                <a:spcPts val="800"/>
              </a:spcBef>
            </a:pPr>
            <a:r>
              <a:rPr lang="en-US" b="false" i="false" strike="noStrike" u="none" sz="1300">
                <a:solidFill>
                  <a:srgbClr val="4B5563"/>
                </a:solidFill>
                <a:latin typeface="Poppins"/>
                <a:ea typeface="Poppins"/>
                <a:cs typeface="Poppins"/>
                <a:sym typeface="Poppins"/>
              </a:rPr>
              <a:t>Real-time display of core KPIs such as call volume, answer rate, average call duration, and customer satisfaction, giving you a snapshot of service health.</a:t>
            </a:r>
          </a:p>
        </p:txBody>
      </p:sp>
      <p:sp>
        <p:nvSpPr>
          <p:cNvPr name="AutoShape 6" id="6"/>
          <p:cNvSpPr/>
          <p:nvPr/>
        </p:nvSpPr>
        <p:spPr>
          <a:xfrm rot="0" flipH="false" flipV="false">
            <a:off x="6223000" y="1651000"/>
            <a:ext cx="5207000" cy="2349500"/>
          </a:xfrm>
          <a:prstGeom prst="roundRect">
            <a:avLst>
              <a:gd name="adj" fmla="val 6486"/>
            </a:avLst>
          </a:prstGeom>
          <a:solidFill>
            <a:srgbClr val="FFFFFF">
              <a:alpha val="9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40500" y="2159000"/>
            <a:ext cx="711200" cy="711200"/>
          </a:xfrm>
          <a:prstGeom prst="rect">
            <a:avLst/>
          </a:prstGeom>
        </p:spPr>
      </p:pic>
      <p:sp>
        <p:nvSpPr>
          <p:cNvPr name="AutoShape 8" id="8"/>
          <p:cNvSpPr/>
          <p:nvPr/>
        </p:nvSpPr>
        <p:spPr>
          <a:xfrm rot="0" flipH="false" flipV="false">
            <a:off x="7556500" y="1905000"/>
            <a:ext cx="3556000" cy="18415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Node Heatmap</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spcBef>
                <a:spcPts val="800"/>
              </a:spcBef>
            </a:pPr>
            <a:r>
              <a:rPr lang="en-US" b="false" i="false" strike="noStrike" u="none" sz="1300">
                <a:solidFill>
                  <a:srgbClr val="4B5563"/>
                </a:solidFill>
                <a:latin typeface="Poppins"/>
                <a:ea typeface="Poppins"/>
                <a:cs typeface="Poppins"/>
                <a:sym typeface="Poppins"/>
              </a:rPr>
              <a:t>Uses a color-coded system (Green/Yellow/Red) to visualize conversion rates. A red node immediately signals high customer drop-off, pinpointing optimization priorities.</a:t>
            </a:r>
          </a:p>
        </p:txBody>
      </p:sp>
      <p:sp>
        <p:nvSpPr>
          <p:cNvPr name="AutoShape 9" id="9"/>
          <p:cNvSpPr/>
          <p:nvPr/>
        </p:nvSpPr>
        <p:spPr>
          <a:xfrm rot="0" flipH="false" flipV="false">
            <a:off x="762000" y="4191000"/>
            <a:ext cx="5207000" cy="2349500"/>
          </a:xfrm>
          <a:prstGeom prst="roundRect">
            <a:avLst>
              <a:gd name="adj" fmla="val 6486"/>
            </a:avLst>
          </a:prstGeom>
          <a:solidFill>
            <a:srgbClr val="FFFFFF">
              <a:alpha val="9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79500" y="4699000"/>
            <a:ext cx="711200" cy="711200"/>
          </a:xfrm>
          <a:prstGeom prst="rect">
            <a:avLst/>
          </a:prstGeom>
        </p:spPr>
      </p:pic>
      <p:sp>
        <p:nvSpPr>
          <p:cNvPr name="AutoShape 11" id="11"/>
          <p:cNvSpPr/>
          <p:nvPr/>
        </p:nvSpPr>
        <p:spPr>
          <a:xfrm rot="0" flipH="false" flipV="false">
            <a:off x="2095500" y="4445000"/>
            <a:ext cx="3556000" cy="18415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Conversion Funnel</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spcBef>
                <a:spcPts val="800"/>
              </a:spcBef>
            </a:pPr>
            <a:r>
              <a:rPr lang="en-US" b="false" i="false" strike="noStrike" u="none" sz="1300">
                <a:solidFill>
                  <a:srgbClr val="4B5563"/>
                </a:solidFill>
                <a:latin typeface="Poppins"/>
                <a:ea typeface="Poppins"/>
                <a:cs typeface="Poppins"/>
                <a:sym typeface="Poppins"/>
              </a:rPr>
              <a:t>Trace the customer journey from "Incoming Call" to "Successful Transfer" or "Problem Solved". The funnel clearly quantifies drop-offs at each critical stage.</a:t>
            </a:r>
          </a:p>
        </p:txBody>
      </p:sp>
      <p:sp>
        <p:nvSpPr>
          <p:cNvPr name="AutoShape 12" id="12"/>
          <p:cNvSpPr/>
          <p:nvPr/>
        </p:nvSpPr>
        <p:spPr>
          <a:xfrm rot="0" flipH="false" flipV="false">
            <a:off x="6223000" y="4191000"/>
            <a:ext cx="5207000" cy="2349500"/>
          </a:xfrm>
          <a:prstGeom prst="roundRect">
            <a:avLst>
              <a:gd name="adj" fmla="val 6486"/>
            </a:avLst>
          </a:prstGeom>
          <a:solidFill>
            <a:srgbClr val="FFFFFF">
              <a:alpha val="9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540500" y="4699000"/>
            <a:ext cx="711200" cy="711200"/>
          </a:xfrm>
          <a:prstGeom prst="rect">
            <a:avLst/>
          </a:prstGeom>
        </p:spPr>
      </p:pic>
      <p:sp>
        <p:nvSpPr>
          <p:cNvPr name="AutoShape 14" id="14"/>
          <p:cNvSpPr/>
          <p:nvPr/>
        </p:nvSpPr>
        <p:spPr>
          <a:xfrm rot="0" flipH="false" flipV="false">
            <a:off x="7556500" y="4445000"/>
            <a:ext cx="3556000" cy="18415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Exception Alerts</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spcBef>
                <a:spcPts val="800"/>
              </a:spcBef>
            </a:pPr>
            <a:r>
              <a:rPr lang="en-US" b="false" i="false" strike="noStrike" u="none" sz="1300">
                <a:solidFill>
                  <a:srgbClr val="4B5563"/>
                </a:solidFill>
                <a:latin typeface="Poppins"/>
                <a:ea typeface="Poppins"/>
                <a:cs typeface="Poppins"/>
                <a:sym typeface="Poppins"/>
              </a:rPr>
              <a:t>The system automatically detects anomalies like consecutive failures, timeouts, or routing errors, and sends real-time SMS or email notifications to ensure rapid response.</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Example: Standard Customer Service Routing</a:t>
            </a:r>
            <a:endParaRPr lang="en-US" sz="1100"/>
          </a:p>
        </p:txBody>
      </p:sp>
      <p:pic>
        <p:nvPicPr>
          <p:cNvPr name="Picture 4" id="4"/>
          <p:cNvPicPr>
            <a:picLocks noChangeAspect="true"/>
          </p:cNvPicPr>
          <p:nvPr/>
        </p:nvPicPr>
        <p:blipFill>
          <a:blip r:embed="rId3"/>
          <a:srcRect l="17058" r="17058" t="0" b="0"/>
          <a:stretch>
            <a:fillRect/>
          </a:stretch>
        </p:blipFill>
        <p:spPr>
          <a:xfrm rot="0" flipH="false" flipV="false">
            <a:off x="762000" y="1778000"/>
            <a:ext cx="5080000" cy="4318000"/>
          </a:xfrm>
          <a:prstGeom prst="roundRect">
            <a:avLst>
              <a:gd name="adj" fmla="val 4705"/>
            </a:avLst>
          </a:prstGeom>
          <a:noFill/>
          <a:ln w="25400" cmpd="sng" cap="flat">
            <a:solidFill>
              <a:srgbClr val="2F4F4F">
                <a:alpha val="20000"/>
              </a:srgbClr>
            </a:solidFill>
            <a:prstDash val="solid"/>
            <a:round/>
          </a:ln>
          <a:effectLst>
            <a:outerShdw dir="2700000" dist="190500" blurRad="444500" algn="tl" rotWithShape="false">
              <a:srgbClr val="000000">
                <a:alpha val="25000"/>
              </a:srgbClr>
            </a:outerShdw>
          </a:effectLst>
        </p:spPr>
      </p:pic>
      <p:sp>
        <p:nvSpPr>
          <p:cNvPr name="AutoShape 5" id="5"/>
          <p:cNvSpPr/>
          <p:nvPr/>
        </p:nvSpPr>
        <p:spPr>
          <a:xfrm rot="0" flipH="false" flipV="false">
            <a:off x="6223000" y="1778000"/>
            <a:ext cx="5207000" cy="2667000"/>
          </a:xfrm>
          <a:prstGeom prst="roundRect">
            <a:avLst>
              <a:gd name="adj" fmla="val 5714"/>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2032000"/>
            <a:ext cx="304800" cy="304800"/>
          </a:xfrm>
          <a:prstGeom prst="rect">
            <a:avLst/>
          </a:prstGeom>
        </p:spPr>
      </p:pic>
      <p:sp>
        <p:nvSpPr>
          <p:cNvPr name="AutoShape 7" id="7"/>
          <p:cNvSpPr/>
          <p:nvPr/>
        </p:nvSpPr>
        <p:spPr>
          <a:xfrm rot="0" flipH="false" flipV="false">
            <a:off x="6921500" y="2006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900">
                <a:solidFill>
                  <a:srgbClr val="2F4F4F"/>
                </a:solidFill>
                <a:latin typeface="Poppins"/>
                <a:ea typeface="Poppins"/>
                <a:cs typeface="Poppins"/>
                <a:sym typeface="Poppins"/>
              </a:rPr>
              <a:t>Call Flow Logic</a:t>
            </a:r>
            <a:endParaRPr lang="en-US" sz="1100"/>
          </a:p>
        </p:txBody>
      </p:sp>
      <p:sp>
        <p:nvSpPr>
          <p:cNvPr name="AutoShape 8" id="8"/>
          <p:cNvSpPr/>
          <p:nvPr/>
        </p:nvSpPr>
        <p:spPr>
          <a:xfrm rot="0" flipH="false" flipV="false">
            <a:off x="6477000" y="2667000"/>
            <a:ext cx="4699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3D3D3D"/>
                </a:solidFill>
                <a:latin typeface="Noto Sans SC"/>
                <a:ea typeface="Noto Sans SC"/>
                <a:cs typeface="Noto Sans SC"/>
                <a:sym typeface="Noto Sans SC"/>
              </a:rPr>
              <a:t>•</a:t>
            </a:r>
            <a:r>
              <a:rPr lang="en-US" b="true" i="false" strike="noStrike" u="none" sz="1300">
                <a:solidFill>
                  <a:srgbClr val="3D3D3D"/>
                </a:solidFill>
                <a:latin typeface="Noto Sans SC"/>
                <a:ea typeface="Noto Sans SC"/>
                <a:cs typeface="Noto Sans SC"/>
                <a:sym typeface="Noto Sans SC"/>
              </a:rPr>
              <a:t>Business Hours Check:</a:t>
            </a:r>
            <a:r>
              <a:rPr lang="en-US" b="false" i="false" strike="noStrike" u="none" sz="1300">
                <a:solidFill>
                  <a:srgbClr val="3D3D3D"/>
                </a:solidFill>
                <a:latin typeface="Noto Sans SC"/>
                <a:ea typeface="Noto Sans SC"/>
                <a:cs typeface="Noto Sans SC"/>
                <a:sym typeface="Noto Sans SC"/>
              </a:rPr>
              <a:t>If open → AI Intent Detection; if closed → play out-of-hours message &amp; guide to FAQ/voicemail.</a:t>
            </a:r>
            <a:r>
              <a:rPr lang="en-US" b="false" i="false" strike="noStrike" u="none" sz="1300">
                <a:solidFill>
                  <a:srgbClr val="3D3D3D"/>
                </a:solidFill>
                <a:latin typeface="Noto Sans SC"/>
                <a:ea typeface="Noto Sans SC"/>
                <a:cs typeface="Noto Sans SC"/>
                <a:sym typeface="Noto Sans SC"/>
              </a:rPr>
              <a:t/>
            </a:r>
            <a:endParaRPr lang="en-US" sz="1100"/>
          </a:p>
          <a:p>
            <a:pPr algn="l" indent="0">
              <a:lnSpc>
                <a:spcPct val="116666"/>
              </a:lnSpc>
            </a:pPr>
            <a:r>
              <a:rPr lang="en-US" b="false" i="false" strike="noStrike" u="none" sz="1300">
                <a:solidFill>
                  <a:srgbClr val="3D3D3D"/>
                </a:solidFill>
                <a:latin typeface="Noto Sans SC"/>
                <a:ea typeface="Noto Sans SC"/>
                <a:cs typeface="Noto Sans SC"/>
                <a:sym typeface="Noto Sans SC"/>
              </a:rPr>
              <a:t>•</a:t>
            </a:r>
            <a:r>
              <a:rPr lang="en-US" b="true" i="false" strike="noStrike" u="none" sz="1300">
                <a:solidFill>
                  <a:srgbClr val="3D3D3D"/>
                </a:solidFill>
                <a:latin typeface="Noto Sans SC"/>
                <a:ea typeface="Noto Sans SC"/>
                <a:cs typeface="Noto Sans SC"/>
                <a:sym typeface="Noto Sans SC"/>
              </a:rPr>
              <a:t>Intent-Based Routing:</a:t>
            </a:r>
            <a:r>
              <a:rPr lang="en-US" b="false" i="false" strike="noStrike" u="none" sz="1300">
                <a:solidFill>
                  <a:srgbClr val="3D3D3D"/>
                </a:solidFill>
                <a:latin typeface="Noto Sans SC"/>
                <a:ea typeface="Noto Sans SC"/>
                <a:cs typeface="Noto Sans SC"/>
                <a:sym typeface="Noto Sans SC"/>
              </a:rPr>
              <a:t>Classify to "Consult", "Book", or "Complain" branches.</a:t>
            </a:r>
            <a:r>
              <a:rPr lang="en-US" b="false" i="false" strike="noStrike" u="none" sz="1300">
                <a:solidFill>
                  <a:srgbClr val="3D3D3D"/>
                </a:solidFill>
                <a:latin typeface="Noto Sans SC"/>
                <a:ea typeface="Noto Sans SC"/>
                <a:cs typeface="Noto Sans SC"/>
                <a:sym typeface="Noto Sans SC"/>
              </a:rPr>
              <a:t/>
            </a:r>
          </a:p>
          <a:p>
            <a:pPr algn="l" indent="0">
              <a:lnSpc>
                <a:spcPct val="116666"/>
              </a:lnSpc>
            </a:pPr>
            <a:r>
              <a:rPr lang="en-US" b="false" i="false" strike="noStrike" u="none" sz="1300">
                <a:solidFill>
                  <a:srgbClr val="3D3D3D"/>
                </a:solidFill>
                <a:latin typeface="Noto Sans SC"/>
                <a:ea typeface="Noto Sans SC"/>
                <a:cs typeface="Noto Sans SC"/>
                <a:sym typeface="Noto Sans SC"/>
              </a:rPr>
              <a:t>•</a:t>
            </a:r>
            <a:r>
              <a:rPr lang="en-US" b="true" i="false" strike="noStrike" u="none" sz="1300">
                <a:solidFill>
                  <a:srgbClr val="3D3D3D"/>
                </a:solidFill>
                <a:latin typeface="Noto Sans SC"/>
                <a:ea typeface="Noto Sans SC"/>
                <a:cs typeface="Noto Sans SC"/>
                <a:sym typeface="Noto Sans SC"/>
              </a:rPr>
              <a:t>Booking Path:</a:t>
            </a:r>
            <a:r>
              <a:rPr lang="en-US" b="false" i="false" strike="noStrike" u="none" sz="1300">
                <a:solidFill>
                  <a:srgbClr val="3D3D3D"/>
                </a:solidFill>
                <a:latin typeface="Noto Sans SC"/>
                <a:ea typeface="Noto Sans SC"/>
                <a:cs typeface="Noto Sans SC"/>
                <a:sym typeface="Noto Sans SC"/>
              </a:rPr>
              <a:t>Connect to Calendar Node → Auto-send confirmation SMS → End call.</a:t>
            </a:r>
          </a:p>
        </p:txBody>
      </p:sp>
      <p:sp>
        <p:nvSpPr>
          <p:cNvPr name="AutoShape 9" id="9"/>
          <p:cNvSpPr/>
          <p:nvPr/>
        </p:nvSpPr>
        <p:spPr>
          <a:xfrm rot="0" flipH="false" flipV="false">
            <a:off x="6223000" y="4699000"/>
            <a:ext cx="5207000" cy="1651000"/>
          </a:xfrm>
          <a:prstGeom prst="roundRect">
            <a:avLst>
              <a:gd name="adj" fmla="val 9230"/>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477000" y="4953000"/>
            <a:ext cx="304800" cy="304800"/>
          </a:xfrm>
          <a:prstGeom prst="rect">
            <a:avLst/>
          </a:prstGeom>
        </p:spPr>
      </p:pic>
      <p:sp>
        <p:nvSpPr>
          <p:cNvPr name="AutoShape 11" id="11"/>
          <p:cNvSpPr/>
          <p:nvPr/>
        </p:nvSpPr>
        <p:spPr>
          <a:xfrm rot="0" flipH="false" flipV="false">
            <a:off x="6921500" y="4927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900">
                <a:solidFill>
                  <a:srgbClr val="2F4F4F"/>
                </a:solidFill>
                <a:latin typeface="Poppins"/>
                <a:ea typeface="Poppins"/>
                <a:cs typeface="Poppins"/>
                <a:sym typeface="Poppins"/>
              </a:rPr>
              <a:t>Key AI &amp; System Configuration</a:t>
            </a:r>
            <a:endParaRPr lang="en-US" sz="1100"/>
          </a:p>
        </p:txBody>
      </p:sp>
      <p:sp>
        <p:nvSpPr>
          <p:cNvPr name="AutoShape 12" id="12"/>
          <p:cNvSpPr/>
          <p:nvPr/>
        </p:nvSpPr>
        <p:spPr>
          <a:xfrm rot="0" flipH="false" flipV="false">
            <a:off x="6477000" y="5588000"/>
            <a:ext cx="469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3D3D3D"/>
                </a:solidFill>
                <a:latin typeface="Noto Sans SC"/>
                <a:ea typeface="Noto Sans SC"/>
                <a:cs typeface="Noto Sans SC"/>
                <a:sym typeface="Noto Sans SC"/>
              </a:rPr>
              <a:t>AI Intent Detection is set with</a:t>
            </a:r>
            <a:r>
              <a:rPr lang="en-US" b="true" i="false" strike="noStrike" u="none" sz="1300">
                <a:solidFill>
                  <a:srgbClr val="3D3D3D"/>
                </a:solidFill>
                <a:latin typeface="Noto Sans SC"/>
                <a:ea typeface="Noto Sans SC"/>
                <a:cs typeface="Noto Sans SC"/>
                <a:sym typeface="Noto Sans SC"/>
              </a:rPr>
              <a:t>3 custom intents</a:t>
            </a:r>
            <a:r>
              <a:rPr lang="en-US" b="false" i="false" strike="noStrike" u="none" sz="1300">
                <a:solidFill>
                  <a:srgbClr val="3D3D3D"/>
                </a:solidFill>
                <a:latin typeface="Noto Sans SC"/>
                <a:ea typeface="Noto Sans SC"/>
                <a:cs typeface="Noto Sans SC"/>
                <a:sym typeface="Noto Sans SC"/>
              </a:rPr>
              <a:t>(Consult, Book, Complain) and a confidence threshold of</a:t>
            </a:r>
            <a:r>
              <a:rPr lang="en-US" b="true" i="false" strike="noStrike" u="none" sz="1300">
                <a:solidFill>
                  <a:srgbClr val="3D3D3D"/>
                </a:solidFill>
                <a:latin typeface="Noto Sans SC"/>
                <a:ea typeface="Noto Sans SC"/>
                <a:cs typeface="Noto Sans SC"/>
                <a:sym typeface="Noto Sans SC"/>
              </a:rPr>
              <a:t>0.7</a:t>
            </a:r>
            <a:r>
              <a:rPr lang="en-US" b="false" i="false" strike="noStrike" u="none" sz="1300">
                <a:solidFill>
                  <a:srgbClr val="3D3D3D"/>
                </a:solidFill>
                <a:latin typeface="Noto Sans SC"/>
                <a:ea typeface="Noto Sans SC"/>
                <a:cs typeface="Noto Sans SC"/>
                <a:sym typeface="Noto Sans SC"/>
              </a:rPr>
              <a:t>. A reliable</a:t>
            </a:r>
            <a:r>
              <a:rPr lang="en-US" b="true" i="false" strike="noStrike" u="none" sz="1300">
                <a:solidFill>
                  <a:srgbClr val="3D3D3D"/>
                </a:solidFill>
                <a:latin typeface="Noto Sans SC"/>
                <a:ea typeface="Noto Sans SC"/>
                <a:cs typeface="Noto Sans SC"/>
                <a:sym typeface="Noto Sans SC"/>
              </a:rPr>
              <a:t>touch-tone fallback</a:t>
            </a:r>
            <a:r>
              <a:rPr lang="en-US" b="false" i="false" strike="noStrike" u="none" sz="1300">
                <a:solidFill>
                  <a:srgbClr val="3D3D3D"/>
                </a:solidFill>
                <a:latin typeface="Noto Sans SC"/>
                <a:ea typeface="Noto Sans SC"/>
                <a:cs typeface="Noto Sans SC"/>
                <a:sym typeface="Noto Sans SC"/>
              </a:rPr>
              <a:t>is enabled for misrecognized or complex queries.</a:t>
            </a:r>
            <a:endParaRPr lang="en-US" sz="1100"/>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Example: Medical Clinic Advanced Automation</a:t>
            </a:r>
            <a:endParaRPr lang="en-US" sz="1100"/>
          </a:p>
        </p:txBody>
      </p:sp>
      <p:pic>
        <p:nvPicPr>
          <p:cNvPr name="Picture 3" id="3"/>
          <p:cNvPicPr>
            <a:picLocks noChangeAspect="true"/>
          </p:cNvPicPr>
          <p:nvPr/>
        </p:nvPicPr>
        <p:blipFill>
          <a:blip r:embed="rId3"/>
          <a:srcRect l="17282" r="17282" t="0" b="0"/>
          <a:stretch>
            <a:fillRect/>
          </a:stretch>
        </p:blipFill>
        <p:spPr>
          <a:xfrm rot="0" flipH="false" flipV="false">
            <a:off x="762000" y="1778000"/>
            <a:ext cx="4572000" cy="4318000"/>
          </a:xfrm>
          <a:prstGeom prst="roundRect">
            <a:avLst>
              <a:gd name="adj" fmla="val 4705"/>
            </a:avLst>
          </a:prstGeom>
          <a:noFill/>
          <a:ln w="25400" cmpd="sng" cap="flat">
            <a:noFill/>
            <a:prstDash val="solid"/>
            <a:round/>
          </a:ln>
          <a:effectLst>
            <a:outerShdw dir="2700000" dist="190500" blurRad="444500" algn="tl" rotWithShape="false">
              <a:srgbClr val="000000">
                <a:alpha val="25000"/>
              </a:srgbClr>
            </a:outerShdw>
          </a:effectLst>
        </p:spPr>
      </p:pic>
      <p:sp>
        <p:nvSpPr>
          <p:cNvPr name="AutoShape 4" id="4"/>
          <p:cNvSpPr/>
          <p:nvPr/>
        </p:nvSpPr>
        <p:spPr>
          <a:xfrm rot="0" flipH="false" flipV="false">
            <a:off x="5715000" y="1778000"/>
            <a:ext cx="2794000" cy="2159000"/>
          </a:xfrm>
          <a:prstGeom prst="roundRect">
            <a:avLst>
              <a:gd name="adj" fmla="val 7058"/>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969000" y="2032000"/>
            <a:ext cx="406400" cy="406400"/>
          </a:xfrm>
          <a:prstGeom prst="rect">
            <a:avLst/>
          </a:prstGeom>
        </p:spPr>
      </p:pic>
      <p:sp>
        <p:nvSpPr>
          <p:cNvPr name="AutoShape 6" id="6"/>
          <p:cNvSpPr/>
          <p:nvPr/>
        </p:nvSpPr>
        <p:spPr>
          <a:xfrm rot="0" flipH="false" flipV="false">
            <a:off x="6540500" y="2006600"/>
            <a:ext cx="1778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Smart Flow Routing</a:t>
            </a:r>
            <a:endParaRPr lang="en-US" sz="1100"/>
          </a:p>
        </p:txBody>
      </p:sp>
      <p:sp>
        <p:nvSpPr>
          <p:cNvPr name="AutoShape 7" id="7"/>
          <p:cNvSpPr/>
          <p:nvPr/>
        </p:nvSpPr>
        <p:spPr>
          <a:xfrm rot="0" flipH="false" flipV="false">
            <a:off x="5969000" y="2667000"/>
            <a:ext cx="2286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525252"/>
                </a:solidFill>
                <a:latin typeface="Poppins"/>
                <a:ea typeface="Poppins"/>
                <a:cs typeface="Poppins"/>
                <a:sym typeface="Poppins"/>
              </a:rPr>
              <a:t>Identifies returning/new patients, retrieves CRM data, and uses AI intent detection to direct calls to booking, consultation, or emergency branches.</a:t>
            </a:r>
            <a:endParaRPr lang="en-US" sz="1100"/>
          </a:p>
        </p:txBody>
      </p:sp>
      <p:sp>
        <p:nvSpPr>
          <p:cNvPr name="AutoShape 8" id="8"/>
          <p:cNvSpPr/>
          <p:nvPr/>
        </p:nvSpPr>
        <p:spPr>
          <a:xfrm rot="0" flipH="false" flipV="false">
            <a:off x="8763000" y="1778000"/>
            <a:ext cx="2794000" cy="2159000"/>
          </a:xfrm>
          <a:prstGeom prst="roundRect">
            <a:avLst>
              <a:gd name="adj" fmla="val 7058"/>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017000" y="2032000"/>
            <a:ext cx="406400" cy="406400"/>
          </a:xfrm>
          <a:prstGeom prst="rect">
            <a:avLst/>
          </a:prstGeom>
        </p:spPr>
      </p:pic>
      <p:sp>
        <p:nvSpPr>
          <p:cNvPr name="AutoShape 10" id="10"/>
          <p:cNvSpPr/>
          <p:nvPr/>
        </p:nvSpPr>
        <p:spPr>
          <a:xfrm rot="0" flipH="false" flipV="false">
            <a:off x="9588500" y="2006600"/>
            <a:ext cx="1778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Emergency Priority</a:t>
            </a:r>
            <a:endParaRPr lang="en-US" sz="1100"/>
          </a:p>
        </p:txBody>
      </p:sp>
      <p:sp>
        <p:nvSpPr>
          <p:cNvPr name="AutoShape 11" id="11"/>
          <p:cNvSpPr/>
          <p:nvPr/>
        </p:nvSpPr>
        <p:spPr>
          <a:xfrm rot="0" flipH="false" flipV="false">
            <a:off x="9017000" y="2667000"/>
            <a:ext cx="2286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525252"/>
                </a:solidFill>
                <a:latin typeface="Poppins"/>
                <a:ea typeface="Poppins"/>
                <a:cs typeface="Poppins"/>
                <a:sym typeface="Poppins"/>
              </a:rPr>
              <a:t>Detects emergency keywords to trigger an immediate, "warm transfer" directly to the ER department, skipping all other automated steps.</a:t>
            </a:r>
            <a:endParaRPr lang="en-US" sz="1100"/>
          </a:p>
        </p:txBody>
      </p:sp>
      <p:sp>
        <p:nvSpPr>
          <p:cNvPr name="AutoShape 12" id="12"/>
          <p:cNvSpPr/>
          <p:nvPr/>
        </p:nvSpPr>
        <p:spPr>
          <a:xfrm rot="0" flipH="false" flipV="false">
            <a:off x="5715000" y="4191000"/>
            <a:ext cx="2794000" cy="2159000"/>
          </a:xfrm>
          <a:prstGeom prst="roundRect">
            <a:avLst>
              <a:gd name="adj" fmla="val 7058"/>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5969000" y="4445000"/>
            <a:ext cx="406400" cy="406400"/>
          </a:xfrm>
          <a:prstGeom prst="rect">
            <a:avLst/>
          </a:prstGeom>
        </p:spPr>
      </p:pic>
      <p:sp>
        <p:nvSpPr>
          <p:cNvPr name="AutoShape 14" id="14"/>
          <p:cNvSpPr/>
          <p:nvPr/>
        </p:nvSpPr>
        <p:spPr>
          <a:xfrm rot="0" flipH="false" flipV="false">
            <a:off x="6540500" y="4419600"/>
            <a:ext cx="1778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Dynamic Scheduling</a:t>
            </a:r>
            <a:endParaRPr lang="en-US" sz="1100"/>
          </a:p>
        </p:txBody>
      </p:sp>
      <p:sp>
        <p:nvSpPr>
          <p:cNvPr name="AutoShape 15" id="15"/>
          <p:cNvSpPr/>
          <p:nvPr/>
        </p:nvSpPr>
        <p:spPr>
          <a:xfrm rot="0" flipH="false" flipV="false">
            <a:off x="5969000" y="5080000"/>
            <a:ext cx="2286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525252"/>
                </a:solidFill>
                <a:latin typeface="Poppins"/>
                <a:ea typeface="Poppins"/>
                <a:cs typeface="Poppins"/>
                <a:sym typeface="Poppins"/>
              </a:rPr>
              <a:t>Syncs with attending physicians' calendars to auto-match availability. If a conflict is found, it automatically suggests the nearest open slot.</a:t>
            </a:r>
            <a:endParaRPr lang="en-US" sz="1100"/>
          </a:p>
        </p:txBody>
      </p:sp>
      <p:sp>
        <p:nvSpPr>
          <p:cNvPr name="AutoShape 16" id="16"/>
          <p:cNvSpPr/>
          <p:nvPr/>
        </p:nvSpPr>
        <p:spPr>
          <a:xfrm rot="0" flipH="false" flipV="false">
            <a:off x="8763000" y="4191000"/>
            <a:ext cx="2794000" cy="2159000"/>
          </a:xfrm>
          <a:prstGeom prst="roundRect">
            <a:avLst>
              <a:gd name="adj" fmla="val 7058"/>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9017000" y="4445000"/>
            <a:ext cx="406400" cy="406400"/>
          </a:xfrm>
          <a:prstGeom prst="rect">
            <a:avLst/>
          </a:prstGeom>
        </p:spPr>
      </p:pic>
      <p:sp>
        <p:nvSpPr>
          <p:cNvPr name="AutoShape 18" id="18"/>
          <p:cNvSpPr/>
          <p:nvPr/>
        </p:nvSpPr>
        <p:spPr>
          <a:xfrm rot="0" flipH="false" flipV="false">
            <a:off x="9588500" y="4419600"/>
            <a:ext cx="1778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Self-Service KB</a:t>
            </a:r>
            <a:endParaRPr lang="en-US" sz="1100"/>
          </a:p>
        </p:txBody>
      </p:sp>
      <p:sp>
        <p:nvSpPr>
          <p:cNvPr name="AutoShape 19" id="19"/>
          <p:cNvSpPr/>
          <p:nvPr/>
        </p:nvSpPr>
        <p:spPr>
          <a:xfrm rot="0" flipH="false" flipV="false">
            <a:off x="9017000" y="5080000"/>
            <a:ext cx="2286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525252"/>
                </a:solidFill>
                <a:latin typeface="Poppins"/>
                <a:ea typeface="Poppins"/>
                <a:cs typeface="Poppins"/>
                <a:sym typeface="Poppins"/>
              </a:rPr>
              <a:t>Covers all common FAQs: operating hours, insurance eligibility, parking information, and departmental directory.</a:t>
            </a:r>
            <a:endParaRPr lang="en-US" sz="1100"/>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Product Positioning &amp; Competitiveness</a:t>
            </a:r>
            <a:endParaRPr lang="en-US" sz="1100"/>
          </a:p>
        </p:txBody>
      </p:sp>
      <p:sp>
        <p:nvSpPr>
          <p:cNvPr name="AutoShape 4" id="4"/>
          <p:cNvSpPr/>
          <p:nvPr/>
        </p:nvSpPr>
        <p:spPr>
          <a:xfrm rot="0" flipH="false" flipV="false">
            <a:off x="762000" y="1651000"/>
            <a:ext cx="5207000" cy="4572000"/>
          </a:xfrm>
          <a:prstGeom prst="roundRect">
            <a:avLst>
              <a:gd name="adj" fmla="val 4444"/>
            </a:avLst>
          </a:prstGeom>
          <a:solidFill>
            <a:srgbClr val="FFFFFF">
              <a:alpha val="95000"/>
            </a:srgbClr>
          </a:solidFill>
          <a:ln w="12700" cmpd="sng" cap="flat">
            <a:solidFill>
              <a:srgbClr val="EBEEF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905000"/>
            <a:ext cx="469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F4F4F"/>
                </a:solidFill>
                <a:latin typeface="Poppins"/>
                <a:ea typeface="Poppins"/>
                <a:cs typeface="Poppins"/>
                <a:sym typeface="Poppins"/>
              </a:rPr>
              <a:t>Differentiating Advantages</a:t>
            </a:r>
            <a:endParaRPr lang="en-US" sz="1100"/>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794000"/>
            <a:ext cx="406400" cy="406400"/>
          </a:xfrm>
          <a:prstGeom prst="rect">
            <a:avLst/>
          </a:prstGeom>
        </p:spPr>
      </p:pic>
      <p:sp>
        <p:nvSpPr>
          <p:cNvPr name="AutoShape 7" id="7"/>
          <p:cNvSpPr/>
          <p:nvPr/>
        </p:nvSpPr>
        <p:spPr>
          <a:xfrm rot="0" flipH="false" flipV="false">
            <a:off x="1651000" y="2730500"/>
            <a:ext cx="3937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2F4F4F"/>
                </a:solidFill>
                <a:latin typeface="Poppins"/>
                <a:ea typeface="Poppins"/>
                <a:cs typeface="Poppins"/>
                <a:sym typeface="Poppins"/>
              </a:rPr>
              <a:t>Market Unique: Triple-Mode Access &amp; Dual-Mode Simulation</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200">
                <a:solidFill>
                  <a:srgbClr val="4B5563"/>
                </a:solidFill>
                <a:latin typeface="Poppins"/>
                <a:ea typeface="Poppins"/>
                <a:cs typeface="Poppins"/>
                <a:sym typeface="Poppins"/>
              </a:rPr>
              <a:t>Simultaneously supports</a:t>
            </a:r>
            <a:r>
              <a:rPr lang="en-US" b="true" i="false" strike="noStrike" u="none" sz="1200">
                <a:solidFill>
                  <a:srgbClr val="4B5563"/>
                </a:solidFill>
                <a:latin typeface="Poppins"/>
                <a:ea typeface="Poppins"/>
                <a:cs typeface="Poppins"/>
                <a:sym typeface="Poppins"/>
              </a:rPr>
              <a:t>Triple-Mode Telephony Access</a:t>
            </a:r>
            <a:r>
              <a:rPr lang="en-US" b="false" i="false" strike="noStrike" u="none" sz="1200">
                <a:solidFill>
                  <a:srgbClr val="4B5563"/>
                </a:solidFill>
                <a:latin typeface="Poppins"/>
                <a:ea typeface="Poppins"/>
                <a:cs typeface="Poppins"/>
                <a:sym typeface="Poppins"/>
              </a:rPr>
              <a:t>and</a:t>
            </a:r>
            <a:r>
              <a:rPr lang="en-US" b="true" i="false" strike="noStrike" u="none" sz="1200">
                <a:solidFill>
                  <a:srgbClr val="4B5563"/>
                </a:solidFill>
                <a:latin typeface="Poppins"/>
                <a:ea typeface="Poppins"/>
                <a:cs typeface="Poppins"/>
                <a:sym typeface="Poppins"/>
              </a:rPr>
              <a:t>Dual-Mode Simulation</a:t>
            </a:r>
            <a:r>
              <a:rPr lang="en-US" b="false" i="false" strike="noStrike" u="none" sz="1200">
                <a:solidFill>
                  <a:srgbClr val="4B5563"/>
                </a:solidFill>
                <a:latin typeface="Poppins"/>
                <a:ea typeface="Poppins"/>
                <a:cs typeface="Poppins"/>
                <a:sym typeface="Poppins"/>
              </a:rPr>
              <a:t>– a true market first.</a:t>
            </a:r>
            <a:endParaRPr lang="en-US" sz="1100"/>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4064000"/>
            <a:ext cx="406400" cy="406400"/>
          </a:xfrm>
          <a:prstGeom prst="rect">
            <a:avLst/>
          </a:prstGeom>
        </p:spPr>
      </p:pic>
      <p:sp>
        <p:nvSpPr>
          <p:cNvPr name="AutoShape 9" id="9"/>
          <p:cNvSpPr/>
          <p:nvPr/>
        </p:nvSpPr>
        <p:spPr>
          <a:xfrm rot="0" flipH="false" flipV="false">
            <a:off x="1651000" y="4000500"/>
            <a:ext cx="3937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2F4F4F"/>
                </a:solidFill>
                <a:latin typeface="Poppins"/>
                <a:ea typeface="Poppins"/>
                <a:cs typeface="Poppins"/>
                <a:sym typeface="Poppins"/>
              </a:rPr>
              <a:t>Market Unique: Rules-First, AI-Enhanced System</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200">
                <a:solidFill>
                  <a:srgbClr val="4B5563"/>
                </a:solidFill>
                <a:latin typeface="Poppins"/>
                <a:ea typeface="Poppins"/>
                <a:cs typeface="Poppins"/>
                <a:sym typeface="Poppins"/>
              </a:rPr>
              <a:t>Our layered node system expertly balances enterprise-grade flexibility with user-friendly ease of operation.</a:t>
            </a:r>
            <a:endParaRPr lang="en-US" sz="1100"/>
          </a:p>
        </p:txBody>
      </p:sp>
      <p:pic>
        <p:nvPicPr>
          <p:cNvPr name="Picture 10" id="10"/>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5270500"/>
            <a:ext cx="406400" cy="406400"/>
          </a:xfrm>
          <a:prstGeom prst="rect">
            <a:avLst/>
          </a:prstGeom>
        </p:spPr>
      </p:pic>
      <p:sp>
        <p:nvSpPr>
          <p:cNvPr name="AutoShape 11" id="11"/>
          <p:cNvSpPr/>
          <p:nvPr/>
        </p:nvSpPr>
        <p:spPr>
          <a:xfrm rot="0" flipH="false" flipV="false">
            <a:off x="1651000" y="5207000"/>
            <a:ext cx="3937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2F4F4F"/>
                </a:solidFill>
                <a:latin typeface="Poppins"/>
                <a:ea typeface="Poppins"/>
                <a:cs typeface="Poppins"/>
                <a:sym typeface="Poppins"/>
              </a:rPr>
              <a:t>Market Unique: Node-Level Operational Insights</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200">
                <a:solidFill>
                  <a:srgbClr val="4B5563"/>
                </a:solidFill>
                <a:latin typeface="Poppins"/>
                <a:ea typeface="Poppins"/>
                <a:cs typeface="Poppins"/>
                <a:sym typeface="Poppins"/>
              </a:rPr>
              <a:t>Heatmap + Funnel Attribution Dashboard enables a leap from "just a tool" to a strategic value platform.</a:t>
            </a:r>
            <a:endParaRPr lang="en-US" sz="1100"/>
          </a:p>
        </p:txBody>
      </p:sp>
      <p:sp>
        <p:nvSpPr>
          <p:cNvPr name="AutoShape 12" id="12"/>
          <p:cNvSpPr/>
          <p:nvPr/>
        </p:nvSpPr>
        <p:spPr>
          <a:xfrm rot="0" flipH="false" flipV="false">
            <a:off x="6223000" y="1651000"/>
            <a:ext cx="5207000" cy="4572000"/>
          </a:xfrm>
          <a:prstGeom prst="roundRect">
            <a:avLst>
              <a:gd name="adj" fmla="val 4444"/>
            </a:avLst>
          </a:prstGeom>
          <a:solidFill>
            <a:srgbClr val="FFFFFF">
              <a:alpha val="95000"/>
            </a:srgbClr>
          </a:solidFill>
          <a:ln w="12700" cmpd="sng" cap="flat">
            <a:solidFill>
              <a:srgbClr val="EBEEF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477000" y="1905000"/>
            <a:ext cx="469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F4F4F"/>
                </a:solidFill>
                <a:latin typeface="Poppins"/>
                <a:ea typeface="Poppins"/>
                <a:cs typeface="Poppins"/>
                <a:sym typeface="Poppins"/>
              </a:rPr>
              <a:t>Market Positioning</a:t>
            </a:r>
            <a:endParaRPr lang="en-US" sz="1100"/>
          </a:p>
        </p:txBody>
      </p:sp>
      <p:pic>
        <p:nvPicPr>
          <p:cNvPr name="Picture 14" id="1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77000" y="2921000"/>
            <a:ext cx="457200" cy="457200"/>
          </a:xfrm>
          <a:prstGeom prst="rect">
            <a:avLst/>
          </a:prstGeom>
        </p:spPr>
      </p:pic>
      <p:sp>
        <p:nvSpPr>
          <p:cNvPr name="AutoShape 15" id="15"/>
          <p:cNvSpPr/>
          <p:nvPr/>
        </p:nvSpPr>
        <p:spPr>
          <a:xfrm rot="0" flipH="false" flipV="false">
            <a:off x="7112000" y="2857500"/>
            <a:ext cx="406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500">
                <a:solidFill>
                  <a:srgbClr val="2F4F4F"/>
                </a:solidFill>
                <a:latin typeface="Poppins"/>
                <a:ea typeface="Poppins"/>
                <a:cs typeface="Poppins"/>
                <a:sym typeface="Poppins"/>
              </a:rPr>
              <a:t>vs. Bland / Vapi / Retell</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4B5563"/>
                </a:solidFill>
                <a:latin typeface="Poppins"/>
                <a:ea typeface="Poppins"/>
                <a:cs typeface="Poppins"/>
                <a:sym typeface="Poppins"/>
              </a:rPr>
              <a:t>We are the only platform that enables</a:t>
            </a:r>
            <a:r>
              <a:rPr lang="en-US" b="true" i="false" strike="noStrike" u="none" sz="1300">
                <a:solidFill>
                  <a:srgbClr val="4B5563"/>
                </a:solidFill>
                <a:latin typeface="Poppins"/>
                <a:ea typeface="Poppins"/>
                <a:cs typeface="Poppins"/>
                <a:sym typeface="Poppins"/>
              </a:rPr>
              <a:t>non-technical users</a:t>
            </a:r>
            <a:r>
              <a:rPr lang="en-US" b="false" i="false" strike="noStrike" u="none" sz="1300">
                <a:solidFill>
                  <a:srgbClr val="4B5563"/>
                </a:solidFill>
                <a:latin typeface="Poppins"/>
                <a:ea typeface="Poppins"/>
                <a:cs typeface="Poppins"/>
                <a:sym typeface="Poppins"/>
              </a:rPr>
              <a:t>to start building and launching production-ready flows in under 10 minutes.</a:t>
            </a:r>
            <a:endParaRPr lang="en-US" sz="1100"/>
          </a:p>
        </p:txBody>
      </p:sp>
      <p:pic>
        <p:nvPicPr>
          <p:cNvPr name="Picture 16" id="16"/>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477000" y="4572000"/>
            <a:ext cx="457200" cy="457200"/>
          </a:xfrm>
          <a:prstGeom prst="rect">
            <a:avLst/>
          </a:prstGeom>
        </p:spPr>
      </p:pic>
      <p:sp>
        <p:nvSpPr>
          <p:cNvPr name="AutoShape 17" id="17"/>
          <p:cNvSpPr/>
          <p:nvPr/>
        </p:nvSpPr>
        <p:spPr>
          <a:xfrm rot="0" flipH="false" flipV="false">
            <a:off x="7112000" y="4508500"/>
            <a:ext cx="406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500">
                <a:solidFill>
                  <a:srgbClr val="2F4F4F"/>
                </a:solidFill>
                <a:latin typeface="Poppins"/>
                <a:ea typeface="Poppins"/>
                <a:cs typeface="Poppins"/>
                <a:sym typeface="Poppins"/>
              </a:rPr>
              <a:t>vs. Synthflow</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4B5563"/>
                </a:solidFill>
                <a:latin typeface="Poppins"/>
                <a:ea typeface="Poppins"/>
                <a:cs typeface="Poppins"/>
                <a:sym typeface="Poppins"/>
              </a:rPr>
              <a:t>Our advantages lie in a</a:t>
            </a:r>
            <a:r>
              <a:rPr lang="en-US" b="true" i="false" strike="noStrike" u="none" sz="1300">
                <a:solidFill>
                  <a:srgbClr val="4B5563"/>
                </a:solidFill>
                <a:latin typeface="Poppins"/>
                <a:ea typeface="Poppins"/>
                <a:cs typeface="Poppins"/>
                <a:sym typeface="Poppins"/>
              </a:rPr>
              <a:t>more transparent node system</a:t>
            </a:r>
            <a:r>
              <a:rPr lang="en-US" b="false" i="false" strike="noStrike" u="none" sz="1300">
                <a:solidFill>
                  <a:srgbClr val="4B5563"/>
                </a:solidFill>
                <a:latin typeface="Poppins"/>
                <a:ea typeface="Poppins"/>
                <a:cs typeface="Poppins"/>
                <a:sym typeface="Poppins"/>
              </a:rPr>
              <a:t>, a broader range of telephony access capabilities, and significantly deeper, actionable operational insights.</a:t>
            </a:r>
            <a:endParaRPr lang="en-US" sz="1100"/>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Product Blueprint &amp; Roadmap</a:t>
            </a:r>
            <a:endParaRPr lang="en-US" sz="1100"/>
          </a:p>
        </p:txBody>
      </p:sp>
      <p:sp>
        <p:nvSpPr>
          <p:cNvPr name="AutoShape 3" id="3"/>
          <p:cNvSpPr/>
          <p:nvPr/>
        </p:nvSpPr>
        <p:spPr>
          <a:xfrm rot="0" flipH="false" flipV="false">
            <a:off x="762000" y="1778000"/>
            <a:ext cx="3302000" cy="4318000"/>
          </a:xfrm>
          <a:prstGeom prst="roundRect">
            <a:avLst>
              <a:gd name="adj" fmla="val 4615"/>
            </a:avLst>
          </a:prstGeom>
          <a:solidFill>
            <a:srgbClr val="FFFFFF">
              <a:alpha val="92000"/>
            </a:srgbClr>
          </a:solidFill>
          <a:ln w="12700" cmpd="sng" cap="flat">
            <a:solidFill>
              <a:srgbClr val="E2E8F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32000"/>
            <a:ext cx="457200" cy="457200"/>
          </a:xfrm>
          <a:prstGeom prst="rect">
            <a:avLst/>
          </a:prstGeom>
        </p:spPr>
      </p:pic>
      <p:sp>
        <p:nvSpPr>
          <p:cNvPr name="AutoShape 5" id="5"/>
          <p:cNvSpPr/>
          <p:nvPr/>
        </p:nvSpPr>
        <p:spPr>
          <a:xfrm rot="0" flipH="false" flipV="false">
            <a:off x="1651000" y="2006600"/>
            <a:ext cx="203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600">
                <a:solidFill>
                  <a:srgbClr val="2F4F4F"/>
                </a:solidFill>
                <a:latin typeface="Poppins"/>
                <a:ea typeface="Poppins"/>
                <a:cs typeface="Poppins"/>
                <a:sym typeface="Poppins"/>
              </a:rPr>
              <a:t>MVP</a:t>
            </a:r>
            <a:endParaRPr lang="en-US" sz="1100"/>
          </a:p>
        </p:txBody>
      </p:sp>
      <p:sp>
        <p:nvSpPr>
          <p:cNvPr name="AutoShape 6" id="6"/>
          <p:cNvSpPr/>
          <p:nvPr/>
        </p:nvSpPr>
        <p:spPr>
          <a:xfrm rot="0" flipH="false" flipV="false">
            <a:off x="1016000" y="2921000"/>
            <a:ext cx="2794000" cy="2794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spcBef>
                <a:spcPts val="800"/>
              </a:spcBef>
              <a:defRPr/>
            </a:pPr>
            <a:r>
              <a:rPr lang="en-US" b="true" i="false" strike="noStrike" u="none" sz="1600">
                <a:solidFill>
                  <a:srgbClr val="2D3748"/>
                </a:solidFill>
                <a:latin typeface="Poppins"/>
                <a:ea typeface="Poppins"/>
                <a:cs typeface="Poppins"/>
                <a:sym typeface="Poppins"/>
              </a:rPr>
              <a:t>Core Foundation</a:t>
            </a:r>
            <a:r>
              <a:rPr lang="en-US" b="false" i="false" strike="noStrike" u="none" sz="1600">
                <a:solidFill>
                  <a:srgbClr val="1F2329"/>
                </a:solidFill>
                <a:latin typeface="Poppins"/>
                <a:ea typeface="Poppins"/>
                <a:cs typeface="Poppins"/>
                <a:sym typeface="Poppins"/>
              </a:rPr>
              <a:t/>
            </a:r>
            <a:endParaRPr lang="en-US" sz="1100"/>
          </a:p>
          <a:p>
            <a:pPr algn="l" indent="0">
              <a:lnSpc>
                <a:spcPct val="133333"/>
              </a:lnSpc>
              <a:spcBef>
                <a:spcPts val="1200"/>
              </a:spcBef>
            </a:pPr>
            <a:r>
              <a:rPr lang="en-US" b="false" i="false" strike="noStrike" u="none" sz="1300">
                <a:solidFill>
                  <a:srgbClr val="475569"/>
                </a:solidFill>
                <a:latin typeface="Poppins"/>
                <a:ea typeface="Poppins"/>
                <a:cs typeface="Poppins"/>
                <a:sym typeface="Poppins"/>
              </a:rPr>
              <a:t>• Core &amp; Logic Layers</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475569"/>
                </a:solidFill>
                <a:latin typeface="Poppins"/>
                <a:ea typeface="Poppins"/>
                <a:cs typeface="Poppins"/>
                <a:sym typeface="Poppins"/>
              </a:rPr>
              <a:t>• Canvas Builder</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475569"/>
                </a:solidFill>
                <a:latin typeface="Poppins"/>
                <a:ea typeface="Poppins"/>
                <a:cs typeface="Poppins"/>
                <a:sym typeface="Poppins"/>
              </a:rPr>
              <a:t>• Platform-managed Numbers</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475569"/>
                </a:solidFill>
                <a:latin typeface="Poppins"/>
                <a:ea typeface="Poppins"/>
                <a:cs typeface="Poppins"/>
                <a:sym typeface="Poppins"/>
              </a:rPr>
              <a:t>• Text Simulation Engine</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475569"/>
                </a:solidFill>
                <a:latin typeface="Poppins"/>
                <a:ea typeface="Poppins"/>
                <a:cs typeface="Poppins"/>
                <a:sym typeface="Poppins"/>
              </a:rPr>
              <a:t>• Basic Operations Dashboard</a:t>
            </a:r>
          </a:p>
        </p:txBody>
      </p:sp>
      <p:sp>
        <p:nvSpPr>
          <p:cNvPr name="AutoShape 7" id="7"/>
          <p:cNvSpPr/>
          <p:nvPr/>
        </p:nvSpPr>
        <p:spPr>
          <a:xfrm rot="0" flipH="false" flipV="false">
            <a:off x="4445000" y="1778000"/>
            <a:ext cx="3302000" cy="4318000"/>
          </a:xfrm>
          <a:prstGeom prst="roundRect">
            <a:avLst>
              <a:gd name="adj" fmla="val 4615"/>
            </a:avLst>
          </a:prstGeom>
          <a:solidFill>
            <a:srgbClr val="FFFFFF">
              <a:alpha val="92000"/>
            </a:srgbClr>
          </a:solidFill>
          <a:ln w="12700" cmpd="sng" cap="flat">
            <a:solidFill>
              <a:srgbClr val="E2E8F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2032000"/>
            <a:ext cx="457200" cy="457200"/>
          </a:xfrm>
          <a:prstGeom prst="rect">
            <a:avLst/>
          </a:prstGeom>
        </p:spPr>
      </p:pic>
      <p:sp>
        <p:nvSpPr>
          <p:cNvPr name="AutoShape 9" id="9"/>
          <p:cNvSpPr/>
          <p:nvPr/>
        </p:nvSpPr>
        <p:spPr>
          <a:xfrm rot="0" flipH="false" flipV="false">
            <a:off x="5334000" y="2006600"/>
            <a:ext cx="203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600">
                <a:solidFill>
                  <a:srgbClr val="2F4F4F"/>
                </a:solidFill>
                <a:latin typeface="Poppins"/>
                <a:ea typeface="Poppins"/>
                <a:cs typeface="Poppins"/>
                <a:sym typeface="Poppins"/>
              </a:rPr>
              <a:t>V1.0</a:t>
            </a:r>
            <a:endParaRPr lang="en-US" sz="1100"/>
          </a:p>
        </p:txBody>
      </p:sp>
      <p:sp>
        <p:nvSpPr>
          <p:cNvPr name="AutoShape 10" id="10"/>
          <p:cNvSpPr/>
          <p:nvPr/>
        </p:nvSpPr>
        <p:spPr>
          <a:xfrm rot="0" flipH="false" flipV="false">
            <a:off x="4699000" y="2921000"/>
            <a:ext cx="2794000" cy="2794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spcBef>
                <a:spcPts val="800"/>
              </a:spcBef>
              <a:defRPr/>
            </a:pPr>
            <a:r>
              <a:rPr lang="en-US" b="true" i="false" strike="noStrike" u="none" sz="1600">
                <a:solidFill>
                  <a:srgbClr val="2D3748"/>
                </a:solidFill>
                <a:latin typeface="Poppins"/>
                <a:ea typeface="Poppins"/>
                <a:cs typeface="Poppins"/>
                <a:sym typeface="Poppins"/>
              </a:rPr>
              <a:t>AI &amp; Integration</a:t>
            </a:r>
            <a:r>
              <a:rPr lang="en-US" b="false" i="false" strike="noStrike" u="none" sz="1600">
                <a:solidFill>
                  <a:srgbClr val="1F2329"/>
                </a:solidFill>
                <a:latin typeface="Poppins"/>
                <a:ea typeface="Poppins"/>
                <a:cs typeface="Poppins"/>
                <a:sym typeface="Poppins"/>
              </a:rPr>
              <a:t/>
            </a:r>
            <a:endParaRPr lang="en-US" sz="1100"/>
          </a:p>
          <a:p>
            <a:pPr algn="l" indent="0">
              <a:lnSpc>
                <a:spcPct val="133333"/>
              </a:lnSpc>
              <a:spcBef>
                <a:spcPts val="1200"/>
              </a:spcBef>
            </a:pPr>
            <a:r>
              <a:rPr lang="en-US" b="false" i="false" strike="noStrike" u="none" sz="1300">
                <a:solidFill>
                  <a:srgbClr val="475569"/>
                </a:solidFill>
                <a:latin typeface="Poppins"/>
                <a:ea typeface="Poppins"/>
                <a:cs typeface="Poppins"/>
                <a:sym typeface="Poppins"/>
              </a:rPr>
              <a:t>• 3 AI Enhancement Nodes</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475569"/>
                </a:solidFill>
                <a:latin typeface="Poppins"/>
                <a:ea typeface="Poppins"/>
                <a:cs typeface="Poppins"/>
                <a:sym typeface="Poppins"/>
              </a:rPr>
              <a:t>• 4 New Integration Nodes</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475569"/>
                </a:solidFill>
                <a:latin typeface="Poppins"/>
                <a:ea typeface="Poppins"/>
                <a:cs typeface="Poppins"/>
                <a:sym typeface="Poppins"/>
              </a:rPr>
              <a:t>• BYO (Bring Your Own) Number Access</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475569"/>
                </a:solidFill>
                <a:latin typeface="Poppins"/>
                <a:ea typeface="Poppins"/>
                <a:cs typeface="Poppins"/>
                <a:sym typeface="Poppins"/>
              </a:rPr>
              <a:t>• Live Call Simulation</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475569"/>
                </a:solidFill>
                <a:latin typeface="Poppins"/>
                <a:ea typeface="Poppins"/>
                <a:cs typeface="Poppins"/>
                <a:sym typeface="Poppins"/>
              </a:rPr>
              <a:t>• Version Management &amp; Node Heatmap</a:t>
            </a:r>
          </a:p>
        </p:txBody>
      </p:sp>
      <p:sp>
        <p:nvSpPr>
          <p:cNvPr name="AutoShape 11" id="11"/>
          <p:cNvSpPr/>
          <p:nvPr/>
        </p:nvSpPr>
        <p:spPr>
          <a:xfrm rot="0" flipH="false" flipV="false">
            <a:off x="8128000" y="1778000"/>
            <a:ext cx="3302000" cy="4318000"/>
          </a:xfrm>
          <a:prstGeom prst="roundRect">
            <a:avLst>
              <a:gd name="adj" fmla="val 4615"/>
            </a:avLst>
          </a:prstGeom>
          <a:solidFill>
            <a:srgbClr val="FFFFFF">
              <a:alpha val="92000"/>
            </a:srgbClr>
          </a:solidFill>
          <a:ln w="12700" cmpd="sng" cap="flat">
            <a:solidFill>
              <a:srgbClr val="E2E8F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2032000"/>
            <a:ext cx="457200" cy="457200"/>
          </a:xfrm>
          <a:prstGeom prst="rect">
            <a:avLst/>
          </a:prstGeom>
        </p:spPr>
      </p:pic>
      <p:sp>
        <p:nvSpPr>
          <p:cNvPr name="AutoShape 13" id="13"/>
          <p:cNvSpPr/>
          <p:nvPr/>
        </p:nvSpPr>
        <p:spPr>
          <a:xfrm rot="0" flipH="false" flipV="false">
            <a:off x="9017000" y="2006600"/>
            <a:ext cx="203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600">
                <a:solidFill>
                  <a:srgbClr val="2F4F4F"/>
                </a:solidFill>
                <a:latin typeface="Poppins"/>
                <a:ea typeface="Poppins"/>
                <a:cs typeface="Poppins"/>
                <a:sym typeface="Poppins"/>
              </a:rPr>
              <a:t>V2.0</a:t>
            </a:r>
            <a:endParaRPr lang="en-US" sz="1100"/>
          </a:p>
        </p:txBody>
      </p:sp>
      <p:sp>
        <p:nvSpPr>
          <p:cNvPr name="AutoShape 14" id="14"/>
          <p:cNvSpPr/>
          <p:nvPr/>
        </p:nvSpPr>
        <p:spPr>
          <a:xfrm rot="0" flipH="false" flipV="false">
            <a:off x="8382000" y="2921000"/>
            <a:ext cx="2794000" cy="2794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spcBef>
                <a:spcPts val="800"/>
              </a:spcBef>
              <a:defRPr/>
            </a:pPr>
            <a:r>
              <a:rPr lang="en-US" b="true" i="false" strike="noStrike" u="none" sz="1600">
                <a:solidFill>
                  <a:srgbClr val="2D3748"/>
                </a:solidFill>
                <a:latin typeface="Poppins"/>
                <a:ea typeface="Poppins"/>
                <a:cs typeface="Poppins"/>
                <a:sym typeface="Poppins"/>
              </a:rPr>
              <a:t>Enterprise &amp; Expansion</a:t>
            </a:r>
            <a:r>
              <a:rPr lang="en-US" b="false" i="false" strike="noStrike" u="none" sz="1600">
                <a:solidFill>
                  <a:srgbClr val="1F2329"/>
                </a:solidFill>
                <a:latin typeface="Poppins"/>
                <a:ea typeface="Poppins"/>
                <a:cs typeface="Poppins"/>
                <a:sym typeface="Poppins"/>
              </a:rPr>
              <a:t/>
            </a:r>
            <a:endParaRPr lang="en-US" sz="1100"/>
          </a:p>
          <a:p>
            <a:pPr algn="l" indent="0">
              <a:lnSpc>
                <a:spcPct val="133333"/>
              </a:lnSpc>
              <a:spcBef>
                <a:spcPts val="1200"/>
              </a:spcBef>
            </a:pPr>
            <a:r>
              <a:rPr lang="en-US" b="false" i="false" strike="noStrike" u="none" sz="1300">
                <a:solidFill>
                  <a:srgbClr val="475569"/>
                </a:solidFill>
                <a:latin typeface="Poppins"/>
                <a:ea typeface="Poppins"/>
                <a:cs typeface="Poppins"/>
                <a:sym typeface="Poppins"/>
              </a:rPr>
              <a:t>• WebRTC Browser Calling</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475569"/>
                </a:solidFill>
                <a:latin typeface="Poppins"/>
                <a:ea typeface="Poppins"/>
                <a:cs typeface="Poppins"/>
                <a:sym typeface="Poppins"/>
              </a:rPr>
              <a:t>• AI Emotion Detection</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475569"/>
                </a:solidFill>
                <a:latin typeface="Poppins"/>
                <a:ea typeface="Poppins"/>
                <a:cs typeface="Poppins"/>
                <a:sym typeface="Poppins"/>
              </a:rPr>
              <a:t>• Smart Routing Logic</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475569"/>
                </a:solidFill>
                <a:latin typeface="Poppins"/>
                <a:ea typeface="Poppins"/>
                <a:cs typeface="Poppins"/>
                <a:sym typeface="Poppins"/>
              </a:rPr>
              <a:t>• Multi-tenant RBAC System</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475569"/>
                </a:solidFill>
                <a:latin typeface="Poppins"/>
                <a:ea typeface="Poppins"/>
                <a:cs typeface="Poppins"/>
                <a:sym typeface="Poppins"/>
              </a:rPr>
              <a:t>• Full API Platform &amp; SDKs</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End-to-End User Journey</a:t>
            </a:r>
            <a:endParaRPr lang="en-US" sz="1100"/>
          </a:p>
        </p:txBody>
      </p:sp>
      <p:sp>
        <p:nvSpPr>
          <p:cNvPr name="AutoShape 4" id="4"/>
          <p:cNvSpPr/>
          <p:nvPr/>
        </p:nvSpPr>
        <p:spPr>
          <a:xfrm rot="0" flipH="false" flipV="false">
            <a:off x="762000" y="1524000"/>
            <a:ext cx="10668000" cy="1143000"/>
          </a:xfrm>
          <a:prstGeom prst="roundRect">
            <a:avLst>
              <a:gd name="adj" fmla="val 13333"/>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841500"/>
            <a:ext cx="1066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Poppins"/>
                <a:ea typeface="Poppins"/>
                <a:cs typeface="Poppins"/>
                <a:sym typeface="Poppins"/>
              </a:rPr>
              <a:t>Signup</a:t>
            </a:r>
            <a:r>
              <a:rPr lang="en-US" b="false" i="false" strike="noStrike" u="none" sz="1800">
                <a:solidFill>
                  <a:srgbClr val="FFFFFF">
                    <a:alpha val="70196"/>
                  </a:srgbClr>
                </a:solidFill>
                <a:latin typeface="Poppins"/>
                <a:ea typeface="Poppins"/>
                <a:cs typeface="Poppins"/>
                <a:sym typeface="Poppins"/>
              </a:rPr>
              <a:t>→</a:t>
            </a:r>
            <a:r>
              <a:rPr lang="en-US" b="true" i="false" strike="noStrike" u="none" sz="1800">
                <a:solidFill>
                  <a:srgbClr val="FFFFFF"/>
                </a:solidFill>
                <a:latin typeface="Poppins"/>
                <a:ea typeface="Poppins"/>
                <a:cs typeface="Poppins"/>
                <a:sym typeface="Poppins"/>
              </a:rPr>
              <a:t>Create</a:t>
            </a:r>
            <a:r>
              <a:rPr lang="en-US" b="false" i="false" strike="noStrike" u="none" sz="1800">
                <a:solidFill>
                  <a:srgbClr val="FFFFFF">
                    <a:alpha val="70196"/>
                  </a:srgbClr>
                </a:solidFill>
                <a:latin typeface="Poppins"/>
                <a:ea typeface="Poppins"/>
                <a:cs typeface="Poppins"/>
                <a:sym typeface="Poppins"/>
              </a:rPr>
              <a:t>→</a:t>
            </a:r>
            <a:r>
              <a:rPr lang="en-US" b="true" i="false" strike="noStrike" u="none" sz="1800">
                <a:solidFill>
                  <a:srgbClr val="FFFFFF"/>
                </a:solidFill>
                <a:latin typeface="Poppins"/>
                <a:ea typeface="Poppins"/>
                <a:cs typeface="Poppins"/>
                <a:sym typeface="Poppins"/>
              </a:rPr>
              <a:t>Configure</a:t>
            </a:r>
            <a:r>
              <a:rPr lang="en-US" b="false" i="false" strike="noStrike" u="none" sz="1800">
                <a:solidFill>
                  <a:srgbClr val="FFFFFF">
                    <a:alpha val="70196"/>
                  </a:srgbClr>
                </a:solidFill>
                <a:latin typeface="Poppins"/>
                <a:ea typeface="Poppins"/>
                <a:cs typeface="Poppins"/>
                <a:sym typeface="Poppins"/>
              </a:rPr>
              <a:t>→</a:t>
            </a:r>
            <a:r>
              <a:rPr lang="en-US" b="true" i="false" strike="noStrike" u="none" sz="1800">
                <a:solidFill>
                  <a:srgbClr val="FFFFFF"/>
                </a:solidFill>
                <a:latin typeface="Poppins"/>
                <a:ea typeface="Poppins"/>
                <a:cs typeface="Poppins"/>
                <a:sym typeface="Poppins"/>
              </a:rPr>
              <a:t>Test</a:t>
            </a:r>
            <a:r>
              <a:rPr lang="en-US" b="false" i="false" strike="noStrike" u="none" sz="1800">
                <a:solidFill>
                  <a:srgbClr val="FFFFFF">
                    <a:alpha val="70196"/>
                  </a:srgbClr>
                </a:solidFill>
                <a:latin typeface="Poppins"/>
                <a:ea typeface="Poppins"/>
                <a:cs typeface="Poppins"/>
                <a:sym typeface="Poppins"/>
              </a:rPr>
              <a:t>→</a:t>
            </a:r>
            <a:r>
              <a:rPr lang="en-US" b="true" i="false" strike="noStrike" u="none" sz="1800">
                <a:solidFill>
                  <a:srgbClr val="FFFFFF"/>
                </a:solidFill>
                <a:latin typeface="Poppins"/>
                <a:ea typeface="Poppins"/>
                <a:cs typeface="Poppins"/>
                <a:sym typeface="Poppins"/>
              </a:rPr>
              <a:t>Publish</a:t>
            </a:r>
            <a:r>
              <a:rPr lang="en-US" b="false" i="false" strike="noStrike" u="none" sz="1800">
                <a:solidFill>
                  <a:srgbClr val="FFFFFF">
                    <a:alpha val="70196"/>
                  </a:srgbClr>
                </a:solidFill>
                <a:latin typeface="Poppins"/>
                <a:ea typeface="Poppins"/>
                <a:cs typeface="Poppins"/>
                <a:sym typeface="Poppins"/>
              </a:rPr>
              <a:t>→</a:t>
            </a:r>
            <a:r>
              <a:rPr lang="en-US" b="true" i="false" strike="noStrike" u="none" sz="1800">
                <a:solidFill>
                  <a:srgbClr val="FFFFFF"/>
                </a:solidFill>
                <a:latin typeface="Poppins"/>
                <a:ea typeface="Poppins"/>
                <a:cs typeface="Poppins"/>
                <a:sym typeface="Poppins"/>
              </a:rPr>
              <a:t>Operate</a:t>
            </a:r>
            <a:r>
              <a:rPr lang="en-US" b="false" i="false" strike="noStrike" u="none" sz="1800">
                <a:solidFill>
                  <a:srgbClr val="FFFFFF">
                    <a:alpha val="70196"/>
                  </a:srgbClr>
                </a:solidFill>
                <a:latin typeface="Poppins"/>
                <a:ea typeface="Poppins"/>
                <a:cs typeface="Poppins"/>
                <a:sym typeface="Poppins"/>
              </a:rPr>
              <a:t>→</a:t>
            </a:r>
            <a:r>
              <a:rPr lang="en-US" b="true" i="false" strike="noStrike" u="none" sz="1800">
                <a:solidFill>
                  <a:srgbClr val="FFFFFF"/>
                </a:solidFill>
                <a:latin typeface="Poppins"/>
                <a:ea typeface="Poppins"/>
                <a:cs typeface="Poppins"/>
                <a:sym typeface="Poppins"/>
              </a:rPr>
              <a:t>Iterate</a:t>
            </a:r>
            <a:endParaRPr lang="en-US" sz="1100"/>
          </a:p>
        </p:txBody>
      </p:sp>
      <p:sp>
        <p:nvSpPr>
          <p:cNvPr name="AutoShape 6" id="6"/>
          <p:cNvSpPr/>
          <p:nvPr/>
        </p:nvSpPr>
        <p:spPr>
          <a:xfrm rot="0" flipH="false" flipV="false">
            <a:off x="762000" y="3048000"/>
            <a:ext cx="3302000" cy="3048000"/>
          </a:xfrm>
          <a:prstGeom prst="roundRect">
            <a:avLst>
              <a:gd name="adj" fmla="val 5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3302000"/>
            <a:ext cx="508000" cy="508000"/>
          </a:xfrm>
          <a:prstGeom prst="rect">
            <a:avLst/>
          </a:prstGeom>
        </p:spPr>
      </p:pic>
      <p:sp>
        <p:nvSpPr>
          <p:cNvPr name="AutoShape 8" id="8"/>
          <p:cNvSpPr/>
          <p:nvPr/>
        </p:nvSpPr>
        <p:spPr>
          <a:xfrm rot="0" flipH="false" flipV="false">
            <a:off x="1651000" y="33020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From "Intimidating" to "Relieved"</a:t>
            </a:r>
            <a:endParaRPr lang="en-US" sz="1100"/>
          </a:p>
        </p:txBody>
      </p:sp>
      <p:sp>
        <p:nvSpPr>
          <p:cNvPr name="AutoShape 9" id="9"/>
          <p:cNvSpPr/>
          <p:nvPr/>
        </p:nvSpPr>
        <p:spPr>
          <a:xfrm rot="0" flipH="false" flipV="false">
            <a:off x="1016000" y="4191000"/>
            <a:ext cx="2794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Poppins"/>
                <a:ea typeface="Poppins"/>
                <a:cs typeface="Poppins"/>
                <a:sym typeface="Poppins"/>
              </a:rPr>
              <a:t>Users might feel intimidated when faced with a blank canvas. We provide rich templates to let users start with one click, making them feel relieved.</a:t>
            </a:r>
            <a:endParaRPr lang="en-US" sz="1100"/>
          </a:p>
        </p:txBody>
      </p:sp>
      <p:sp>
        <p:nvSpPr>
          <p:cNvPr name="AutoShape 10" id="10"/>
          <p:cNvSpPr/>
          <p:nvPr/>
        </p:nvSpPr>
        <p:spPr>
          <a:xfrm rot="0" flipH="false" flipV="false">
            <a:off x="4445000" y="3048000"/>
            <a:ext cx="3302000" cy="3048000"/>
          </a:xfrm>
          <a:prstGeom prst="roundRect">
            <a:avLst>
              <a:gd name="adj" fmla="val 5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3302000"/>
            <a:ext cx="508000" cy="508000"/>
          </a:xfrm>
          <a:prstGeom prst="rect">
            <a:avLst/>
          </a:prstGeom>
        </p:spPr>
      </p:pic>
      <p:sp>
        <p:nvSpPr>
          <p:cNvPr name="AutoShape 12" id="12"/>
          <p:cNvSpPr/>
          <p:nvPr/>
        </p:nvSpPr>
        <p:spPr>
          <a:xfrm rot="0" flipH="false" flipV="false">
            <a:off x="5334000" y="33020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Eliminating "Anxiety"</a:t>
            </a:r>
            <a:endParaRPr lang="en-US" sz="1100"/>
          </a:p>
        </p:txBody>
      </p:sp>
      <p:sp>
        <p:nvSpPr>
          <p:cNvPr name="AutoShape 13" id="13"/>
          <p:cNvSpPr/>
          <p:nvPr/>
        </p:nvSpPr>
        <p:spPr>
          <a:xfrm rot="0" flipH="false" flipV="false">
            <a:off x="4699000" y="4191000"/>
            <a:ext cx="2794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Poppins"/>
                <a:ea typeface="Poppins"/>
                <a:cs typeface="Poppins"/>
                <a:sym typeface="Poppins"/>
              </a:rPr>
              <a:t>The powerful simulation feature allows users to confirm everything is correct before publishing, eliminating the anxiety of "not knowing if it works."</a:t>
            </a:r>
            <a:endParaRPr lang="en-US" sz="1100"/>
          </a:p>
        </p:txBody>
      </p:sp>
      <p:sp>
        <p:nvSpPr>
          <p:cNvPr name="AutoShape 14" id="14"/>
          <p:cNvSpPr/>
          <p:nvPr/>
        </p:nvSpPr>
        <p:spPr>
          <a:xfrm rot="0" flipH="false" flipV="false">
            <a:off x="8128000" y="3048000"/>
            <a:ext cx="3302000" cy="3048000"/>
          </a:xfrm>
          <a:prstGeom prst="roundRect">
            <a:avLst>
              <a:gd name="adj" fmla="val 5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3302000"/>
            <a:ext cx="508000" cy="508000"/>
          </a:xfrm>
          <a:prstGeom prst="rect">
            <a:avLst/>
          </a:prstGeom>
        </p:spPr>
      </p:pic>
      <p:sp>
        <p:nvSpPr>
          <p:cNvPr name="AutoShape 16" id="16"/>
          <p:cNvSpPr/>
          <p:nvPr/>
        </p:nvSpPr>
        <p:spPr>
          <a:xfrm rot="0" flipH="false" flipV="false">
            <a:off x="9017000" y="33020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Eliminating "Fear"</a:t>
            </a:r>
            <a:endParaRPr lang="en-US" sz="1100"/>
          </a:p>
        </p:txBody>
      </p:sp>
      <p:sp>
        <p:nvSpPr>
          <p:cNvPr name="AutoShape 17" id="17"/>
          <p:cNvSpPr/>
          <p:nvPr/>
        </p:nvSpPr>
        <p:spPr>
          <a:xfrm rot="0" flipH="false" flipV="false">
            <a:off x="8382000" y="4191000"/>
            <a:ext cx="2794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Poppins"/>
                <a:ea typeface="Poppins"/>
                <a:cs typeface="Poppins"/>
                <a:sym typeface="Poppins"/>
              </a:rPr>
              <a:t>Reliable version management allows users to experiment with new flows boldly, eliminating the fear of "making it worse."</a:t>
            </a:r>
            <a:endParaRPr lang="en-US" sz="1100"/>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Technology Architecture Overview</a:t>
            </a:r>
            <a:endParaRPr lang="en-US" sz="1100"/>
          </a:p>
        </p:txBody>
      </p:sp>
      <p:sp>
        <p:nvSpPr>
          <p:cNvPr name="AutoShape 3" id="3"/>
          <p:cNvSpPr/>
          <p:nvPr/>
        </p:nvSpPr>
        <p:spPr>
          <a:xfrm rot="0" flipH="false" flipV="false">
            <a:off x="762000" y="1778000"/>
            <a:ext cx="2032000" cy="4318000"/>
          </a:xfrm>
          <a:prstGeom prst="roundRect">
            <a:avLst>
              <a:gd name="adj" fmla="val 7500"/>
            </a:avLst>
          </a:prstGeom>
          <a:solidFill>
            <a:srgbClr val="FFFFFF">
              <a:alpha val="100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778000"/>
            <a:ext cx="2032000" cy="1143000"/>
          </a:xfrm>
          <a:prstGeom prst="roundRect">
            <a:avLst>
              <a:gd name="adj" fmla="val 13333"/>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2032000"/>
            <a:ext cx="457200" cy="457200"/>
          </a:xfrm>
          <a:prstGeom prst="rect">
            <a:avLst/>
          </a:prstGeom>
        </p:spPr>
      </p:pic>
      <p:sp>
        <p:nvSpPr>
          <p:cNvPr name="AutoShape 6" id="6"/>
          <p:cNvSpPr/>
          <p:nvPr/>
        </p:nvSpPr>
        <p:spPr>
          <a:xfrm rot="0" flipH="false" flipV="false">
            <a:off x="1524000" y="2057400"/>
            <a:ext cx="114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Poppins"/>
                <a:ea typeface="Poppins"/>
                <a:cs typeface="Poppins"/>
                <a:sym typeface="Poppins"/>
              </a:rPr>
              <a:t>Frontend</a:t>
            </a:r>
            <a:endParaRPr lang="en-US" sz="1100"/>
          </a:p>
        </p:txBody>
      </p:sp>
      <p:sp>
        <p:nvSpPr>
          <p:cNvPr name="AutoShape 7" id="7"/>
          <p:cNvSpPr/>
          <p:nvPr/>
        </p:nvSpPr>
        <p:spPr>
          <a:xfrm rot="0" flipH="false" flipV="false">
            <a:off x="889000" y="3175000"/>
            <a:ext cx="1778000" cy="2413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505050"/>
                </a:solidFill>
                <a:latin typeface="Poppins"/>
                <a:ea typeface="Poppins"/>
                <a:cs typeface="Poppins"/>
                <a:sym typeface="Poppins"/>
              </a:rPr>
              <a:t>React Flow canvas for interactive workflows, Zustand for efficient state management, and WebRTC (V2.0) for real-time communication.</a:t>
            </a:r>
            <a:endParaRPr lang="en-US" sz="1100"/>
          </a:p>
        </p:txBody>
      </p:sp>
      <p:sp>
        <p:nvSpPr>
          <p:cNvPr name="AutoShape 8" id="8"/>
          <p:cNvSpPr/>
          <p:nvPr/>
        </p:nvSpPr>
        <p:spPr>
          <a:xfrm rot="0" flipH="false" flipV="false">
            <a:off x="3048000" y="1778000"/>
            <a:ext cx="2032000" cy="4318000"/>
          </a:xfrm>
          <a:prstGeom prst="roundRect">
            <a:avLst>
              <a:gd name="adj" fmla="val 7500"/>
            </a:avLst>
          </a:prstGeom>
          <a:solidFill>
            <a:srgbClr val="FFFFFF">
              <a:alpha val="100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3048000" y="1778000"/>
            <a:ext cx="2032000" cy="1143000"/>
          </a:xfrm>
          <a:prstGeom prst="roundRect">
            <a:avLst>
              <a:gd name="adj" fmla="val 13333"/>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238500" y="2032000"/>
            <a:ext cx="457200" cy="457200"/>
          </a:xfrm>
          <a:prstGeom prst="rect">
            <a:avLst/>
          </a:prstGeom>
        </p:spPr>
      </p:pic>
      <p:sp>
        <p:nvSpPr>
          <p:cNvPr name="AutoShape 11" id="11"/>
          <p:cNvSpPr/>
          <p:nvPr/>
        </p:nvSpPr>
        <p:spPr>
          <a:xfrm rot="0" flipH="false" flipV="false">
            <a:off x="3810000" y="2057400"/>
            <a:ext cx="114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Poppins"/>
                <a:ea typeface="Poppins"/>
                <a:cs typeface="Poppins"/>
                <a:sym typeface="Poppins"/>
              </a:rPr>
              <a:t>Engine</a:t>
            </a:r>
            <a:endParaRPr lang="en-US" sz="1100"/>
          </a:p>
        </p:txBody>
      </p:sp>
      <p:sp>
        <p:nvSpPr>
          <p:cNvPr name="AutoShape 12" id="12"/>
          <p:cNvSpPr/>
          <p:nvPr/>
        </p:nvSpPr>
        <p:spPr>
          <a:xfrm rot="0" flipH="false" flipV="false">
            <a:off x="3175000" y="3175000"/>
            <a:ext cx="1778000" cy="2413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505050"/>
                </a:solidFill>
                <a:latin typeface="Poppins"/>
                <a:ea typeface="Poppins"/>
                <a:cs typeface="Poppins"/>
                <a:sym typeface="Poppins"/>
              </a:rPr>
              <a:t>Custom-built Node.js flow interpreter for core logic execution, with Redis providing high-speed caching and distributed locking.</a:t>
            </a:r>
            <a:endParaRPr lang="en-US" sz="1100"/>
          </a:p>
        </p:txBody>
      </p:sp>
      <p:sp>
        <p:nvSpPr>
          <p:cNvPr name="AutoShape 13" id="13"/>
          <p:cNvSpPr/>
          <p:nvPr/>
        </p:nvSpPr>
        <p:spPr>
          <a:xfrm rot="0" flipH="false" flipV="false">
            <a:off x="5334000" y="1778000"/>
            <a:ext cx="2032000" cy="4318000"/>
          </a:xfrm>
          <a:prstGeom prst="roundRect">
            <a:avLst>
              <a:gd name="adj" fmla="val 7500"/>
            </a:avLst>
          </a:prstGeom>
          <a:solidFill>
            <a:srgbClr val="FFFFFF">
              <a:alpha val="100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5334000" y="1778000"/>
            <a:ext cx="2032000" cy="1143000"/>
          </a:xfrm>
          <a:prstGeom prst="roundRect">
            <a:avLst>
              <a:gd name="adj" fmla="val 13333"/>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5524500" y="2032000"/>
            <a:ext cx="457200" cy="457200"/>
          </a:xfrm>
          <a:prstGeom prst="rect">
            <a:avLst/>
          </a:prstGeom>
        </p:spPr>
      </p:pic>
      <p:sp>
        <p:nvSpPr>
          <p:cNvPr name="AutoShape 16" id="16"/>
          <p:cNvSpPr/>
          <p:nvPr/>
        </p:nvSpPr>
        <p:spPr>
          <a:xfrm rot="0" flipH="false" flipV="false">
            <a:off x="6096000" y="2057400"/>
            <a:ext cx="114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Poppins"/>
                <a:ea typeface="Poppins"/>
                <a:cs typeface="Poppins"/>
                <a:sym typeface="Poppins"/>
              </a:rPr>
              <a:t>Telephony</a:t>
            </a:r>
            <a:endParaRPr lang="en-US" sz="1100"/>
          </a:p>
        </p:txBody>
      </p:sp>
      <p:sp>
        <p:nvSpPr>
          <p:cNvPr name="AutoShape 17" id="17"/>
          <p:cNvSpPr/>
          <p:nvPr/>
        </p:nvSpPr>
        <p:spPr>
          <a:xfrm rot="0" flipH="false" flipV="false">
            <a:off x="5461000" y="3175000"/>
            <a:ext cx="1778000" cy="2413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505050"/>
                </a:solidFill>
                <a:latin typeface="Poppins"/>
                <a:ea typeface="Poppins"/>
                <a:cs typeface="Poppins"/>
                <a:sym typeface="Poppins"/>
              </a:rPr>
              <a:t>Seamless integration of three access modes: Twilio for cloud telephony, SIP gateways for traditional PBX, and WebRTC gateways for browser-based calls.</a:t>
            </a:r>
            <a:endParaRPr lang="en-US" sz="1100"/>
          </a:p>
        </p:txBody>
      </p:sp>
      <p:sp>
        <p:nvSpPr>
          <p:cNvPr name="AutoShape 18" id="18"/>
          <p:cNvSpPr/>
          <p:nvPr/>
        </p:nvSpPr>
        <p:spPr>
          <a:xfrm rot="0" flipH="false" flipV="false">
            <a:off x="7620000" y="1778000"/>
            <a:ext cx="2032000" cy="4318000"/>
          </a:xfrm>
          <a:prstGeom prst="roundRect">
            <a:avLst>
              <a:gd name="adj" fmla="val 7500"/>
            </a:avLst>
          </a:prstGeom>
          <a:solidFill>
            <a:srgbClr val="FFFFFF">
              <a:alpha val="100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7620000" y="1778000"/>
            <a:ext cx="2032000" cy="1143000"/>
          </a:xfrm>
          <a:prstGeom prst="roundRect">
            <a:avLst>
              <a:gd name="adj" fmla="val 13333"/>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7810500" y="2032000"/>
            <a:ext cx="457200" cy="457200"/>
          </a:xfrm>
          <a:prstGeom prst="rect">
            <a:avLst/>
          </a:prstGeom>
        </p:spPr>
      </p:pic>
      <p:sp>
        <p:nvSpPr>
          <p:cNvPr name="AutoShape 21" id="21"/>
          <p:cNvSpPr/>
          <p:nvPr/>
        </p:nvSpPr>
        <p:spPr>
          <a:xfrm rot="0" flipH="false" flipV="false">
            <a:off x="8382000" y="2057400"/>
            <a:ext cx="114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Poppins"/>
                <a:ea typeface="Poppins"/>
                <a:cs typeface="Poppins"/>
                <a:sym typeface="Poppins"/>
              </a:rPr>
              <a:t>AI</a:t>
            </a:r>
            <a:endParaRPr lang="en-US" sz="1100"/>
          </a:p>
        </p:txBody>
      </p:sp>
      <p:sp>
        <p:nvSpPr>
          <p:cNvPr name="AutoShape 22" id="22"/>
          <p:cNvSpPr/>
          <p:nvPr/>
        </p:nvSpPr>
        <p:spPr>
          <a:xfrm rot="0" flipH="false" flipV="false">
            <a:off x="7747000" y="3175000"/>
            <a:ext cx="1778000" cy="2413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505050"/>
                </a:solidFill>
                <a:latin typeface="Poppins"/>
                <a:ea typeface="Poppins"/>
                <a:cs typeface="Poppins"/>
                <a:sym typeface="Poppins"/>
              </a:rPr>
              <a:t>Multi-model LLM gateway, Deepgram for high-accuracy ASR, ElevenLabs for natural TTS, and Pinecone for fast, scalable RAG vector search.</a:t>
            </a:r>
            <a:endParaRPr lang="en-US" sz="1100"/>
          </a:p>
        </p:txBody>
      </p:sp>
      <p:sp>
        <p:nvSpPr>
          <p:cNvPr name="AutoShape 23" id="23"/>
          <p:cNvSpPr/>
          <p:nvPr/>
        </p:nvSpPr>
        <p:spPr>
          <a:xfrm rot="0" flipH="false" flipV="false">
            <a:off x="9779000" y="1778000"/>
            <a:ext cx="2032000" cy="4318000"/>
          </a:xfrm>
          <a:prstGeom prst="roundRect">
            <a:avLst>
              <a:gd name="adj" fmla="val 7500"/>
            </a:avLst>
          </a:prstGeom>
          <a:solidFill>
            <a:srgbClr val="FFFFFF">
              <a:alpha val="100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9779000" y="1778000"/>
            <a:ext cx="2032000" cy="1143000"/>
          </a:xfrm>
          <a:prstGeom prst="roundRect">
            <a:avLst>
              <a:gd name="adj" fmla="val 13333"/>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9969500" y="2032000"/>
            <a:ext cx="457200" cy="457200"/>
          </a:xfrm>
          <a:prstGeom prst="rect">
            <a:avLst/>
          </a:prstGeom>
        </p:spPr>
      </p:pic>
      <p:sp>
        <p:nvSpPr>
          <p:cNvPr name="AutoShape 26" id="26"/>
          <p:cNvSpPr/>
          <p:nvPr/>
        </p:nvSpPr>
        <p:spPr>
          <a:xfrm rot="0" flipH="false" flipV="false">
            <a:off x="10541000" y="2057400"/>
            <a:ext cx="114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Poppins"/>
                <a:ea typeface="Poppins"/>
                <a:cs typeface="Poppins"/>
                <a:sym typeface="Poppins"/>
              </a:rPr>
              <a:t>Data</a:t>
            </a:r>
            <a:endParaRPr lang="en-US" sz="1100"/>
          </a:p>
        </p:txBody>
      </p:sp>
      <p:sp>
        <p:nvSpPr>
          <p:cNvPr name="AutoShape 27" id="27"/>
          <p:cNvSpPr/>
          <p:nvPr/>
        </p:nvSpPr>
        <p:spPr>
          <a:xfrm rot="0" flipH="false" flipV="false">
            <a:off x="9906000" y="3175000"/>
            <a:ext cx="1778000" cy="2413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200">
                <a:solidFill>
                  <a:srgbClr val="505050"/>
                </a:solidFill>
                <a:latin typeface="Poppins"/>
                <a:ea typeface="Poppins"/>
                <a:cs typeface="Poppins"/>
                <a:sym typeface="Poppins"/>
              </a:rPr>
              <a:t>PostgreSQL (JSONB) for structured and semi-structured data, Redis for caching, AWS S3 for call recording storage, and Pinecone for vector embeddings.</a:t>
            </a:r>
            <a:endParaRPr lang="en-US" sz="1100"/>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Feature Priority Matrix</a:t>
            </a:r>
            <a:endParaRPr lang="en-US" sz="1100"/>
          </a:p>
        </p:txBody>
      </p:sp>
      <p:sp>
        <p:nvSpPr>
          <p:cNvPr name="AutoShape 4" id="4"/>
          <p:cNvSpPr/>
          <p:nvPr/>
        </p:nvSpPr>
        <p:spPr>
          <a:xfrm rot="0" flipH="false" flipV="false">
            <a:off x="762000" y="1524000"/>
            <a:ext cx="5207000" cy="2413000"/>
          </a:xfrm>
          <a:prstGeom prst="roundRect">
            <a:avLst>
              <a:gd name="adj" fmla="val 6315"/>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5207000" cy="812800"/>
          </a:xfrm>
          <a:prstGeom prst="roundRect">
            <a:avLst>
              <a:gd name="adj" fmla="val 1875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65200" y="1727200"/>
            <a:ext cx="406400" cy="406400"/>
          </a:xfrm>
          <a:prstGeom prst="rect">
            <a:avLst/>
          </a:prstGeom>
        </p:spPr>
      </p:pic>
      <p:sp>
        <p:nvSpPr>
          <p:cNvPr name="AutoShape 7" id="7"/>
          <p:cNvSpPr/>
          <p:nvPr/>
        </p:nvSpPr>
        <p:spPr>
          <a:xfrm rot="0" flipH="false" flipV="false">
            <a:off x="1524000" y="16764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Poppins"/>
                <a:ea typeface="Poppins"/>
                <a:cs typeface="Poppins"/>
                <a:sym typeface="Poppins"/>
              </a:rPr>
              <a:t>Q1 (P0) · High Value, Low Complexity</a:t>
            </a:r>
            <a:endParaRPr lang="en-US" sz="1100"/>
          </a:p>
        </p:txBody>
      </p:sp>
      <p:sp>
        <p:nvSpPr>
          <p:cNvPr name="AutoShape 8" id="8"/>
          <p:cNvSpPr/>
          <p:nvPr/>
        </p:nvSpPr>
        <p:spPr>
          <a:xfrm rot="0" flipH="false" flipV="false">
            <a:off x="965200" y="2540000"/>
            <a:ext cx="48006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374151"/>
                </a:solidFill>
                <a:latin typeface="Poppins"/>
                <a:ea typeface="Poppins"/>
                <a:cs typeface="Poppins"/>
                <a:sym typeface="Poppins"/>
              </a:rPr>
              <a:t>Core 8 nodes + Logic 4 nodes + Canvas + Text simulation + Basic dashboard.</a:t>
            </a:r>
            <a:endParaRPr lang="en-US" sz="1100"/>
          </a:p>
        </p:txBody>
      </p:sp>
      <p:sp>
        <p:nvSpPr>
          <p:cNvPr name="AutoShape 9" id="9"/>
          <p:cNvSpPr/>
          <p:nvPr/>
        </p:nvSpPr>
        <p:spPr>
          <a:xfrm rot="0" flipH="false" flipV="false">
            <a:off x="6223000" y="1524000"/>
            <a:ext cx="5207000" cy="2413000"/>
          </a:xfrm>
          <a:prstGeom prst="roundRect">
            <a:avLst>
              <a:gd name="adj" fmla="val 6315"/>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223000" y="1524000"/>
            <a:ext cx="5207000" cy="812800"/>
          </a:xfrm>
          <a:prstGeom prst="roundRect">
            <a:avLst>
              <a:gd name="adj" fmla="val 18750"/>
            </a:avLst>
          </a:prstGeom>
          <a:solidFill>
            <a:srgbClr val="456D6D">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26200" y="1727200"/>
            <a:ext cx="406400" cy="406400"/>
          </a:xfrm>
          <a:prstGeom prst="rect">
            <a:avLst/>
          </a:prstGeom>
        </p:spPr>
      </p:pic>
      <p:sp>
        <p:nvSpPr>
          <p:cNvPr name="AutoShape 12" id="12"/>
          <p:cNvSpPr/>
          <p:nvPr/>
        </p:nvSpPr>
        <p:spPr>
          <a:xfrm rot="0" flipH="false" flipV="false">
            <a:off x="6985000" y="16764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Poppins"/>
                <a:ea typeface="Poppins"/>
                <a:cs typeface="Poppins"/>
                <a:sym typeface="Poppins"/>
              </a:rPr>
              <a:t>Q2 (P1) · High Value, High Complexity</a:t>
            </a:r>
            <a:endParaRPr lang="en-US" sz="1100"/>
          </a:p>
        </p:txBody>
      </p:sp>
      <p:sp>
        <p:nvSpPr>
          <p:cNvPr name="AutoShape 13" id="13"/>
          <p:cNvSpPr/>
          <p:nvPr/>
        </p:nvSpPr>
        <p:spPr>
          <a:xfrm rot="0" flipH="false" flipV="false">
            <a:off x="6426200" y="2540000"/>
            <a:ext cx="48006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374151"/>
                </a:solidFill>
                <a:latin typeface="Poppins"/>
                <a:ea typeface="Poppins"/>
                <a:cs typeface="Poppins"/>
                <a:sym typeface="Poppins"/>
              </a:rPr>
              <a:t>AI 3 nodes + Integration 4 nodes + Live call simulation + Version management + Heatmap.</a:t>
            </a:r>
            <a:endParaRPr lang="en-US" sz="1100"/>
          </a:p>
        </p:txBody>
      </p:sp>
      <p:sp>
        <p:nvSpPr>
          <p:cNvPr name="AutoShape 14" id="14"/>
          <p:cNvSpPr/>
          <p:nvPr/>
        </p:nvSpPr>
        <p:spPr>
          <a:xfrm rot="0" flipH="false" flipV="false">
            <a:off x="762000" y="4191000"/>
            <a:ext cx="5207000" cy="2413000"/>
          </a:xfrm>
          <a:prstGeom prst="roundRect">
            <a:avLst>
              <a:gd name="adj" fmla="val 6315"/>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762000" y="4191000"/>
            <a:ext cx="5207000" cy="812800"/>
          </a:xfrm>
          <a:prstGeom prst="roundRect">
            <a:avLst>
              <a:gd name="adj" fmla="val 18750"/>
            </a:avLst>
          </a:prstGeom>
          <a:solidFill>
            <a:srgbClr val="70809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65200" y="4394200"/>
            <a:ext cx="406400" cy="406400"/>
          </a:xfrm>
          <a:prstGeom prst="rect">
            <a:avLst/>
          </a:prstGeom>
        </p:spPr>
      </p:pic>
      <p:sp>
        <p:nvSpPr>
          <p:cNvPr name="AutoShape 17" id="17"/>
          <p:cNvSpPr/>
          <p:nvPr/>
        </p:nvSpPr>
        <p:spPr>
          <a:xfrm rot="0" flipH="false" flipV="false">
            <a:off x="1524000" y="43434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Poppins"/>
                <a:ea typeface="Poppins"/>
                <a:cs typeface="Poppins"/>
                <a:sym typeface="Poppins"/>
              </a:rPr>
              <a:t>Q3 (P2) · Low Value, Low Complexity</a:t>
            </a:r>
            <a:endParaRPr lang="en-US" sz="1100"/>
          </a:p>
        </p:txBody>
      </p:sp>
      <p:sp>
        <p:nvSpPr>
          <p:cNvPr name="AutoShape 18" id="18"/>
          <p:cNvSpPr/>
          <p:nvPr/>
        </p:nvSpPr>
        <p:spPr>
          <a:xfrm rot="0" flipH="false" flipV="false">
            <a:off x="965200" y="5207000"/>
            <a:ext cx="48006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374151"/>
                </a:solidFill>
                <a:latin typeface="Poppins"/>
                <a:ea typeface="Poppins"/>
                <a:cs typeface="Poppins"/>
                <a:sym typeface="Poppins"/>
              </a:rPr>
              <a:t>Parallel branch + Custom dashboard.</a:t>
            </a:r>
            <a:endParaRPr lang="en-US" sz="1100"/>
          </a:p>
        </p:txBody>
      </p:sp>
      <p:sp>
        <p:nvSpPr>
          <p:cNvPr name="AutoShape 19" id="19"/>
          <p:cNvSpPr/>
          <p:nvPr/>
        </p:nvSpPr>
        <p:spPr>
          <a:xfrm rot="0" flipH="false" flipV="false">
            <a:off x="6223000" y="4191000"/>
            <a:ext cx="5207000" cy="2413000"/>
          </a:xfrm>
          <a:prstGeom prst="roundRect">
            <a:avLst>
              <a:gd name="adj" fmla="val 6315"/>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223000" y="4191000"/>
            <a:ext cx="5207000" cy="812800"/>
          </a:xfrm>
          <a:prstGeom prst="roundRect">
            <a:avLst>
              <a:gd name="adj" fmla="val 18750"/>
            </a:avLst>
          </a:prstGeom>
          <a:solidFill>
            <a:srgbClr val="A9A9A9">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26200" y="4394200"/>
            <a:ext cx="406400" cy="406400"/>
          </a:xfrm>
          <a:prstGeom prst="rect">
            <a:avLst/>
          </a:prstGeom>
        </p:spPr>
      </p:pic>
      <p:sp>
        <p:nvSpPr>
          <p:cNvPr name="AutoShape 22" id="22"/>
          <p:cNvSpPr/>
          <p:nvPr/>
        </p:nvSpPr>
        <p:spPr>
          <a:xfrm rot="0" flipH="false" flipV="false">
            <a:off x="6985000" y="4343400"/>
            <a:ext cx="419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Poppins"/>
                <a:ea typeface="Poppins"/>
                <a:cs typeface="Poppins"/>
                <a:sym typeface="Poppins"/>
              </a:rPr>
              <a:t>Q4 (P2) · Low Value, High Complexity</a:t>
            </a:r>
            <a:endParaRPr lang="en-US" sz="1100"/>
          </a:p>
        </p:txBody>
      </p:sp>
      <p:sp>
        <p:nvSpPr>
          <p:cNvPr name="AutoShape 23" id="23"/>
          <p:cNvSpPr/>
          <p:nvPr/>
        </p:nvSpPr>
        <p:spPr>
          <a:xfrm rot="0" flipH="false" flipV="false">
            <a:off x="6426200" y="5207000"/>
            <a:ext cx="48006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374151"/>
                </a:solidFill>
                <a:latin typeface="Poppins"/>
                <a:ea typeface="Poppins"/>
                <a:cs typeface="Poppins"/>
                <a:sym typeface="Poppins"/>
              </a:rPr>
              <a:t>Emotion detection + Smart routing + Multi-agent.</a:t>
            </a:r>
            <a:endParaRPr lang="en-US" sz="1100"/>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Interactive Prototype Preview</a:t>
            </a:r>
            <a:endParaRPr lang="en-US" sz="1100"/>
          </a:p>
        </p:txBody>
      </p:sp>
      <p:sp>
        <p:nvSpPr>
          <p:cNvPr name="AutoShape 3" id="3"/>
          <p:cNvSpPr/>
          <p:nvPr/>
        </p:nvSpPr>
        <p:spPr>
          <a:xfrm rot="0" flipH="false" flipV="false">
            <a:off x="762000" y="1651000"/>
            <a:ext cx="5207000" cy="2286000"/>
          </a:xfrm>
          <a:prstGeom prst="roundRect">
            <a:avLst>
              <a:gd name="adj" fmla="val 6666"/>
            </a:avLst>
          </a:prstGeom>
          <a:solidFill>
            <a:srgbClr val="FFFFFF">
              <a:alpha val="9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2095500"/>
            <a:ext cx="609600" cy="609600"/>
          </a:xfrm>
          <a:prstGeom prst="rect">
            <a:avLst/>
          </a:prstGeom>
        </p:spPr>
      </p:pic>
      <p:sp>
        <p:nvSpPr>
          <p:cNvPr name="AutoShape 5" id="5"/>
          <p:cNvSpPr/>
          <p:nvPr/>
        </p:nvSpPr>
        <p:spPr>
          <a:xfrm rot="0" flipH="false" flipV="false">
            <a:off x="1930400" y="1968500"/>
            <a:ext cx="3683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Workflow Canvas Page</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200"/>
              </a:spcBef>
            </a:pPr>
            <a:r>
              <a:rPr lang="en-US" b="false" i="false" strike="noStrike" u="none" sz="1300">
                <a:solidFill>
                  <a:srgbClr val="4B5563"/>
                </a:solidFill>
                <a:latin typeface="Noto Sans SC"/>
                <a:ea typeface="Noto Sans SC"/>
                <a:cs typeface="Noto Sans SC"/>
                <a:sym typeface="Noto Sans SC"/>
              </a:rPr>
              <a:t>Demonstrates core interactions like drag-connect, node configuration, and real-time validation.</a:t>
            </a:r>
          </a:p>
        </p:txBody>
      </p:sp>
      <p:sp>
        <p:nvSpPr>
          <p:cNvPr name="AutoShape 6" id="6"/>
          <p:cNvSpPr/>
          <p:nvPr/>
        </p:nvSpPr>
        <p:spPr>
          <a:xfrm rot="0" flipH="false" flipV="false">
            <a:off x="6223000" y="1651000"/>
            <a:ext cx="5207000" cy="2286000"/>
          </a:xfrm>
          <a:prstGeom prst="roundRect">
            <a:avLst>
              <a:gd name="adj" fmla="val 6666"/>
            </a:avLst>
          </a:prstGeom>
          <a:solidFill>
            <a:srgbClr val="FFFFFF">
              <a:alpha val="9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27800" y="2095500"/>
            <a:ext cx="609600" cy="609600"/>
          </a:xfrm>
          <a:prstGeom prst="rect">
            <a:avLst/>
          </a:prstGeom>
        </p:spPr>
      </p:pic>
      <p:sp>
        <p:nvSpPr>
          <p:cNvPr name="AutoShape 8" id="8"/>
          <p:cNvSpPr/>
          <p:nvPr/>
        </p:nvSpPr>
        <p:spPr>
          <a:xfrm rot="0" flipH="false" flipV="false">
            <a:off x="7391400" y="1968500"/>
            <a:ext cx="3683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Simulation Page</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200"/>
              </a:spcBef>
            </a:pPr>
            <a:r>
              <a:rPr lang="en-US" b="false" i="false" strike="noStrike" u="none" sz="1300">
                <a:solidFill>
                  <a:srgbClr val="4B5563"/>
                </a:solidFill>
                <a:latin typeface="Noto Sans SC"/>
                <a:ea typeface="Noto Sans SC"/>
                <a:cs typeface="Noto Sans SC"/>
                <a:sym typeface="Noto Sans SC"/>
              </a:rPr>
              <a:t>Shows text chat simulation and node path highlighting for real-time testing of voice flows.</a:t>
            </a:r>
          </a:p>
        </p:txBody>
      </p:sp>
      <p:sp>
        <p:nvSpPr>
          <p:cNvPr name="AutoShape 9" id="9"/>
          <p:cNvSpPr/>
          <p:nvPr/>
        </p:nvSpPr>
        <p:spPr>
          <a:xfrm rot="0" flipH="false" flipV="false">
            <a:off x="762000" y="4191000"/>
            <a:ext cx="5207000" cy="2286000"/>
          </a:xfrm>
          <a:prstGeom prst="roundRect">
            <a:avLst>
              <a:gd name="adj" fmla="val 6666"/>
            </a:avLst>
          </a:prstGeom>
          <a:solidFill>
            <a:srgbClr val="FFFFFF">
              <a:alpha val="9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66800" y="4635500"/>
            <a:ext cx="609600" cy="609600"/>
          </a:xfrm>
          <a:prstGeom prst="rect">
            <a:avLst/>
          </a:prstGeom>
        </p:spPr>
      </p:pic>
      <p:sp>
        <p:nvSpPr>
          <p:cNvPr name="AutoShape 11" id="11"/>
          <p:cNvSpPr/>
          <p:nvPr/>
        </p:nvSpPr>
        <p:spPr>
          <a:xfrm rot="0" flipH="false" flipV="false">
            <a:off x="1930400" y="4508500"/>
            <a:ext cx="3683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Dashboard Page</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200"/>
              </a:spcBef>
            </a:pPr>
            <a:r>
              <a:rPr lang="en-US" b="false" i="false" strike="noStrike" u="none" sz="1300">
                <a:solidFill>
                  <a:srgbClr val="4B5563"/>
                </a:solidFill>
                <a:latin typeface="Noto Sans SC"/>
                <a:ea typeface="Noto Sans SC"/>
                <a:cs typeface="Noto Sans SC"/>
                <a:sym typeface="Noto Sans SC"/>
              </a:rPr>
              <a:t>Displays critical KPI cards, performance trend charts, user heatmaps, and conversion funnels.</a:t>
            </a:r>
          </a:p>
        </p:txBody>
      </p:sp>
      <p:sp>
        <p:nvSpPr>
          <p:cNvPr name="AutoShape 12" id="12"/>
          <p:cNvSpPr/>
          <p:nvPr/>
        </p:nvSpPr>
        <p:spPr>
          <a:xfrm rot="0" flipH="false" flipV="false">
            <a:off x="6223000" y="4191000"/>
            <a:ext cx="5207000" cy="2286000"/>
          </a:xfrm>
          <a:prstGeom prst="roundRect">
            <a:avLst>
              <a:gd name="adj" fmla="val 6666"/>
            </a:avLst>
          </a:prstGeom>
          <a:solidFill>
            <a:srgbClr val="FFFFFF">
              <a:alpha val="9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527800" y="4635500"/>
            <a:ext cx="609600" cy="609600"/>
          </a:xfrm>
          <a:prstGeom prst="rect">
            <a:avLst/>
          </a:prstGeom>
        </p:spPr>
      </p:pic>
      <p:sp>
        <p:nvSpPr>
          <p:cNvPr name="AutoShape 14" id="14"/>
          <p:cNvSpPr/>
          <p:nvPr/>
        </p:nvSpPr>
        <p:spPr>
          <a:xfrm rot="0" flipH="false" flipV="false">
            <a:off x="7391400" y="4508500"/>
            <a:ext cx="3683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Telephony Access Page</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1200"/>
              </a:spcBef>
            </a:pPr>
            <a:r>
              <a:rPr lang="en-US" b="false" i="false" strike="noStrike" u="none" sz="1300">
                <a:solidFill>
                  <a:srgbClr val="4B5563"/>
                </a:solidFill>
                <a:latin typeface="Noto Sans SC"/>
                <a:ea typeface="Noto Sans SC"/>
                <a:cs typeface="Noto Sans SC"/>
                <a:sym typeface="Noto Sans SC"/>
              </a:rPr>
              <a:t>Shows the interface for switching between three modes and provides a detailed cost comparison.</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Competitor Feature Matrix</a:t>
            </a:r>
            <a:endParaRPr lang="en-US" sz="1100"/>
          </a:p>
        </p:txBody>
      </p:sp>
      <p:sp>
        <p:nvSpPr>
          <p:cNvPr name="AutoShape 4" id="4"/>
          <p:cNvSpPr/>
          <p:nvPr/>
        </p:nvSpPr>
        <p:spPr>
          <a:xfrm rot="0" flipH="false" flipV="false">
            <a:off x="762000" y="1524000"/>
            <a:ext cx="2032000" cy="1270000"/>
          </a:xfrm>
          <a:prstGeom prst="roundRect">
            <a:avLst>
              <a:gd name="adj" fmla="val 8000"/>
            </a:avLst>
          </a:prstGeom>
          <a:solidFill>
            <a:srgbClr val="FFFFFF">
              <a:alpha val="100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0" r="0" t="20833" b="20833"/>
          <a:stretch>
            <a:fillRect/>
          </a:stretch>
        </p:blipFill>
        <p:spPr>
          <a:xfrm rot="0" flipH="false" flipV="false">
            <a:off x="1016000" y="1714500"/>
            <a:ext cx="1524000" cy="889000"/>
          </a:xfrm>
          <a:prstGeom prst="rect">
            <a:avLst/>
          </a:prstGeom>
          <a:noFill/>
          <a:ln w="25400" cmpd="sng" cap="flat">
            <a:noFill/>
            <a:prstDash val="solid"/>
            <a:round/>
          </a:ln>
        </p:spPr>
      </p:pic>
      <p:sp>
        <p:nvSpPr>
          <p:cNvPr name="AutoShape 6" id="6"/>
          <p:cNvSpPr/>
          <p:nvPr/>
        </p:nvSpPr>
        <p:spPr>
          <a:xfrm rot="0" flipH="false" flipV="false">
            <a:off x="3048000" y="1524000"/>
            <a:ext cx="2032000" cy="1270000"/>
          </a:xfrm>
          <a:prstGeom prst="roundRect">
            <a:avLst>
              <a:gd name="adj" fmla="val 8000"/>
            </a:avLst>
          </a:prstGeom>
          <a:solidFill>
            <a:srgbClr val="FFFFFF">
              <a:alpha val="100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4"/>
          <a:srcRect l="0" r="0" t="20833" b="20833"/>
          <a:stretch>
            <a:fillRect/>
          </a:stretch>
        </p:blipFill>
        <p:spPr>
          <a:xfrm rot="0" flipH="false" flipV="false">
            <a:off x="3302000" y="1714500"/>
            <a:ext cx="1524000" cy="889000"/>
          </a:xfrm>
          <a:prstGeom prst="rect">
            <a:avLst/>
          </a:prstGeom>
          <a:noFill/>
          <a:ln w="25400" cmpd="sng" cap="flat">
            <a:noFill/>
            <a:prstDash val="solid"/>
            <a:round/>
          </a:ln>
        </p:spPr>
      </p:pic>
      <p:sp>
        <p:nvSpPr>
          <p:cNvPr name="AutoShape 8" id="8"/>
          <p:cNvSpPr/>
          <p:nvPr/>
        </p:nvSpPr>
        <p:spPr>
          <a:xfrm rot="0" flipH="false" flipV="false">
            <a:off x="5334000" y="1524000"/>
            <a:ext cx="2032000" cy="1270000"/>
          </a:xfrm>
          <a:prstGeom prst="roundRect">
            <a:avLst>
              <a:gd name="adj" fmla="val 8000"/>
            </a:avLst>
          </a:prstGeom>
          <a:solidFill>
            <a:srgbClr val="FFFFFF">
              <a:alpha val="100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srcRect l="0" r="0" t="20833" b="20833"/>
          <a:stretch>
            <a:fillRect/>
          </a:stretch>
        </p:blipFill>
        <p:spPr>
          <a:xfrm rot="0" flipH="false" flipV="false">
            <a:off x="5588000" y="1714500"/>
            <a:ext cx="1524000" cy="889000"/>
          </a:xfrm>
          <a:prstGeom prst="rect">
            <a:avLst/>
          </a:prstGeom>
          <a:noFill/>
          <a:ln w="25400" cmpd="sng" cap="flat">
            <a:noFill/>
            <a:prstDash val="solid"/>
            <a:round/>
          </a:ln>
        </p:spPr>
      </p:pic>
      <p:sp>
        <p:nvSpPr>
          <p:cNvPr name="AutoShape 10" id="10"/>
          <p:cNvSpPr/>
          <p:nvPr/>
        </p:nvSpPr>
        <p:spPr>
          <a:xfrm rot="0" flipH="false" flipV="false">
            <a:off x="7620000" y="1524000"/>
            <a:ext cx="2032000" cy="1270000"/>
          </a:xfrm>
          <a:prstGeom prst="roundRect">
            <a:avLst>
              <a:gd name="adj" fmla="val 8000"/>
            </a:avLst>
          </a:prstGeom>
          <a:solidFill>
            <a:srgbClr val="FFFFFF">
              <a:alpha val="100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srcRect l="0" r="0" t="11111" b="11111"/>
          <a:stretch>
            <a:fillRect/>
          </a:stretch>
        </p:blipFill>
        <p:spPr>
          <a:xfrm rot="0" flipH="false" flipV="false">
            <a:off x="7874000" y="1714500"/>
            <a:ext cx="1524000" cy="889000"/>
          </a:xfrm>
          <a:prstGeom prst="rect">
            <a:avLst/>
          </a:prstGeom>
          <a:noFill/>
          <a:ln w="25400" cmpd="sng" cap="flat">
            <a:noFill/>
            <a:prstDash val="solid"/>
            <a:round/>
          </a:ln>
        </p:spPr>
      </p:pic>
      <p:sp>
        <p:nvSpPr>
          <p:cNvPr name="AutoShape 12" id="12"/>
          <p:cNvSpPr/>
          <p:nvPr/>
        </p:nvSpPr>
        <p:spPr>
          <a:xfrm rot="0" flipH="false" flipV="false">
            <a:off x="9779000" y="1524000"/>
            <a:ext cx="1651000" cy="1270000"/>
          </a:xfrm>
          <a:prstGeom prst="roundRect">
            <a:avLst>
              <a:gd name="adj" fmla="val 8000"/>
            </a:avLst>
          </a:prstGeom>
          <a:solidFill>
            <a:srgbClr val="2F4F4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srcRect l="0" r="0" t="18181" b="18181"/>
          <a:stretch>
            <a:fillRect/>
          </a:stretch>
        </p:blipFill>
        <p:spPr>
          <a:xfrm rot="0" flipH="false" flipV="false">
            <a:off x="9906000" y="1714500"/>
            <a:ext cx="1397000" cy="889000"/>
          </a:xfrm>
          <a:prstGeom prst="rect">
            <a:avLst/>
          </a:prstGeom>
          <a:noFill/>
          <a:ln w="25400" cmpd="sng" cap="flat">
            <a:noFill/>
            <a:prstDash val="solid"/>
            <a:round/>
          </a:ln>
        </p:spPr>
      </p:pic>
      <p:sp>
        <p:nvSpPr>
          <p:cNvPr name="AutoShape 14" id="14"/>
          <p:cNvSpPr/>
          <p:nvPr/>
        </p:nvSpPr>
        <p:spPr>
          <a:xfrm rot="0" flipH="false" flipV="false">
            <a:off x="762000" y="3175000"/>
            <a:ext cx="3302000" cy="2921000"/>
          </a:xfrm>
          <a:prstGeom prst="roundRect">
            <a:avLst>
              <a:gd name="adj" fmla="val 5217"/>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3429000"/>
            <a:ext cx="457200" cy="457200"/>
          </a:xfrm>
          <a:prstGeom prst="rect">
            <a:avLst/>
          </a:prstGeom>
        </p:spPr>
      </p:pic>
      <p:sp>
        <p:nvSpPr>
          <p:cNvPr name="AutoShape 16" id="16"/>
          <p:cNvSpPr/>
          <p:nvPr/>
        </p:nvSpPr>
        <p:spPr>
          <a:xfrm rot="0" flipH="false" flipV="false">
            <a:off x="1651000" y="3403600"/>
            <a:ext cx="2159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Triple-Mode Telephony &amp; Dual Simulation</a:t>
            </a:r>
            <a:endParaRPr lang="en-US" sz="1100"/>
          </a:p>
        </p:txBody>
      </p:sp>
      <p:sp>
        <p:nvSpPr>
          <p:cNvPr name="AutoShape 17" id="17"/>
          <p:cNvSpPr/>
          <p:nvPr/>
        </p:nvSpPr>
        <p:spPr>
          <a:xfrm rot="0" flipH="false" flipV="false">
            <a:off x="1016000" y="45720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505050"/>
                </a:solidFill>
                <a:latin typeface="Poppins"/>
                <a:ea typeface="Poppins"/>
                <a:cs typeface="Poppins"/>
                <a:sym typeface="Poppins"/>
              </a:rPr>
              <a:t>The only platform that offers both triple-mode telephony capabilities and dual-mode simulation, ensuring maximum flexibility for testing and deployment.</a:t>
            </a:r>
            <a:endParaRPr lang="en-US" sz="1100"/>
          </a:p>
        </p:txBody>
      </p:sp>
      <p:sp>
        <p:nvSpPr>
          <p:cNvPr name="AutoShape 18" id="18"/>
          <p:cNvSpPr/>
          <p:nvPr/>
        </p:nvSpPr>
        <p:spPr>
          <a:xfrm rot="0" flipH="false" flipV="false">
            <a:off x="4445000" y="3175000"/>
            <a:ext cx="3302000" cy="2921000"/>
          </a:xfrm>
          <a:prstGeom prst="roundRect">
            <a:avLst>
              <a:gd name="adj" fmla="val 5217"/>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4699000" y="3429000"/>
            <a:ext cx="457200" cy="457200"/>
          </a:xfrm>
          <a:prstGeom prst="rect">
            <a:avLst/>
          </a:prstGeom>
        </p:spPr>
      </p:pic>
      <p:sp>
        <p:nvSpPr>
          <p:cNvPr name="AutoShape 20" id="20"/>
          <p:cNvSpPr/>
          <p:nvPr/>
        </p:nvSpPr>
        <p:spPr>
          <a:xfrm rot="0" flipH="false" flipV="false">
            <a:off x="5334000" y="3403600"/>
            <a:ext cx="2159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Node-Level Operational Insights</a:t>
            </a:r>
            <a:endParaRPr lang="en-US" sz="1100"/>
          </a:p>
        </p:txBody>
      </p:sp>
      <p:sp>
        <p:nvSpPr>
          <p:cNvPr name="AutoShape 21" id="21"/>
          <p:cNvSpPr/>
          <p:nvPr/>
        </p:nvSpPr>
        <p:spPr>
          <a:xfrm rot="0" flipH="false" flipV="false">
            <a:off x="4699000" y="45720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505050"/>
                </a:solidFill>
                <a:latin typeface="Poppins"/>
                <a:ea typeface="Poppins"/>
                <a:cs typeface="Poppins"/>
                <a:sym typeface="Poppins"/>
              </a:rPr>
              <a:t>Gain deep visibility into bot performance with heatmaps and funnel analysis at the node level. Identify bottlenecks and optimize user journeys with precision.</a:t>
            </a:r>
            <a:endParaRPr lang="en-US" sz="1100"/>
          </a:p>
        </p:txBody>
      </p:sp>
      <p:sp>
        <p:nvSpPr>
          <p:cNvPr name="AutoShape 22" id="22"/>
          <p:cNvSpPr/>
          <p:nvPr/>
        </p:nvSpPr>
        <p:spPr>
          <a:xfrm rot="0" flipH="false" flipV="false">
            <a:off x="8128000" y="3175000"/>
            <a:ext cx="3302000" cy="2921000"/>
          </a:xfrm>
          <a:prstGeom prst="roundRect">
            <a:avLst>
              <a:gd name="adj" fmla="val 5217"/>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8382000" y="3429000"/>
            <a:ext cx="457200" cy="457200"/>
          </a:xfrm>
          <a:prstGeom prst="rect">
            <a:avLst/>
          </a:prstGeom>
        </p:spPr>
      </p:pic>
      <p:sp>
        <p:nvSpPr>
          <p:cNvPr name="AutoShape 24" id="24"/>
          <p:cNvSpPr/>
          <p:nvPr/>
        </p:nvSpPr>
        <p:spPr>
          <a:xfrm rot="0" flipH="false" flipV="false">
            <a:off x="9017000" y="3403600"/>
            <a:ext cx="2159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Native WebRTC Browser Calling</a:t>
            </a:r>
            <a:endParaRPr lang="en-US" sz="1100"/>
          </a:p>
        </p:txBody>
      </p:sp>
      <p:sp>
        <p:nvSpPr>
          <p:cNvPr name="AutoShape 25" id="25"/>
          <p:cNvSpPr/>
          <p:nvPr/>
        </p:nvSpPr>
        <p:spPr>
          <a:xfrm rot="0" flipH="false" flipV="false">
            <a:off x="8382000" y="45720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505050"/>
                </a:solidFill>
                <a:latin typeface="Poppins"/>
                <a:ea typeface="Poppins"/>
                <a:cs typeface="Poppins"/>
                <a:sym typeface="Poppins"/>
              </a:rPr>
              <a:t>Enable seamless, high-quality browser-based calling without the need for third-party plugins, enhancing user experience and accessibility.</a:t>
            </a:r>
            <a:endParaRPr lang="en-US" sz="1100"/>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Hybrid Pricing Model: Flexible &amp; Transparent</a:t>
            </a:r>
            <a:endParaRPr lang="en-US" sz="1100"/>
          </a:p>
        </p:txBody>
      </p:sp>
      <p:sp>
        <p:nvSpPr>
          <p:cNvPr name="AutoShape 4" id="4"/>
          <p:cNvSpPr/>
          <p:nvPr/>
        </p:nvSpPr>
        <p:spPr>
          <a:xfrm rot="0" flipH="false" flipV="false">
            <a:off x="762000" y="1778000"/>
            <a:ext cx="3302000" cy="4318000"/>
          </a:xfrm>
          <a:prstGeom prst="roundRect">
            <a:avLst>
              <a:gd name="adj" fmla="val 4615"/>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3302000" cy="889000"/>
          </a:xfrm>
          <a:prstGeom prst="roundRect">
            <a:avLst>
              <a:gd name="adj" fmla="val 17142"/>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1981200"/>
            <a:ext cx="355600" cy="355600"/>
          </a:xfrm>
          <a:prstGeom prst="rect">
            <a:avLst/>
          </a:prstGeom>
        </p:spPr>
      </p:pic>
      <p:sp>
        <p:nvSpPr>
          <p:cNvPr name="AutoShape 7" id="7"/>
          <p:cNvSpPr/>
          <p:nvPr/>
        </p:nvSpPr>
        <p:spPr>
          <a:xfrm rot="0" flipH="false" flipV="false">
            <a:off x="1460500" y="1930400"/>
            <a:ext cx="2413000" cy="584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FFFFFF"/>
                </a:solidFill>
                <a:latin typeface="Poppins"/>
                <a:ea typeface="Poppins"/>
                <a:cs typeface="Poppins"/>
                <a:sym typeface="Poppins"/>
              </a:rPr>
              <a:t>Base Plan</a:t>
            </a:r>
            <a:endParaRPr lang="en-US" sz="1100"/>
          </a:p>
        </p:txBody>
      </p:sp>
      <p:sp>
        <p:nvSpPr>
          <p:cNvPr name="AutoShape 8" id="8"/>
          <p:cNvSpPr/>
          <p:nvPr/>
        </p:nvSpPr>
        <p:spPr>
          <a:xfrm rot="0" flipH="false" flipV="false">
            <a:off x="952500" y="2921000"/>
            <a:ext cx="2921000" cy="2794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true" i="false" strike="noStrike" u="none" sz="3600">
                <a:solidFill>
                  <a:srgbClr val="2F4F4F"/>
                </a:solidFill>
                <a:latin typeface="Poppins"/>
                <a:ea typeface="Poppins"/>
                <a:cs typeface="Poppins"/>
                <a:sym typeface="Poppins"/>
              </a:rPr>
              <a:t>$29</a:t>
            </a:r>
            <a:r>
              <a:rPr lang="en-US" b="false" i="false" strike="noStrike" u="none" sz="1600">
                <a:solidFill>
                  <a:srgbClr val="6B7280"/>
                </a:solidFill>
                <a:latin typeface="Poppins"/>
                <a:ea typeface="Poppins"/>
                <a:cs typeface="Poppins"/>
                <a:sym typeface="Poppins"/>
              </a:rPr>
              <a:t>/ month</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spcBef>
                <a:spcPts val="2000"/>
              </a:spcBef>
            </a:pPr>
            <a:r>
              <a:rPr lang="en-US" b="true" i="false" strike="noStrike" u="none" sz="1400">
                <a:solidFill>
                  <a:srgbClr val="374151"/>
                </a:solidFill>
                <a:latin typeface="Poppins"/>
                <a:ea typeface="Poppins"/>
                <a:cs typeface="Poppins"/>
                <a:sym typeface="Poppins"/>
              </a:rPr>
              <a:t>What’s included:</a:t>
            </a:r>
            <a:r>
              <a:rPr lang="en-US" b="false" i="false" strike="noStrike" u="none" sz="1600">
                <a:solidFill>
                  <a:srgbClr val="1F2329"/>
                </a:solidFill>
                <a:latin typeface="Poppins"/>
                <a:ea typeface="Poppins"/>
                <a:cs typeface="Poppins"/>
                <a:sym typeface="Poppins"/>
              </a:rPr>
              <a:t/>
            </a:r>
          </a:p>
          <a:p>
            <a:pPr algn="l" indent="0">
              <a:lnSpc>
                <a:spcPct val="116666"/>
              </a:lnSpc>
            </a:pPr>
            <a:r>
              <a:rPr lang="en-US" b="false" i="false" strike="noStrike" u="none" sz="1300">
                <a:solidFill>
                  <a:srgbClr val="4B5563"/>
                </a:solidFill>
                <a:latin typeface="Poppins"/>
                <a:ea typeface="Poppins"/>
                <a:cs typeface="Poppins"/>
                <a:sym typeface="Poppins"/>
              </a:rPr>
              <a:t>• 100 minutes of calls</a:t>
            </a:r>
            <a:r>
              <a:rPr lang="en-US" b="false" i="false" strike="noStrike" u="none" sz="1600">
                <a:solidFill>
                  <a:srgbClr val="1F2329"/>
                </a:solidFill>
                <a:latin typeface="Poppins"/>
                <a:ea typeface="Poppins"/>
                <a:cs typeface="Poppins"/>
                <a:sym typeface="Poppins"/>
              </a:rPr>
              <a:t/>
            </a:r>
          </a:p>
          <a:p>
            <a:pPr algn="l" indent="0">
              <a:lnSpc>
                <a:spcPct val="116666"/>
              </a:lnSpc>
            </a:pPr>
            <a:r>
              <a:rPr lang="en-US" b="false" i="false" strike="noStrike" u="none" sz="1300">
                <a:solidFill>
                  <a:srgbClr val="4B5563"/>
                </a:solidFill>
                <a:latin typeface="Poppins"/>
                <a:ea typeface="Poppins"/>
                <a:cs typeface="Poppins"/>
                <a:sym typeface="Poppins"/>
              </a:rPr>
              <a:t>• 1 platform-managed number</a:t>
            </a:r>
            <a:r>
              <a:rPr lang="en-US" b="false" i="false" strike="noStrike" u="none" sz="1600">
                <a:solidFill>
                  <a:srgbClr val="1F2329"/>
                </a:solidFill>
                <a:latin typeface="Poppins"/>
                <a:ea typeface="Poppins"/>
                <a:cs typeface="Poppins"/>
                <a:sym typeface="Poppins"/>
              </a:rPr>
              <a:t/>
            </a:r>
          </a:p>
          <a:p>
            <a:pPr algn="l" indent="0">
              <a:lnSpc>
                <a:spcPct val="116666"/>
              </a:lnSpc>
              <a:spcBef>
                <a:spcPts val="1600"/>
              </a:spcBef>
            </a:pPr>
            <a:r>
              <a:rPr lang="en-US" b="false" i="true" strike="noStrike" u="none" sz="1200">
                <a:solidFill>
                  <a:srgbClr val="6B7280"/>
                </a:solidFill>
                <a:latin typeface="Poppins"/>
                <a:ea typeface="Poppins"/>
                <a:cs typeface="Poppins"/>
                <a:sym typeface="Poppins"/>
              </a:rPr>
              <a:t>Overage is pay-as-you-go. AI usage is billed separately.</a:t>
            </a:r>
          </a:p>
        </p:txBody>
      </p:sp>
      <p:sp>
        <p:nvSpPr>
          <p:cNvPr name="AutoShape 9" id="9"/>
          <p:cNvSpPr/>
          <p:nvPr/>
        </p:nvSpPr>
        <p:spPr>
          <a:xfrm rot="0" flipH="false" flipV="false">
            <a:off x="4445000" y="1778000"/>
            <a:ext cx="3302000" cy="4318000"/>
          </a:xfrm>
          <a:prstGeom prst="roundRect">
            <a:avLst>
              <a:gd name="adj" fmla="val 4615"/>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445000" y="1778000"/>
            <a:ext cx="3302000" cy="889000"/>
          </a:xfrm>
          <a:prstGeom prst="roundRect">
            <a:avLst>
              <a:gd name="adj" fmla="val 17142"/>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35500" y="1981200"/>
            <a:ext cx="355600" cy="355600"/>
          </a:xfrm>
          <a:prstGeom prst="rect">
            <a:avLst/>
          </a:prstGeom>
        </p:spPr>
      </p:pic>
      <p:sp>
        <p:nvSpPr>
          <p:cNvPr name="AutoShape 12" id="12"/>
          <p:cNvSpPr/>
          <p:nvPr/>
        </p:nvSpPr>
        <p:spPr>
          <a:xfrm rot="0" flipH="false" flipV="false">
            <a:off x="5143500" y="1930400"/>
            <a:ext cx="2413000" cy="584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FFFFFF"/>
                </a:solidFill>
                <a:latin typeface="Poppins"/>
                <a:ea typeface="Poppins"/>
                <a:cs typeface="Poppins"/>
                <a:sym typeface="Poppins"/>
              </a:rPr>
              <a:t>Plan Tiers</a:t>
            </a:r>
            <a:endParaRPr lang="en-US" sz="1100"/>
          </a:p>
        </p:txBody>
      </p:sp>
      <p:sp>
        <p:nvSpPr>
          <p:cNvPr name="AutoShape 13" id="13"/>
          <p:cNvSpPr/>
          <p:nvPr/>
        </p:nvSpPr>
        <p:spPr>
          <a:xfrm rot="0" flipH="false" flipV="false">
            <a:off x="4635500" y="2921000"/>
            <a:ext cx="2921000" cy="2794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spcBef>
                <a:spcPts val="1000"/>
              </a:spcBef>
              <a:defRPr/>
            </a:pPr>
            <a:r>
              <a:rPr lang="en-US" b="true" i="false" strike="noStrike" u="none" sz="1600">
                <a:solidFill>
                  <a:srgbClr val="2F4F4F"/>
                </a:solidFill>
                <a:latin typeface="Poppins"/>
                <a:ea typeface="Poppins"/>
                <a:cs typeface="Poppins"/>
                <a:sym typeface="Poppins"/>
              </a:rPr>
              <a:t>Starter</a:t>
            </a:r>
            <a:r>
              <a:rPr lang="en-US" b="false" i="false" strike="noStrike" u="none" sz="1500">
                <a:solidFill>
                  <a:srgbClr val="374151"/>
                </a:solidFill>
                <a:latin typeface="Poppins"/>
                <a:ea typeface="Poppins"/>
                <a:cs typeface="Poppins"/>
                <a:sym typeface="Poppins"/>
              </a:rPr>
              <a:t>— $49 / month</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200">
                <a:solidFill>
                  <a:srgbClr val="6B7280"/>
                </a:solidFill>
                <a:latin typeface="Poppins"/>
                <a:ea typeface="Poppins"/>
                <a:cs typeface="Poppins"/>
                <a:sym typeface="Poppins"/>
              </a:rPr>
              <a:t>(Includes 200 minutes)</a:t>
            </a:r>
            <a:r>
              <a:rPr lang="en-US" b="false" i="false" strike="noStrike" u="none" sz="1600">
                <a:solidFill>
                  <a:srgbClr val="1F2329"/>
                </a:solidFill>
                <a:latin typeface="Poppins"/>
                <a:ea typeface="Poppins"/>
                <a:cs typeface="Poppins"/>
                <a:sym typeface="Poppins"/>
              </a:rPr>
              <a:t/>
            </a:r>
            <a:endParaRPr lang="en-US" sz="1100"/>
          </a:p>
          <a:p>
            <a:pPr algn="l" indent="0">
              <a:lnSpc>
                <a:spcPct val="133333"/>
              </a:lnSpc>
              <a:spcBef>
                <a:spcPts val="1800"/>
              </a:spcBef>
            </a:pPr>
            <a:r>
              <a:rPr lang="en-US" b="true" i="false" strike="noStrike" u="none" sz="1600">
                <a:solidFill>
                  <a:srgbClr val="2F4F4F"/>
                </a:solidFill>
                <a:latin typeface="Poppins"/>
                <a:ea typeface="Poppins"/>
                <a:cs typeface="Poppins"/>
                <a:sym typeface="Poppins"/>
              </a:rPr>
              <a:t>Pro</a:t>
            </a:r>
            <a:r>
              <a:rPr lang="en-US" b="false" i="false" strike="noStrike" u="none" sz="1500">
                <a:solidFill>
                  <a:srgbClr val="374151"/>
                </a:solidFill>
                <a:latin typeface="Poppins"/>
                <a:ea typeface="Poppins"/>
                <a:cs typeface="Poppins"/>
                <a:sym typeface="Poppins"/>
              </a:rPr>
              <a:t>— $149 / month</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200">
                <a:solidFill>
                  <a:srgbClr val="6B7280"/>
                </a:solidFill>
                <a:latin typeface="Poppins"/>
                <a:ea typeface="Poppins"/>
                <a:cs typeface="Poppins"/>
                <a:sym typeface="Poppins"/>
              </a:rPr>
              <a:t>(Includes 1000 minutes)</a:t>
            </a:r>
            <a:r>
              <a:rPr lang="en-US" b="false" i="false" strike="noStrike" u="none" sz="1600">
                <a:solidFill>
                  <a:srgbClr val="1F2329"/>
                </a:solidFill>
                <a:latin typeface="Poppins"/>
                <a:ea typeface="Poppins"/>
                <a:cs typeface="Poppins"/>
                <a:sym typeface="Poppins"/>
              </a:rPr>
              <a:t/>
            </a:r>
          </a:p>
          <a:p>
            <a:pPr algn="l" indent="0">
              <a:lnSpc>
                <a:spcPct val="133333"/>
              </a:lnSpc>
              <a:spcBef>
                <a:spcPts val="1800"/>
              </a:spcBef>
            </a:pPr>
            <a:r>
              <a:rPr lang="en-US" b="true" i="false" strike="noStrike" u="none" sz="1600">
                <a:solidFill>
                  <a:srgbClr val="D97706"/>
                </a:solidFill>
                <a:latin typeface="Poppins"/>
                <a:ea typeface="Poppins"/>
                <a:cs typeface="Poppins"/>
                <a:sym typeface="Poppins"/>
              </a:rPr>
              <a:t>Enterprise</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374151"/>
                </a:solidFill>
                <a:latin typeface="Poppins"/>
                <a:ea typeface="Poppins"/>
                <a:cs typeface="Poppins"/>
                <a:sym typeface="Poppins"/>
              </a:rPr>
              <a:t>Custom solutions for scaling needs</a:t>
            </a:r>
          </a:p>
        </p:txBody>
      </p:sp>
      <p:sp>
        <p:nvSpPr>
          <p:cNvPr name="AutoShape 14" id="14"/>
          <p:cNvSpPr/>
          <p:nvPr/>
        </p:nvSpPr>
        <p:spPr>
          <a:xfrm rot="0" flipH="false" flipV="false">
            <a:off x="8128000" y="1778000"/>
            <a:ext cx="3302000" cy="4318000"/>
          </a:xfrm>
          <a:prstGeom prst="roundRect">
            <a:avLst>
              <a:gd name="adj" fmla="val 4615"/>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128000" y="1778000"/>
            <a:ext cx="3302000" cy="889000"/>
          </a:xfrm>
          <a:prstGeom prst="roundRect">
            <a:avLst>
              <a:gd name="adj" fmla="val 17142"/>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18500" y="1981200"/>
            <a:ext cx="355600" cy="355600"/>
          </a:xfrm>
          <a:prstGeom prst="rect">
            <a:avLst/>
          </a:prstGeom>
        </p:spPr>
      </p:pic>
      <p:sp>
        <p:nvSpPr>
          <p:cNvPr name="AutoShape 17" id="17"/>
          <p:cNvSpPr/>
          <p:nvPr/>
        </p:nvSpPr>
        <p:spPr>
          <a:xfrm rot="0" flipH="false" flipV="false">
            <a:off x="8826500" y="1930400"/>
            <a:ext cx="2413000" cy="584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FFFFFF"/>
                </a:solidFill>
                <a:latin typeface="Poppins"/>
                <a:ea typeface="Poppins"/>
                <a:cs typeface="Poppins"/>
                <a:sym typeface="Poppins"/>
              </a:rPr>
              <a:t>Expected Revenue Mix</a:t>
            </a:r>
            <a:endParaRPr lang="en-US" sz="1100"/>
          </a:p>
        </p:txBody>
      </p:sp>
      <p:sp>
        <p:nvSpPr>
          <p:cNvPr name="AutoShape 18" id="18"/>
          <p:cNvSpPr/>
          <p:nvPr/>
        </p:nvSpPr>
        <p:spPr>
          <a:xfrm rot="0" flipH="false" flipV="false">
            <a:off x="8318500" y="2921000"/>
            <a:ext cx="2921000" cy="2794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spcBef>
                <a:spcPts val="1000"/>
              </a:spcBef>
              <a:defRPr/>
            </a:pPr>
            <a:r>
              <a:rPr lang="en-US" b="true" i="false" strike="noStrike" u="none" sz="2400">
                <a:solidFill>
                  <a:srgbClr val="2F4F4F"/>
                </a:solidFill>
                <a:latin typeface="Poppins"/>
                <a:ea typeface="Poppins"/>
                <a:cs typeface="Poppins"/>
                <a:sym typeface="Poppins"/>
              </a:rPr>
              <a:t>60%</a:t>
            </a:r>
            <a:r>
              <a:rPr lang="en-US" b="true" i="false" strike="noStrike" u="none" sz="1400">
                <a:solidFill>
                  <a:srgbClr val="374151"/>
                </a:solidFill>
                <a:latin typeface="Poppins"/>
                <a:ea typeface="Poppins"/>
                <a:cs typeface="Poppins"/>
                <a:sym typeface="Poppins"/>
              </a:rPr>
              <a:t>Subscription Fees</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200">
                <a:solidFill>
                  <a:srgbClr val="6B7280"/>
                </a:solidFill>
                <a:latin typeface="Poppins"/>
                <a:ea typeface="Poppins"/>
                <a:cs typeface="Poppins"/>
                <a:sym typeface="Poppins"/>
              </a:rPr>
              <a:t>Steady, recurring income stream</a:t>
            </a:r>
            <a:r>
              <a:rPr lang="en-US" b="false" i="false" strike="noStrike" u="none" sz="1600">
                <a:solidFill>
                  <a:srgbClr val="1F2329"/>
                </a:solidFill>
                <a:latin typeface="Poppins"/>
                <a:ea typeface="Poppins"/>
                <a:cs typeface="Poppins"/>
                <a:sym typeface="Poppins"/>
              </a:rPr>
              <a:t/>
            </a:r>
            <a:endParaRPr lang="en-US" sz="1100"/>
          </a:p>
          <a:p>
            <a:pPr algn="l" indent="0">
              <a:lnSpc>
                <a:spcPct val="100000"/>
              </a:lnSpc>
              <a:spcBef>
                <a:spcPts val="2000"/>
              </a:spcBef>
            </a:pPr>
            <a:r>
              <a:rPr lang="en-US" b="true" i="false" strike="noStrike" u="none" sz="2400">
                <a:solidFill>
                  <a:srgbClr val="48A9A3"/>
                </a:solidFill>
                <a:latin typeface="Poppins"/>
                <a:ea typeface="Poppins"/>
                <a:cs typeface="Poppins"/>
                <a:sym typeface="Poppins"/>
              </a:rPr>
              <a:t>25%</a:t>
            </a:r>
            <a:r>
              <a:rPr lang="en-US" b="true" i="false" strike="noStrike" u="none" sz="1400">
                <a:solidFill>
                  <a:srgbClr val="374151"/>
                </a:solidFill>
                <a:latin typeface="Poppins"/>
                <a:ea typeface="Poppins"/>
                <a:cs typeface="Poppins"/>
                <a:sym typeface="Poppins"/>
              </a:rPr>
              <a:t>Call Overage</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200">
                <a:solidFill>
                  <a:srgbClr val="6B7280"/>
                </a:solidFill>
                <a:latin typeface="Poppins"/>
                <a:ea typeface="Poppins"/>
                <a:cs typeface="Poppins"/>
                <a:sym typeface="Poppins"/>
              </a:rPr>
              <a:t>Scalable pay-as-you-go usage</a:t>
            </a:r>
            <a:r>
              <a:rPr lang="en-US" b="false" i="false" strike="noStrike" u="none" sz="1600">
                <a:solidFill>
                  <a:srgbClr val="1F2329"/>
                </a:solidFill>
                <a:latin typeface="Poppins"/>
                <a:ea typeface="Poppins"/>
                <a:cs typeface="Poppins"/>
                <a:sym typeface="Poppins"/>
              </a:rPr>
              <a:t/>
            </a:r>
          </a:p>
          <a:p>
            <a:pPr algn="l" indent="0">
              <a:lnSpc>
                <a:spcPct val="100000"/>
              </a:lnSpc>
              <a:spcBef>
                <a:spcPts val="2000"/>
              </a:spcBef>
            </a:pPr>
            <a:r>
              <a:rPr lang="en-US" b="true" i="false" strike="noStrike" u="none" sz="2400">
                <a:solidFill>
                  <a:srgbClr val="6E6E6E"/>
                </a:solidFill>
                <a:latin typeface="Poppins"/>
                <a:ea typeface="Poppins"/>
                <a:cs typeface="Poppins"/>
                <a:sym typeface="Poppins"/>
              </a:rPr>
              <a:t>15%</a:t>
            </a:r>
            <a:r>
              <a:rPr lang="en-US" b="true" i="false" strike="noStrike" u="none" sz="1400">
                <a:solidFill>
                  <a:srgbClr val="374151"/>
                </a:solidFill>
                <a:latin typeface="Poppins"/>
                <a:ea typeface="Poppins"/>
                <a:cs typeface="Poppins"/>
                <a:sym typeface="Poppins"/>
              </a:rPr>
              <a:t>AI Usage</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200">
                <a:solidFill>
                  <a:srgbClr val="6B7280"/>
                </a:solidFill>
                <a:latin typeface="Poppins"/>
                <a:ea typeface="Poppins"/>
                <a:cs typeface="Poppins"/>
                <a:sym typeface="Poppins"/>
              </a:rPr>
              <a:t>Value-added feature consumption</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Key Takeaways</a:t>
            </a:r>
            <a:endParaRPr lang="en-US" sz="1100"/>
          </a:p>
        </p:txBody>
      </p:sp>
      <p:sp>
        <p:nvSpPr>
          <p:cNvPr name="AutoShape 4" id="4"/>
          <p:cNvSpPr/>
          <p:nvPr/>
        </p:nvSpPr>
        <p:spPr>
          <a:xfrm rot="0" flipH="false" flipV="false">
            <a:off x="762000" y="1651000"/>
            <a:ext cx="3302000" cy="2222500"/>
          </a:xfrm>
          <a:prstGeom prst="roundRect">
            <a:avLst>
              <a:gd name="adj" fmla="val 6857"/>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05000"/>
            <a:ext cx="355600" cy="355600"/>
          </a:xfrm>
          <a:prstGeom prst="rect">
            <a:avLst/>
          </a:prstGeom>
        </p:spPr>
      </p:pic>
      <p:sp>
        <p:nvSpPr>
          <p:cNvPr name="AutoShape 6" id="6"/>
          <p:cNvSpPr/>
          <p:nvPr/>
        </p:nvSpPr>
        <p:spPr>
          <a:xfrm rot="0" flipH="false" flipV="false">
            <a:off x="1524000" y="18796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Less AI is more</a:t>
            </a:r>
            <a:endParaRPr lang="en-US" sz="1100"/>
          </a:p>
        </p:txBody>
      </p:sp>
      <p:sp>
        <p:nvSpPr>
          <p:cNvPr name="AutoShape 7" id="7"/>
          <p:cNvSpPr/>
          <p:nvPr/>
        </p:nvSpPr>
        <p:spPr>
          <a:xfrm rot="0" flipH="false" flipV="false">
            <a:off x="1016000" y="2540000"/>
            <a:ext cx="2794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4B5563"/>
                </a:solidFill>
                <a:latin typeface="Poppins"/>
                <a:ea typeface="Poppins"/>
                <a:cs typeface="Poppins"/>
                <a:sym typeface="Poppins"/>
              </a:rPr>
              <a:t>Three inflection points are sufficient; "Rules-First, AI-Enhanced" is the most pragmatic and cost-effective strategy at this stage.</a:t>
            </a:r>
            <a:endParaRPr lang="en-US" sz="1100"/>
          </a:p>
        </p:txBody>
      </p:sp>
      <p:sp>
        <p:nvSpPr>
          <p:cNvPr name="AutoShape 8" id="8"/>
          <p:cNvSpPr/>
          <p:nvPr/>
        </p:nvSpPr>
        <p:spPr>
          <a:xfrm rot="0" flipH="false" flipV="false">
            <a:off x="4445000" y="1651000"/>
            <a:ext cx="3302000" cy="2222500"/>
          </a:xfrm>
          <a:prstGeom prst="roundRect">
            <a:avLst>
              <a:gd name="adj" fmla="val 6857"/>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1905000"/>
            <a:ext cx="355600" cy="355600"/>
          </a:xfrm>
          <a:prstGeom prst="rect">
            <a:avLst/>
          </a:prstGeom>
        </p:spPr>
      </p:pic>
      <p:sp>
        <p:nvSpPr>
          <p:cNvPr name="AutoShape 10" id="10"/>
          <p:cNvSpPr/>
          <p:nvPr/>
        </p:nvSpPr>
        <p:spPr>
          <a:xfrm rot="0" flipH="false" flipV="false">
            <a:off x="5207000" y="18796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Text simulation is a killer feature</a:t>
            </a:r>
            <a:endParaRPr lang="en-US" sz="1100"/>
          </a:p>
        </p:txBody>
      </p:sp>
      <p:sp>
        <p:nvSpPr>
          <p:cNvPr name="AutoShape 11" id="11"/>
          <p:cNvSpPr/>
          <p:nvPr/>
        </p:nvSpPr>
        <p:spPr>
          <a:xfrm rot="0" flipH="false" flipV="false">
            <a:off x="4699000" y="2540000"/>
            <a:ext cx="2794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4B5563"/>
                </a:solidFill>
                <a:latin typeface="Poppins"/>
                <a:ea typeface="Poppins"/>
                <a:cs typeface="Poppins"/>
                <a:sym typeface="Poppins"/>
              </a:rPr>
              <a:t>Second-level iteration is key to solving the core proposition of "10-minute usability."</a:t>
            </a:r>
            <a:endParaRPr lang="en-US" sz="1100"/>
          </a:p>
        </p:txBody>
      </p:sp>
      <p:sp>
        <p:nvSpPr>
          <p:cNvPr name="AutoShape 12" id="12"/>
          <p:cNvSpPr/>
          <p:nvPr/>
        </p:nvSpPr>
        <p:spPr>
          <a:xfrm rot="0" flipH="false" flipV="false">
            <a:off x="8128000" y="1651000"/>
            <a:ext cx="3302000" cy="2222500"/>
          </a:xfrm>
          <a:prstGeom prst="roundRect">
            <a:avLst>
              <a:gd name="adj" fmla="val 6857"/>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1905000"/>
            <a:ext cx="355600" cy="355600"/>
          </a:xfrm>
          <a:prstGeom prst="rect">
            <a:avLst/>
          </a:prstGeom>
        </p:spPr>
      </p:pic>
      <p:sp>
        <p:nvSpPr>
          <p:cNvPr name="AutoShape 14" id="14"/>
          <p:cNvSpPr/>
          <p:nvPr/>
        </p:nvSpPr>
        <p:spPr>
          <a:xfrm rot="0" flipH="false" flipV="false">
            <a:off x="8890000" y="18796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Node-level insights are valuable</a:t>
            </a:r>
            <a:endParaRPr lang="en-US" sz="1100"/>
          </a:p>
        </p:txBody>
      </p:sp>
      <p:sp>
        <p:nvSpPr>
          <p:cNvPr name="AutoShape 15" id="15"/>
          <p:cNvSpPr/>
          <p:nvPr/>
        </p:nvSpPr>
        <p:spPr>
          <a:xfrm rot="0" flipH="false" flipV="false">
            <a:off x="8382000" y="2540000"/>
            <a:ext cx="2794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4B5563"/>
                </a:solidFill>
                <a:latin typeface="Poppins"/>
                <a:ea typeface="Poppins"/>
                <a:cs typeface="Poppins"/>
                <a:sym typeface="Poppins"/>
              </a:rPr>
              <a:t>Operational data is more commercially valuable than AI itself and is key to upgrading from a tool to a platform.</a:t>
            </a:r>
            <a:endParaRPr lang="en-US" sz="1100"/>
          </a:p>
        </p:txBody>
      </p:sp>
      <p:sp>
        <p:nvSpPr>
          <p:cNvPr name="AutoShape 16" id="16"/>
          <p:cNvSpPr/>
          <p:nvPr/>
        </p:nvSpPr>
        <p:spPr>
          <a:xfrm rot="0" flipH="false" flipV="false">
            <a:off x="762000" y="4191000"/>
            <a:ext cx="5143500" cy="2032000"/>
          </a:xfrm>
          <a:prstGeom prst="roundRect">
            <a:avLst>
              <a:gd name="adj" fmla="val 7500"/>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4445000"/>
            <a:ext cx="355600" cy="355600"/>
          </a:xfrm>
          <a:prstGeom prst="rect">
            <a:avLst/>
          </a:prstGeom>
        </p:spPr>
      </p:pic>
      <p:sp>
        <p:nvSpPr>
          <p:cNvPr name="AutoShape 18" id="18"/>
          <p:cNvSpPr/>
          <p:nvPr/>
        </p:nvSpPr>
        <p:spPr>
          <a:xfrm rot="0" flipH="false" flipV="false">
            <a:off x="1651000" y="4445000"/>
            <a:ext cx="393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WebRTC opens a new market</a:t>
            </a:r>
            <a:endParaRPr lang="en-US" sz="1100"/>
          </a:p>
        </p:txBody>
      </p:sp>
      <p:sp>
        <p:nvSpPr>
          <p:cNvPr name="AutoShape 19" id="19"/>
          <p:cNvSpPr/>
          <p:nvPr/>
        </p:nvSpPr>
        <p:spPr>
          <a:xfrm rot="0" flipH="false" flipV="false">
            <a:off x="1016000" y="5080000"/>
            <a:ext cx="46355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4B5563"/>
                </a:solidFill>
                <a:latin typeface="Poppins"/>
                <a:ea typeface="Poppins"/>
                <a:cs typeface="Poppins"/>
                <a:sym typeface="Poppins"/>
              </a:rPr>
              <a:t>The "phone-number-free" browser calling model opens up a new communication channel for online businesses.</a:t>
            </a:r>
            <a:endParaRPr lang="en-US" sz="1100"/>
          </a:p>
        </p:txBody>
      </p:sp>
      <p:sp>
        <p:nvSpPr>
          <p:cNvPr name="AutoShape 20" id="20"/>
          <p:cNvSpPr/>
          <p:nvPr/>
        </p:nvSpPr>
        <p:spPr>
          <a:xfrm rot="0" flipH="false" flipV="false">
            <a:off x="6286500" y="4191000"/>
            <a:ext cx="5143500" cy="2032000"/>
          </a:xfrm>
          <a:prstGeom prst="roundRect">
            <a:avLst>
              <a:gd name="adj" fmla="val 7500"/>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540500" y="4445000"/>
            <a:ext cx="355600" cy="355600"/>
          </a:xfrm>
          <a:prstGeom prst="rect">
            <a:avLst/>
          </a:prstGeom>
        </p:spPr>
      </p:pic>
      <p:sp>
        <p:nvSpPr>
          <p:cNvPr name="AutoShape 22" id="22"/>
          <p:cNvSpPr/>
          <p:nvPr/>
        </p:nvSpPr>
        <p:spPr>
          <a:xfrm rot="0" flipH="false" flipV="false">
            <a:off x="7175500" y="4445000"/>
            <a:ext cx="393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Version management is a business safeguard</a:t>
            </a:r>
            <a:endParaRPr lang="en-US" sz="1100"/>
          </a:p>
        </p:txBody>
      </p:sp>
      <p:sp>
        <p:nvSpPr>
          <p:cNvPr name="AutoShape 23" id="23"/>
          <p:cNvSpPr/>
          <p:nvPr/>
        </p:nvSpPr>
        <p:spPr>
          <a:xfrm rot="0" flipH="false" flipV="false">
            <a:off x="6540500" y="5080000"/>
            <a:ext cx="46355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4B5563"/>
                </a:solidFill>
                <a:latin typeface="Poppins"/>
                <a:ea typeface="Poppins"/>
                <a:cs typeface="Poppins"/>
                <a:sym typeface="Poppins"/>
              </a:rPr>
              <a:t>It is not an engineering feature but a core mechanism to eliminate user iteration fear and ensure business continuity.</a:t>
            </a:r>
            <a:endParaRPr lang="en-US" sz="1100"/>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Next Steps</a:t>
            </a:r>
            <a:endParaRPr lang="en-US" sz="1100"/>
          </a:p>
        </p:txBody>
      </p:sp>
      <p:sp>
        <p:nvSpPr>
          <p:cNvPr name="AutoShape 4" id="4"/>
          <p:cNvSpPr/>
          <p:nvPr/>
        </p:nvSpPr>
        <p:spPr>
          <a:xfrm rot="0" flipH="false" flipV="false">
            <a:off x="762000" y="1651000"/>
            <a:ext cx="5207000" cy="2286000"/>
          </a:xfrm>
          <a:prstGeom prst="roundRect">
            <a:avLst>
              <a:gd name="adj" fmla="val 6666"/>
            </a:avLst>
          </a:prstGeom>
          <a:solidFill>
            <a:srgbClr val="FFFFFF">
              <a:alpha val="100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2095500"/>
            <a:ext cx="1016000" cy="1016000"/>
          </a:xfrm>
          <a:prstGeom prst="ellipse">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2286000"/>
            <a:ext cx="1016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FFFFFF"/>
                </a:solidFill>
                <a:latin typeface="Poppins"/>
                <a:ea typeface="Poppins"/>
                <a:cs typeface="Poppins"/>
                <a:sym typeface="Poppins"/>
              </a:rPr>
              <a:t>01</a:t>
            </a:r>
            <a:endParaRPr lang="en-US" sz="1100"/>
          </a:p>
        </p:txBody>
      </p:sp>
      <p:sp>
        <p:nvSpPr>
          <p:cNvPr name="AutoShape 7" id="7"/>
          <p:cNvSpPr/>
          <p:nvPr/>
        </p:nvSpPr>
        <p:spPr>
          <a:xfrm rot="0" flipH="false" flipV="false">
            <a:off x="2286000" y="1905000"/>
            <a:ext cx="3429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2F4F4F"/>
                </a:solidFill>
                <a:latin typeface="Poppins"/>
                <a:ea typeface="Poppins"/>
                <a:cs typeface="Poppins"/>
                <a:sym typeface="Poppins"/>
              </a:rPr>
              <a:t>MVP Development Kickoff</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spcBef>
                <a:spcPts val="1200"/>
              </a:spcBef>
            </a:pPr>
            <a:r>
              <a:rPr lang="en-US" b="false" i="false" strike="noStrike" u="none" sz="1300">
                <a:solidFill>
                  <a:srgbClr val="525252"/>
                </a:solidFill>
                <a:latin typeface="Poppins"/>
                <a:ea typeface="Poppins"/>
                <a:cs typeface="Poppins"/>
                <a:sym typeface="Poppins"/>
              </a:rPr>
              <a:t>Immediately start development of the Core layer, Logic layer, Canvas, Platform-managed numbers, and Text simulation features.</a:t>
            </a:r>
          </a:p>
        </p:txBody>
      </p:sp>
      <p:sp>
        <p:nvSpPr>
          <p:cNvPr name="AutoShape 8" id="8"/>
          <p:cNvSpPr/>
          <p:nvPr/>
        </p:nvSpPr>
        <p:spPr>
          <a:xfrm rot="0" flipH="false" flipV="false">
            <a:off x="6223000" y="1651000"/>
            <a:ext cx="5207000" cy="2286000"/>
          </a:xfrm>
          <a:prstGeom prst="roundRect">
            <a:avLst>
              <a:gd name="adj" fmla="val 6666"/>
            </a:avLst>
          </a:prstGeom>
          <a:solidFill>
            <a:srgbClr val="FFFFFF">
              <a:alpha val="100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6477000" y="2095500"/>
            <a:ext cx="1016000" cy="1016000"/>
          </a:xfrm>
          <a:prstGeom prst="ellipse">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477000" y="2286000"/>
            <a:ext cx="1016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FFFFFF"/>
                </a:solidFill>
                <a:latin typeface="Poppins"/>
                <a:ea typeface="Poppins"/>
                <a:cs typeface="Poppins"/>
                <a:sym typeface="Poppins"/>
              </a:rPr>
              <a:t>02</a:t>
            </a:r>
            <a:endParaRPr lang="en-US" sz="1100"/>
          </a:p>
        </p:txBody>
      </p:sp>
      <p:sp>
        <p:nvSpPr>
          <p:cNvPr name="AutoShape 11" id="11"/>
          <p:cNvSpPr/>
          <p:nvPr/>
        </p:nvSpPr>
        <p:spPr>
          <a:xfrm rot="0" flipH="false" flipV="false">
            <a:off x="7747000" y="1905000"/>
            <a:ext cx="3429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2F4F4F"/>
                </a:solidFill>
                <a:latin typeface="Poppins"/>
                <a:ea typeface="Poppins"/>
                <a:cs typeface="Poppins"/>
                <a:sym typeface="Poppins"/>
              </a:rPr>
              <a:t>Seed User Recruitment</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spcBef>
                <a:spcPts val="1200"/>
              </a:spcBef>
            </a:pPr>
            <a:r>
              <a:rPr lang="en-US" b="false" i="false" strike="noStrike" u="none" sz="1300">
                <a:solidFill>
                  <a:srgbClr val="525252"/>
                </a:solidFill>
                <a:latin typeface="Poppins"/>
                <a:ea typeface="Poppins"/>
                <a:cs typeface="Poppins"/>
                <a:sym typeface="Poppins"/>
              </a:rPr>
              <a:t>Recruit 50 SMBs for a closed beta to gather feedback on usability, functionality, and overall experience.</a:t>
            </a:r>
          </a:p>
        </p:txBody>
      </p:sp>
      <p:sp>
        <p:nvSpPr>
          <p:cNvPr name="AutoShape 12" id="12"/>
          <p:cNvSpPr/>
          <p:nvPr/>
        </p:nvSpPr>
        <p:spPr>
          <a:xfrm rot="0" flipH="false" flipV="false">
            <a:off x="762000" y="4191000"/>
            <a:ext cx="5207000" cy="2286000"/>
          </a:xfrm>
          <a:prstGeom prst="roundRect">
            <a:avLst>
              <a:gd name="adj" fmla="val 6666"/>
            </a:avLst>
          </a:prstGeom>
          <a:solidFill>
            <a:srgbClr val="FFFFFF">
              <a:alpha val="100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1016000" y="4635500"/>
            <a:ext cx="1016000" cy="1016000"/>
          </a:xfrm>
          <a:prstGeom prst="ellipse">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4826000"/>
            <a:ext cx="1016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FFFFFF"/>
                </a:solidFill>
                <a:latin typeface="Poppins"/>
                <a:ea typeface="Poppins"/>
                <a:cs typeface="Poppins"/>
                <a:sym typeface="Poppins"/>
              </a:rPr>
              <a:t>03</a:t>
            </a:r>
            <a:endParaRPr lang="en-US" sz="1100"/>
          </a:p>
        </p:txBody>
      </p:sp>
      <p:sp>
        <p:nvSpPr>
          <p:cNvPr name="AutoShape 15" id="15"/>
          <p:cNvSpPr/>
          <p:nvPr/>
        </p:nvSpPr>
        <p:spPr>
          <a:xfrm rot="0" flipH="false" flipV="false">
            <a:off x="2286000" y="4445000"/>
            <a:ext cx="3429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2F4F4F"/>
                </a:solidFill>
                <a:latin typeface="Poppins"/>
                <a:ea typeface="Poppins"/>
                <a:cs typeface="Poppins"/>
                <a:sym typeface="Poppins"/>
              </a:rPr>
              <a:t>AI Node V1.0 Validation</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spcBef>
                <a:spcPts val="1200"/>
              </a:spcBef>
            </a:pPr>
            <a:r>
              <a:rPr lang="en-US" b="false" i="false" strike="noStrike" u="none" sz="1300">
                <a:solidFill>
                  <a:srgbClr val="525252"/>
                </a:solidFill>
                <a:latin typeface="Poppins"/>
                <a:ea typeface="Poppins"/>
                <a:cs typeface="Poppins"/>
                <a:sym typeface="Poppins"/>
              </a:rPr>
              <a:t>Focus on validating the real-world effectiveness and operational cost of the three AI nodes: Intent Detection, Knowledge Q&amp;A, and Call Summary.</a:t>
            </a:r>
          </a:p>
        </p:txBody>
      </p:sp>
      <p:sp>
        <p:nvSpPr>
          <p:cNvPr name="AutoShape 16" id="16"/>
          <p:cNvSpPr/>
          <p:nvPr/>
        </p:nvSpPr>
        <p:spPr>
          <a:xfrm rot="0" flipH="false" flipV="false">
            <a:off x="6223000" y="4191000"/>
            <a:ext cx="5207000" cy="2286000"/>
          </a:xfrm>
          <a:prstGeom prst="roundRect">
            <a:avLst>
              <a:gd name="adj" fmla="val 6666"/>
            </a:avLst>
          </a:prstGeom>
          <a:solidFill>
            <a:srgbClr val="FFFFFF">
              <a:alpha val="100000"/>
            </a:srgbClr>
          </a:solidFill>
          <a:ln w="12700" cmpd="sng" cap="flat">
            <a:solidFill>
              <a:srgbClr val="E6E6E6">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477000" y="4635500"/>
            <a:ext cx="1016000" cy="1016000"/>
          </a:xfrm>
          <a:prstGeom prst="ellipse">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477000" y="4826000"/>
            <a:ext cx="1016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FFFFFF"/>
                </a:solidFill>
                <a:latin typeface="Poppins"/>
                <a:ea typeface="Poppins"/>
                <a:cs typeface="Poppins"/>
                <a:sym typeface="Poppins"/>
              </a:rPr>
              <a:t>04</a:t>
            </a:r>
            <a:endParaRPr lang="en-US" sz="1100"/>
          </a:p>
        </p:txBody>
      </p:sp>
      <p:sp>
        <p:nvSpPr>
          <p:cNvPr name="AutoShape 19" id="19"/>
          <p:cNvSpPr/>
          <p:nvPr/>
        </p:nvSpPr>
        <p:spPr>
          <a:xfrm rot="0" flipH="false" flipV="false">
            <a:off x="7747000" y="4445000"/>
            <a:ext cx="3429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2F4F4F"/>
                </a:solidFill>
                <a:latin typeface="Poppins"/>
                <a:ea typeface="Poppins"/>
                <a:cs typeface="Poppins"/>
                <a:sym typeface="Poppins"/>
              </a:rPr>
              <a:t>Telephony Expansion</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spcBef>
                <a:spcPts val="1200"/>
              </a:spcBef>
            </a:pPr>
            <a:r>
              <a:rPr lang="en-US" b="false" i="false" strike="noStrike" u="none" sz="1300">
                <a:solidFill>
                  <a:srgbClr val="525252"/>
                </a:solidFill>
                <a:latin typeface="Poppins"/>
                <a:ea typeface="Poppins"/>
                <a:cs typeface="Poppins"/>
                <a:sym typeface="Poppins"/>
              </a:rPr>
              <a:t>Expand connectivity options by developing Bring Your Own (SIP) number access and enabling Live call simulation features.</a:t>
            </a: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2F4F4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2540000"/>
            <a:ext cx="10160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800">
                <a:solidFill>
                  <a:srgbClr val="FFFFFF"/>
                </a:solidFill>
                <a:latin typeface="Poppins"/>
                <a:ea typeface="Poppins"/>
                <a:cs typeface="Poppins"/>
                <a:sym typeface="Poppins"/>
              </a:rPr>
              <a:t>Thank You</a:t>
            </a:r>
            <a:endParaRPr lang="en-US" sz="1100"/>
          </a:p>
        </p:txBody>
      </p:sp>
      <p:sp>
        <p:nvSpPr>
          <p:cNvPr name="AutoShape 4" id="4"/>
          <p:cNvSpPr/>
          <p:nvPr/>
        </p:nvSpPr>
        <p:spPr>
          <a:xfrm rot="0" flipH="false" flipV="false">
            <a:off x="1016000" y="3937000"/>
            <a:ext cx="1016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600">
                <a:solidFill>
                  <a:srgbClr val="FFFFFF">
                    <a:alpha val="90196"/>
                  </a:srgbClr>
                </a:solidFill>
                <a:latin typeface="Poppins"/>
                <a:ea typeface="Poppins"/>
                <a:cs typeface="Poppins"/>
                <a:sym typeface="Poppins"/>
              </a:rPr>
              <a:t>Let's Build the Future of Voice Together</a:t>
            </a:r>
            <a:endParaRPr lang="en-US" sz="1100"/>
          </a:p>
        </p:txBody>
      </p:sp>
      <p:sp>
        <p:nvSpPr>
          <p:cNvPr name="AutoShape 5" id="5"/>
          <p:cNvSpPr/>
          <p:nvPr/>
        </p:nvSpPr>
        <p:spPr>
          <a:xfrm rot="0" flipH="false" flipV="false">
            <a:off x="1016000" y="5334000"/>
            <a:ext cx="1016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alpha val="60000"/>
                  </a:srgbClr>
                </a:solidFill>
                <a:latin typeface="Poppins"/>
                <a:ea typeface="Poppins"/>
                <a:cs typeface="Poppins"/>
                <a:sym typeface="Poppins"/>
              </a:rPr>
              <a:t>VOICEFLOW BUILDER · EMPOWERING SMBs WITH CONVERSATIONAL AI</a:t>
            </a:r>
            <a:endParaRPr lang="en-US" sz="1100"/>
          </a:p>
        </p:txBody>
      </p:sp>
      <p:pic>
        <p:nvPicPr>
          <p:cNvPr name="Picture 6" id="6"/>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